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1C0679-E47E-4137-9235-4C87AC35E950}" v="37" dt="2026-10-01T02:35:12.4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843" autoAdjust="0"/>
  </p:normalViewPr>
  <p:slideViewPr>
    <p:cSldViewPr snapToGrid="0" snapToObjects="1">
      <p:cViewPr>
        <p:scale>
          <a:sx n="75" d="100"/>
          <a:sy n="75" d="100"/>
        </p:scale>
        <p:origin x="300" y="-2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abella Dennis" userId="faa320d3421ef34c" providerId="LiveId" clId="{F7DC1F17-8B5A-415F-BBCE-68EF4C06010E}"/>
    <pc:docChg chg="undo custSel modSld">
      <pc:chgData name="Isabella Dennis" userId="faa320d3421ef34c" providerId="LiveId" clId="{F7DC1F17-8B5A-415F-BBCE-68EF4C06010E}" dt="2026-10-01T02:35:56.033" v="887" actId="20577"/>
      <pc:docMkLst>
        <pc:docMk/>
      </pc:docMkLst>
      <pc:sldChg chg="modSp mod">
        <pc:chgData name="Isabella Dennis" userId="faa320d3421ef34c" providerId="LiveId" clId="{F7DC1F17-8B5A-415F-BBCE-68EF4C06010E}" dt="2026-10-01T00:18:53.829" v="44" actId="20577"/>
        <pc:sldMkLst>
          <pc:docMk/>
          <pc:sldMk cId="0" sldId="256"/>
        </pc:sldMkLst>
        <pc:spChg chg="mod">
          <ac:chgData name="Isabella Dennis" userId="faa320d3421ef34c" providerId="LiveId" clId="{F7DC1F17-8B5A-415F-BBCE-68EF4C06010E}" dt="2026-10-01T00:18:28.551" v="27" actId="20577"/>
          <ac:spMkLst>
            <pc:docMk/>
            <pc:sldMk cId="0" sldId="256"/>
            <ac:spMk id="4" creationId="{00000000-0000-0000-0000-000000000000}"/>
          </ac:spMkLst>
        </pc:spChg>
        <pc:spChg chg="mod">
          <ac:chgData name="Isabella Dennis" userId="faa320d3421ef34c" providerId="LiveId" clId="{F7DC1F17-8B5A-415F-BBCE-68EF4C06010E}" dt="2026-10-01T00:18:53.829" v="44" actId="20577"/>
          <ac:spMkLst>
            <pc:docMk/>
            <pc:sldMk cId="0" sldId="256"/>
            <ac:spMk id="5" creationId="{00000000-0000-0000-0000-000000000000}"/>
          </ac:spMkLst>
        </pc:spChg>
      </pc:sldChg>
      <pc:sldChg chg="delSp modSp mod">
        <pc:chgData name="Isabella Dennis" userId="faa320d3421ef34c" providerId="LiveId" clId="{F7DC1F17-8B5A-415F-BBCE-68EF4C06010E}" dt="2026-10-01T00:22:50.885" v="164" actId="20577"/>
        <pc:sldMkLst>
          <pc:docMk/>
          <pc:sldMk cId="0" sldId="257"/>
        </pc:sldMkLst>
        <pc:spChg chg="mod">
          <ac:chgData name="Isabella Dennis" userId="faa320d3421ef34c" providerId="LiveId" clId="{F7DC1F17-8B5A-415F-BBCE-68EF4C06010E}" dt="2026-10-01T00:19:38.439" v="57" actId="20577"/>
          <ac:spMkLst>
            <pc:docMk/>
            <pc:sldMk cId="0" sldId="257"/>
            <ac:spMk id="8" creationId="{00000000-0000-0000-0000-000000000000}"/>
          </ac:spMkLst>
        </pc:spChg>
        <pc:spChg chg="mod">
          <ac:chgData name="Isabella Dennis" userId="faa320d3421ef34c" providerId="LiveId" clId="{F7DC1F17-8B5A-415F-BBCE-68EF4C06010E}" dt="2026-10-01T00:19:43.448" v="70" actId="20577"/>
          <ac:spMkLst>
            <pc:docMk/>
            <pc:sldMk cId="0" sldId="257"/>
            <ac:spMk id="10" creationId="{00000000-0000-0000-0000-000000000000}"/>
          </ac:spMkLst>
        </pc:spChg>
        <pc:spChg chg="del mod">
          <ac:chgData name="Isabella Dennis" userId="faa320d3421ef34c" providerId="LiveId" clId="{F7DC1F17-8B5A-415F-BBCE-68EF4C06010E}" dt="2026-10-01T00:21:45.280" v="127"/>
          <ac:spMkLst>
            <pc:docMk/>
            <pc:sldMk cId="0" sldId="257"/>
            <ac:spMk id="11" creationId="{00000000-0000-0000-0000-000000000000}"/>
          </ac:spMkLst>
        </pc:spChg>
        <pc:spChg chg="mod">
          <ac:chgData name="Isabella Dennis" userId="faa320d3421ef34c" providerId="LiveId" clId="{F7DC1F17-8B5A-415F-BBCE-68EF4C06010E}" dt="2026-10-01T00:22:25.676" v="147" actId="20577"/>
          <ac:spMkLst>
            <pc:docMk/>
            <pc:sldMk cId="0" sldId="257"/>
            <ac:spMk id="15" creationId="{00000000-0000-0000-0000-000000000000}"/>
          </ac:spMkLst>
        </pc:spChg>
        <pc:spChg chg="mod">
          <ac:chgData name="Isabella Dennis" userId="faa320d3421ef34c" providerId="LiveId" clId="{F7DC1F17-8B5A-415F-BBCE-68EF4C06010E}" dt="2026-10-01T00:22:50.885" v="164" actId="20577"/>
          <ac:spMkLst>
            <pc:docMk/>
            <pc:sldMk cId="0" sldId="257"/>
            <ac:spMk id="19" creationId="{00000000-0000-0000-0000-000000000000}"/>
          </ac:spMkLst>
        </pc:spChg>
        <pc:spChg chg="del mod">
          <ac:chgData name="Isabella Dennis" userId="faa320d3421ef34c" providerId="LiveId" clId="{F7DC1F17-8B5A-415F-BBCE-68EF4C06010E}" dt="2026-10-01T00:20:21.430" v="124"/>
          <ac:spMkLst>
            <pc:docMk/>
            <pc:sldMk cId="0" sldId="257"/>
            <ac:spMk id="39" creationId="{00000000-0000-0000-0000-000000000000}"/>
          </ac:spMkLst>
        </pc:spChg>
      </pc:sldChg>
      <pc:sldChg chg="modSp mod modNotesTx">
        <pc:chgData name="Isabella Dennis" userId="faa320d3421ef34c" providerId="LiveId" clId="{F7DC1F17-8B5A-415F-BBCE-68EF4C06010E}" dt="2026-10-01T00:34:33.690" v="246" actId="20577"/>
        <pc:sldMkLst>
          <pc:docMk/>
          <pc:sldMk cId="0" sldId="258"/>
        </pc:sldMkLst>
        <pc:spChg chg="mod">
          <ac:chgData name="Isabella Dennis" userId="faa320d3421ef34c" providerId="LiveId" clId="{F7DC1F17-8B5A-415F-BBCE-68EF4C06010E}" dt="2026-10-01T00:29:10.130" v="189" actId="20577"/>
          <ac:spMkLst>
            <pc:docMk/>
            <pc:sldMk cId="0" sldId="258"/>
            <ac:spMk id="5" creationId="{00000000-0000-0000-0000-000000000000}"/>
          </ac:spMkLst>
        </pc:spChg>
        <pc:spChg chg="mod">
          <ac:chgData name="Isabella Dennis" userId="faa320d3421ef34c" providerId="LiveId" clId="{F7DC1F17-8B5A-415F-BBCE-68EF4C06010E}" dt="2026-10-01T00:34:33.690" v="246" actId="20577"/>
          <ac:spMkLst>
            <pc:docMk/>
            <pc:sldMk cId="0" sldId="258"/>
            <ac:spMk id="7" creationId="{00000000-0000-0000-0000-000000000000}"/>
          </ac:spMkLst>
        </pc:spChg>
        <pc:spChg chg="mod">
          <ac:chgData name="Isabella Dennis" userId="faa320d3421ef34c" providerId="LiveId" clId="{F7DC1F17-8B5A-415F-BBCE-68EF4C06010E}" dt="2026-10-01T00:29:52.238" v="207" actId="20577"/>
          <ac:spMkLst>
            <pc:docMk/>
            <pc:sldMk cId="0" sldId="258"/>
            <ac:spMk id="9" creationId="{00000000-0000-0000-0000-000000000000}"/>
          </ac:spMkLst>
        </pc:spChg>
      </pc:sldChg>
      <pc:sldChg chg="modSp mod modNotesTx">
        <pc:chgData name="Isabella Dennis" userId="faa320d3421ef34c" providerId="LiveId" clId="{F7DC1F17-8B5A-415F-BBCE-68EF4C06010E}" dt="2026-10-01T00:41:54.694" v="263" actId="20577"/>
        <pc:sldMkLst>
          <pc:docMk/>
          <pc:sldMk cId="0" sldId="259"/>
        </pc:sldMkLst>
        <pc:spChg chg="mod">
          <ac:chgData name="Isabella Dennis" userId="faa320d3421ef34c" providerId="LiveId" clId="{F7DC1F17-8B5A-415F-BBCE-68EF4C06010E}" dt="2026-10-01T00:41:54.694" v="263" actId="20577"/>
          <ac:spMkLst>
            <pc:docMk/>
            <pc:sldMk cId="0" sldId="259"/>
            <ac:spMk id="5" creationId="{00000000-0000-0000-0000-000000000000}"/>
          </ac:spMkLst>
        </pc:spChg>
      </pc:sldChg>
      <pc:sldChg chg="modSp mod">
        <pc:chgData name="Isabella Dennis" userId="faa320d3421ef34c" providerId="LiveId" clId="{F7DC1F17-8B5A-415F-BBCE-68EF4C06010E}" dt="2026-10-01T00:53:23.209" v="408" actId="20577"/>
        <pc:sldMkLst>
          <pc:docMk/>
          <pc:sldMk cId="0" sldId="260"/>
        </pc:sldMkLst>
        <pc:spChg chg="mod">
          <ac:chgData name="Isabella Dennis" userId="faa320d3421ef34c" providerId="LiveId" clId="{F7DC1F17-8B5A-415F-BBCE-68EF4C06010E}" dt="2026-10-01T00:53:23.209" v="408" actId="20577"/>
          <ac:spMkLst>
            <pc:docMk/>
            <pc:sldMk cId="0" sldId="260"/>
            <ac:spMk id="5" creationId="{00000000-0000-0000-0000-000000000000}"/>
          </ac:spMkLst>
        </pc:spChg>
        <pc:spChg chg="mod">
          <ac:chgData name="Isabella Dennis" userId="faa320d3421ef34c" providerId="LiveId" clId="{F7DC1F17-8B5A-415F-BBCE-68EF4C06010E}" dt="2026-10-01T00:53:11.759" v="406" actId="20577"/>
          <ac:spMkLst>
            <pc:docMk/>
            <pc:sldMk cId="0" sldId="260"/>
            <ac:spMk id="6" creationId="{00000000-0000-0000-0000-000000000000}"/>
          </ac:spMkLst>
        </pc:spChg>
      </pc:sldChg>
      <pc:sldChg chg="modSp mod modNotesTx">
        <pc:chgData name="Isabella Dennis" userId="faa320d3421ef34c" providerId="LiveId" clId="{F7DC1F17-8B5A-415F-BBCE-68EF4C06010E}" dt="2026-10-01T02:07:11.272" v="671" actId="20577"/>
        <pc:sldMkLst>
          <pc:docMk/>
          <pc:sldMk cId="0" sldId="263"/>
        </pc:sldMkLst>
        <pc:spChg chg="mod">
          <ac:chgData name="Isabella Dennis" userId="faa320d3421ef34c" providerId="LiveId" clId="{F7DC1F17-8B5A-415F-BBCE-68EF4C06010E}" dt="2026-10-01T01:37:32.656" v="556" actId="20577"/>
          <ac:spMkLst>
            <pc:docMk/>
            <pc:sldMk cId="0" sldId="263"/>
            <ac:spMk id="6" creationId="{00000000-0000-0000-0000-000000000000}"/>
          </ac:spMkLst>
        </pc:spChg>
        <pc:spChg chg="mod">
          <ac:chgData name="Isabella Dennis" userId="faa320d3421ef34c" providerId="LiveId" clId="{F7DC1F17-8B5A-415F-BBCE-68EF4C06010E}" dt="2026-10-01T02:04:15.812" v="669" actId="20577"/>
          <ac:spMkLst>
            <pc:docMk/>
            <pc:sldMk cId="0" sldId="263"/>
            <ac:spMk id="12" creationId="{00000000-0000-0000-0000-000000000000}"/>
          </ac:spMkLst>
        </pc:spChg>
        <pc:spChg chg="mod">
          <ac:chgData name="Isabella Dennis" userId="faa320d3421ef34c" providerId="LiveId" clId="{F7DC1F17-8B5A-415F-BBCE-68EF4C06010E}" dt="2026-10-01T01:57:53.565" v="583" actId="20577"/>
          <ac:spMkLst>
            <pc:docMk/>
            <pc:sldMk cId="0" sldId="263"/>
            <ac:spMk id="14" creationId="{00000000-0000-0000-0000-000000000000}"/>
          </ac:spMkLst>
        </pc:spChg>
      </pc:sldChg>
      <pc:sldChg chg="modSp mod">
        <pc:chgData name="Isabella Dennis" userId="faa320d3421ef34c" providerId="LiveId" clId="{F7DC1F17-8B5A-415F-BBCE-68EF4C06010E}" dt="2026-10-01T02:12:44.068" v="730" actId="20577"/>
        <pc:sldMkLst>
          <pc:docMk/>
          <pc:sldMk cId="0" sldId="264"/>
        </pc:sldMkLst>
        <pc:spChg chg="mod">
          <ac:chgData name="Isabella Dennis" userId="faa320d3421ef34c" providerId="LiveId" clId="{F7DC1F17-8B5A-415F-BBCE-68EF4C06010E}" dt="2026-10-01T02:12:44.068" v="730" actId="20577"/>
          <ac:spMkLst>
            <pc:docMk/>
            <pc:sldMk cId="0" sldId="264"/>
            <ac:spMk id="5" creationId="{00000000-0000-0000-0000-000000000000}"/>
          </ac:spMkLst>
        </pc:spChg>
        <pc:graphicFrameChg chg="mod modGraphic">
          <ac:chgData name="Isabella Dennis" userId="faa320d3421ef34c" providerId="LiveId" clId="{F7DC1F17-8B5A-415F-BBCE-68EF4C06010E}" dt="2026-10-01T02:12:16.068" v="729" actId="14100"/>
          <ac:graphicFrameMkLst>
            <pc:docMk/>
            <pc:sldMk cId="0" sldId="264"/>
            <ac:graphicFrameMk id="6" creationId="{00000000-0000-0000-0000-000000000000}"/>
          </ac:graphicFrameMkLst>
        </pc:graphicFrameChg>
      </pc:sldChg>
      <pc:sldChg chg="modSp mod modNotesTx">
        <pc:chgData name="Isabella Dennis" userId="faa320d3421ef34c" providerId="LiveId" clId="{F7DC1F17-8B5A-415F-BBCE-68EF4C06010E}" dt="2026-10-01T02:22:39.706" v="772" actId="20577"/>
        <pc:sldMkLst>
          <pc:docMk/>
          <pc:sldMk cId="0" sldId="266"/>
        </pc:sldMkLst>
        <pc:spChg chg="mod">
          <ac:chgData name="Isabella Dennis" userId="faa320d3421ef34c" providerId="LiveId" clId="{F7DC1F17-8B5A-415F-BBCE-68EF4C06010E}" dt="2026-10-01T02:19:23.918" v="760" actId="20577"/>
          <ac:spMkLst>
            <pc:docMk/>
            <pc:sldMk cId="0" sldId="266"/>
            <ac:spMk id="7" creationId="{00000000-0000-0000-0000-000000000000}"/>
          </ac:spMkLst>
        </pc:spChg>
      </pc:sldChg>
      <pc:sldChg chg="delSp modSp mod modNotesTx">
        <pc:chgData name="Isabella Dennis" userId="faa320d3421ef34c" providerId="LiveId" clId="{F7DC1F17-8B5A-415F-BBCE-68EF4C06010E}" dt="2026-10-01T02:35:11.664" v="885" actId="20577"/>
        <pc:sldMkLst>
          <pc:docMk/>
          <pc:sldMk cId="0" sldId="268"/>
        </pc:sldMkLst>
        <pc:spChg chg="mod">
          <ac:chgData name="Isabella Dennis" userId="faa320d3421ef34c" providerId="LiveId" clId="{F7DC1F17-8B5A-415F-BBCE-68EF4C06010E}" dt="2026-10-01T02:34:04.062" v="882" actId="255"/>
          <ac:spMkLst>
            <pc:docMk/>
            <pc:sldMk cId="0" sldId="268"/>
            <ac:spMk id="5" creationId="{00000000-0000-0000-0000-000000000000}"/>
          </ac:spMkLst>
        </pc:spChg>
        <pc:picChg chg="mod">
          <ac:chgData name="Isabella Dennis" userId="faa320d3421ef34c" providerId="LiveId" clId="{F7DC1F17-8B5A-415F-BBCE-68EF4C06010E}" dt="2026-10-01T02:26:01.552" v="774" actId="14100"/>
          <ac:picMkLst>
            <pc:docMk/>
            <pc:sldMk cId="0" sldId="268"/>
            <ac:picMk id="6" creationId="{00000000-0000-0000-0000-000000000000}"/>
          </ac:picMkLst>
        </pc:picChg>
        <pc:picChg chg="del">
          <ac:chgData name="Isabella Dennis" userId="faa320d3421ef34c" providerId="LiveId" clId="{F7DC1F17-8B5A-415F-BBCE-68EF4C06010E}" dt="2026-10-01T02:25:53.190" v="773" actId="478"/>
          <ac:picMkLst>
            <pc:docMk/>
            <pc:sldMk cId="0" sldId="268"/>
            <ac:picMk id="7" creationId="{00000000-0000-0000-0000-000000000000}"/>
          </ac:picMkLst>
        </pc:picChg>
      </pc:sldChg>
      <pc:sldChg chg="delSp modSp mod">
        <pc:chgData name="Isabella Dennis" userId="faa320d3421ef34c" providerId="LiveId" clId="{F7DC1F17-8B5A-415F-BBCE-68EF4C06010E}" dt="2026-10-01T02:35:56.033" v="887" actId="20577"/>
        <pc:sldMkLst>
          <pc:docMk/>
          <pc:sldMk cId="0" sldId="270"/>
        </pc:sldMkLst>
        <pc:spChg chg="mod">
          <ac:chgData name="Isabella Dennis" userId="faa320d3421ef34c" providerId="LiveId" clId="{F7DC1F17-8B5A-415F-BBCE-68EF4C06010E}" dt="2026-10-01T02:35:56.033" v="887" actId="20577"/>
          <ac:spMkLst>
            <pc:docMk/>
            <pc:sldMk cId="0" sldId="270"/>
            <ac:spMk id="2" creationId="{00000000-0000-0000-0000-000000000000}"/>
          </ac:spMkLst>
        </pc:spChg>
        <pc:spChg chg="del">
          <ac:chgData name="Isabella Dennis" userId="faa320d3421ef34c" providerId="LiveId" clId="{F7DC1F17-8B5A-415F-BBCE-68EF4C06010E}" dt="2026-10-01T02:35:49.747" v="886" actId="478"/>
          <ac:spMkLst>
            <pc:docMk/>
            <pc:sldMk cId="0" sldId="270"/>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5840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respected guide Mr. Sibu Skaria, external examiners, and panel members.</a:t>
            </a:r>
          </a:p>
          <a:p>
            <a:r>
              <a:t>My name is Isabella Dennis, Roll Number 30, from the Department of Computer Applications.</a:t>
            </a:r>
          </a:p>
          <a:p>
            <a:r>
              <a:t>Today, I am presenting my MCA Mini Project on 'Urban Bike Sharing Demand Forecasting: Predicting Station-Level Hourly Bike Demand Using Machine Learning'.</a:t>
            </a:r>
          </a:p>
          <a:p>
            <a:r>
              <a:t>In this project, we address a critical logistical problem in modern smart cities: forecasting hourly bicycle departures at each docking station across a regional network using historical transaction data.</a:t>
            </a:r>
          </a:p>
          <a:p>
            <a:r>
              <a:t>Notice that our target is explicitly formulated as station-level hourly departure demand, which provides a direct and actionable metric for transit operators to maintain system balance.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main problem is that bike demand varies between different stations and different times of the day.</a:t>
            </a:r>
          </a:p>
          <a:p>
            <a:r>
              <a:rPr dirty="0"/>
              <a:t>During peak hours, some stations may run out of bikes, while other stations may become full.</a:t>
            </a:r>
          </a:p>
          <a:p>
            <a:r>
              <a:rPr dirty="0"/>
              <a:t>This creates shortage at some stations and surplus at others.</a:t>
            </a:r>
          </a:p>
          <a:p>
            <a:r>
              <a:rPr dirty="0"/>
              <a:t>However, Manual redistribution of bikes is slow, costly and time taken.</a:t>
            </a:r>
          </a:p>
          <a:p>
            <a:r>
              <a:rPr dirty="0"/>
              <a:t>Demand is influenced by factors such as time, station characteristics and weather.</a:t>
            </a:r>
          </a:p>
          <a:p>
            <a:r>
              <a:rPr dirty="0"/>
              <a:t>So, my project aims to forecast station-level demand and support efficient bike redistribution.</a:t>
            </a:r>
          </a:p>
          <a:p>
            <a:endParaRPr dirty="0"/>
          </a:p>
          <a:p>
            <a:r>
              <a:rPr dirty="0"/>
              <a:t>The first objective is to forecast bike demand at the station level using machine learning.</a:t>
            </a:r>
          </a:p>
          <a:p>
            <a:r>
              <a:rPr dirty="0"/>
              <a:t>The second objective is to analyze demand patterns across time, stations and environmental conditions.</a:t>
            </a:r>
          </a:p>
          <a:p>
            <a:r>
              <a:rPr dirty="0"/>
              <a:t>I also use historical trip and weather information as predictors.</a:t>
            </a:r>
          </a:p>
          <a:p>
            <a:r>
              <a:rPr dirty="0"/>
              <a:t>Another objective is to identify possible shortage and surplus situations in advance.</a:t>
            </a:r>
          </a:p>
          <a:p>
            <a:r>
              <a:rPr dirty="0"/>
              <a:t>Finally, the system will support data-driven bike redistribution through an interactive application.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our literature review on Slide 3, we studied three relevant papers.</a:t>
            </a:r>
          </a:p>
          <a:p>
            <a:r>
              <a:rPr dirty="0"/>
              <a:t>• Paper 1 by Aydın et al. (2023) evaluated gradient boosting methods across two cities, showing </a:t>
            </a:r>
            <a:r>
              <a:rPr dirty="0" err="1"/>
              <a:t>CatBoost</a:t>
            </a:r>
            <a:r>
              <a:rPr dirty="0"/>
              <a:t> and </a:t>
            </a:r>
            <a:r>
              <a:rPr dirty="0" err="1"/>
              <a:t>XGBoost</a:t>
            </a:r>
            <a:r>
              <a:rPr dirty="0"/>
              <a:t> capture non-linear hourly demand effectively.</a:t>
            </a:r>
          </a:p>
          <a:p>
            <a:r>
              <a:rPr dirty="0"/>
              <a:t>• Paper 2 by </a:t>
            </a:r>
            <a:r>
              <a:rPr dirty="0" err="1"/>
              <a:t>Karunanithi</a:t>
            </a:r>
            <a:r>
              <a:rPr dirty="0"/>
              <a:t> et al. (2024) compared multiple machine learning models and proved that tree ensemble methods significantly outperform standard neural networks on structured tabular time features.</a:t>
            </a:r>
          </a:p>
          <a:p>
            <a:r>
              <a:rPr dirty="0"/>
              <a:t>• Paper 3 by Yao et al. (2024) analyzed spatial network relationships on this exact SF Bay Area dataset.</a:t>
            </a:r>
            <a:endParaRPr lang="en-IN" dirty="0"/>
          </a:p>
          <a:p>
            <a:r>
              <a:rPr lang="en-IN" b="1" dirty="0"/>
              <a:t>      GSTGAT</a:t>
            </a:r>
            <a:r>
              <a:rPr lang="en-IN" dirty="0"/>
              <a:t> = </a:t>
            </a:r>
            <a:r>
              <a:rPr lang="en-IN" b="1" dirty="0"/>
              <a:t>Graph Spatial-Temporal Graph Attention Network</a:t>
            </a:r>
            <a:r>
              <a:rPr lang="en-IN" dirty="0"/>
              <a:t> ,</a:t>
            </a:r>
            <a:r>
              <a:rPr lang="en-IN" b="1" dirty="0"/>
              <a:t> GRU</a:t>
            </a:r>
            <a:r>
              <a:rPr lang="en-IN" dirty="0"/>
              <a:t> = </a:t>
            </a:r>
            <a:r>
              <a:rPr lang="en-IN" b="1" dirty="0"/>
              <a:t>Gated Recurrent Unit</a:t>
            </a:r>
            <a:r>
              <a:rPr lang="en-IN" dirty="0"/>
              <a:t>.</a:t>
            </a:r>
            <a:endParaRPr dirty="0"/>
          </a:p>
          <a:p>
            <a:r>
              <a:rPr dirty="0"/>
              <a:t>• Research Foundation: These studies directly justify our algorithm selection of Random Forest, </a:t>
            </a:r>
            <a:r>
              <a:rPr dirty="0" err="1"/>
              <a:t>XGBoost</a:t>
            </a:r>
            <a:r>
              <a:rPr dirty="0"/>
              <a:t>, and </a:t>
            </a:r>
            <a:r>
              <a:rPr dirty="0" err="1"/>
              <a:t>CatBoost</a:t>
            </a:r>
            <a:r>
              <a:rPr dirty="0"/>
              <a:t>, while highlighting our unique contributions in full zero-demand grid expansion and strict chronological leakage audits.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4 introduces Stage 1 of our pipeline: Raw Data Collection.</a:t>
            </a:r>
          </a:p>
          <a:p>
            <a:r>
              <a:rPr dirty="0"/>
              <a:t>• Dataset Overview: </a:t>
            </a:r>
            <a:r>
              <a:rPr lang="en-IN" dirty="0"/>
              <a:t>I</a:t>
            </a:r>
            <a:r>
              <a:rPr dirty="0"/>
              <a:t> use the real-world San Francisco Bay Area Bike Share dataset from Kaggle, specifically trip.csv.</a:t>
            </a:r>
          </a:p>
          <a:p>
            <a:r>
              <a:rPr dirty="0"/>
              <a:t>• Key Specifications: It records 669,959 raw trip transactions spanning August 29, 2013 to August 31, 2015. That represents 733 days, or two full years, covering 17,583 continuous hourly timestamps across 70 unique docking stations.</a:t>
            </a:r>
          </a:p>
          <a:p>
            <a:r>
              <a:rPr dirty="0"/>
              <a:t>• Why Hourly Departures as Target?: Trip durations in raw data have extreme outliers ranging from 60 seconds to over 200 days due to unreturned bikes. Meanwhile, trip.csv only logs departure events, not live dock occupancy. Formulating the target as hourly departures provides a clean, stable, and operationally actionable metric.</a:t>
            </a:r>
          </a:p>
          <a:p>
            <a:r>
              <a:rPr dirty="0"/>
              <a:t>• Visuals: Figure 3.1 on the right shows the dataset shape (669,959 rows by 12 columns) and data types. Figure 3.3 displays the first 10 raw ride receipts.</a:t>
            </a:r>
          </a:p>
          <a:p>
            <a:r>
              <a:rPr dirty="0"/>
              <a:t>• Stage 1 Summary: We begin with 669,959 raw checkout records and 12 columns.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presents our Exploratory Data Analysis, examining data quality and rider behavior patterns.</a:t>
            </a:r>
          </a:p>
          <a:p>
            <a:r>
              <a:t>• Data Quality Audit (Top Card):</a:t>
            </a:r>
          </a:p>
          <a:p>
            <a:r>
              <a:t>The raw data is remarkably high quality. Only 6,619 records had missing values in zip_code (~0.98%), which is an optional personal field. All other 11 columns have zero missing values. Duplicate check revealed exactly zero duplicates across all 669k records. User breakdown shows that 84% of riders are Annual Subscribers (daily office commuters) and 16% are Casual Customers (tourists).</a:t>
            </a:r>
          </a:p>
          <a:p>
            <a:r>
              <a:t>• Rider Behavior Patterns (Bottom Card):</a:t>
            </a:r>
          </a:p>
          <a:p>
            <a:r>
              <a:t>On weekdays, demand displays a sharp twin commuter rush hour peak at 8:00 AM and 5:00 PM. On weekends, the commuter spikes vanish completely, replaced by a gentle recreational midday curve between 12:00 PM and 3:00 PM. Station demand varies drastically: SF Caltrain recorded over 49,000 trips, while quiet suburban stations had fewer than 1,000 trips over two years.</a:t>
            </a:r>
          </a:p>
          <a:p>
            <a:r>
              <a:t>• Visuals: The top graph shows the twin-peak weekday commute curve vs the weekend curve. The bottom graph confirms higher total demand on workdays.</a:t>
            </a:r>
          </a:p>
          <a:p>
            <a:r>
              <a:t>• Key Insight: Demand fluctuates heavily by hour, day of week, and station, proving the necessity of automated machine learning forecasts.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describes Stage 2: Data Preprocessing and Solving the Zero-Demand Problem.</a:t>
            </a:r>
          </a:p>
          <a:p>
            <a:r>
              <a:t>• Step 1 - Hourly Rounding: Exact ride timestamps contain arbitrary minutes and seconds. We floor every start datetime down to the beginning of the hour (e.g., 2013-08-29 09:08:24 becomes 2013-08-29 09:00:00). This groups all rides within each 60-minute window.</a:t>
            </a:r>
          </a:p>
          <a:p>
            <a:r>
              <a:t>• Step 2 - The Zero-Demand Problem: In raw logs, if nobody rents a bike at Station 12 at 3:00 AM, no row is recorded. If we only train on rows where rides occurred, the model never learns when demand is zero and will severely over-predict nighttime demand.</a:t>
            </a:r>
          </a:p>
          <a:p>
            <a:r>
              <a:t>• Step 3 - Grid Expansion: To fix this, we generate a complete Cartesian product of 70 stations multiplied by 17,583 hours = exactly 1,230,810 station-hour records. For active hours, we record actual trip counts; for quiet hours, we explicitly assign demand = 0.</a:t>
            </a:r>
          </a:p>
          <a:p>
            <a:r>
              <a:t>• Step 4 - Event Calendar: We extracted city holidays and festivals from trip.csv into a lookup table so that every newly created station-hour row inherits its holiday status (e.g., Thanksgiving, Christmas).</a:t>
            </a:r>
          </a:p>
          <a:p>
            <a:r>
              <a:t>• Stage 2 Summary: Row count expanded from 669,959 trips into 1,230,810 station-hour records across 3 base features: station_id, hour_timestamp, and demand.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details Stage 3: Raw Dataset Column Selection, auditing why each of the 12 raw columns was kept, transformed, or removed.</a:t>
            </a:r>
          </a:p>
          <a:p>
            <a:r>
              <a:t>• id: Removed, as it is simply an individual ride transaction receipt with no predictive power.</a:t>
            </a:r>
          </a:p>
          <a:p>
            <a:r>
              <a:t>• duration: Removed, because it is future leakage—we only know duration after a trip finishes, which is unknown when predicting upcoming departures!</a:t>
            </a:r>
          </a:p>
          <a:p>
            <a:r>
              <a:t>• start_date: Transformed, by flooring it to the hour to group rides into hourly departure buckets.</a:t>
            </a:r>
          </a:p>
          <a:p>
            <a:r>
              <a:t>• start_station_name &amp; start_station_id: Kept, as station identifiers.</a:t>
            </a:r>
          </a:p>
          <a:p>
            <a:r>
              <a:t>• end_date, end_station_name, end_station_id: Removed, because destination is unknown when predicting departures at the start of an hour. Including them would introduce future target leakage.</a:t>
            </a:r>
          </a:p>
          <a:p>
            <a:r>
              <a:t>• bike_id: Removed, because individual bike serial numbers do not affect aggregate station-level demand.</a:t>
            </a:r>
          </a:p>
          <a:p>
            <a:r>
              <a:t>• subscription_type &amp; zip_code: Removed, as they are individual rider attributes rather than station totals, and zip code has missing values.</a:t>
            </a:r>
          </a:p>
          <a:p>
            <a:r>
              <a:t>• special_event: Kept, to identify holidays.</a:t>
            </a:r>
          </a:p>
          <a:p>
            <a:r>
              <a:t>• Stage 3 Summary: Across all 1,230,810 rows, the 12 raw columns are filtered down to core station/time base identifiers.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dirty="0"/>
              <a:t>This slide is explaining </a:t>
            </a:r>
            <a:r>
              <a:rPr lang="en-IN" b="1" dirty="0"/>
              <a:t>the 5 groups of features used in my model</a:t>
            </a:r>
            <a:endParaRPr lang="en-IN" dirty="0"/>
          </a:p>
          <a:p>
            <a:r>
              <a:rPr lang="en-IN" b="1" dirty="0"/>
              <a:t>What to say</a:t>
            </a:r>
          </a:p>
          <a:p>
            <a:r>
              <a:rPr lang="en-IN" dirty="0"/>
              <a:t>“This slide shows an illustrative example of how our feature engineering works.</a:t>
            </a:r>
            <a:br>
              <a:rPr lang="en-IN" dirty="0"/>
            </a:br>
            <a:r>
              <a:rPr lang="en-IN" dirty="0"/>
              <a:t>Suppose we want to forecast the demand for </a:t>
            </a:r>
            <a:r>
              <a:rPr lang="en-IN" b="1" dirty="0"/>
              <a:t>Tuesday, October 15, 2013, at 8 AM, at Station #2, San Jose Train Station</a:t>
            </a:r>
            <a:r>
              <a:rPr lang="en-IN" dirty="0"/>
              <a:t>.</a:t>
            </a:r>
            <a:br>
              <a:rPr lang="en-IN" dirty="0"/>
            </a:br>
            <a:r>
              <a:rPr lang="en-IN" b="1" dirty="0"/>
              <a:t>First, Calendar and Flags.</a:t>
            </a:r>
            <a:endParaRPr lang="en-IN" dirty="0"/>
          </a:p>
          <a:p>
            <a:r>
              <a:rPr lang="en-IN" dirty="0"/>
              <a:t>“We use features such as the hour, weekday, morning peak, and whether it is a weekend. For example, 8 AM tells the model that this is a morning commuting period, and Tuesday tells it that it is a weekday.”</a:t>
            </a:r>
          </a:p>
          <a:p>
            <a:r>
              <a:rPr lang="en-IN" b="1" dirty="0"/>
              <a:t>Second, Cyclical Sine and Cosine features.</a:t>
            </a:r>
            <a:endParaRPr lang="en-IN" dirty="0"/>
          </a:p>
          <a:p>
            <a:r>
              <a:rPr lang="en-IN" dirty="0"/>
              <a:t>“Time is naturally circular. For example, 11 PM and 12 AM are very close in real time, but their numerical values are far apart. Sine and cosine help the model understand this circular relationship.”</a:t>
            </a:r>
          </a:p>
          <a:p>
            <a:r>
              <a:rPr lang="en-IN" b="1" dirty="0"/>
              <a:t>Third, Interaction features.</a:t>
            </a:r>
            <a:endParaRPr lang="en-IN" dirty="0"/>
          </a:p>
          <a:p>
            <a:r>
              <a:rPr lang="en-IN" dirty="0"/>
              <a:t>“These features combine two pieces of information. For example, weekday and hour together can tell the model that 8 AM on a weekday may have a different demand pattern from 8 AM on a weekend.”</a:t>
            </a:r>
          </a:p>
          <a:p>
            <a:r>
              <a:rPr lang="en-IN" b="1" dirty="0"/>
              <a:t>Fourth, Past Demand Lags.</a:t>
            </a:r>
            <a:endParaRPr lang="en-IN" dirty="0"/>
          </a:p>
          <a:p>
            <a:r>
              <a:rPr lang="en-IN" dirty="0"/>
              <a:t>“Here we use previous demand values. For example, </a:t>
            </a:r>
            <a:r>
              <a:rPr lang="en-IN" sz="1200" kern="1200" dirty="0">
                <a:solidFill>
                  <a:schemeClr val="tx1"/>
                </a:solidFill>
                <a:latin typeface="+mn-lt"/>
                <a:ea typeface="+mn-ea"/>
                <a:cs typeface="+mn-cs"/>
              </a:rPr>
              <a:t>lag_1h</a:t>
            </a:r>
            <a:r>
              <a:rPr lang="en-IN" dirty="0"/>
              <a:t> represents demand in the previous hour, </a:t>
            </a:r>
            <a:r>
              <a:rPr lang="en-IN" sz="1200" kern="1200" dirty="0">
                <a:solidFill>
                  <a:schemeClr val="tx1"/>
                </a:solidFill>
                <a:latin typeface="+mn-lt"/>
                <a:ea typeface="+mn-ea"/>
                <a:cs typeface="+mn-cs"/>
              </a:rPr>
              <a:t>lag_24h</a:t>
            </a:r>
            <a:r>
              <a:rPr lang="en-IN" dirty="0"/>
              <a:t> represents demand at the same hour on the previous day, and </a:t>
            </a:r>
            <a:r>
              <a:rPr lang="en-IN" sz="1200" kern="1200" dirty="0">
                <a:solidFill>
                  <a:schemeClr val="tx1"/>
                </a:solidFill>
                <a:latin typeface="+mn-lt"/>
                <a:ea typeface="+mn-ea"/>
                <a:cs typeface="+mn-cs"/>
              </a:rPr>
              <a:t>lag_168h</a:t>
            </a:r>
            <a:r>
              <a:rPr lang="en-IN" dirty="0"/>
              <a:t> represents demand at the same hour one week earlier.”</a:t>
            </a:r>
          </a:p>
          <a:p>
            <a:r>
              <a:rPr lang="en-IN" b="1" dirty="0"/>
              <a:t>Finally, Rolling Averages.</a:t>
            </a:r>
            <a:endParaRPr lang="en-IN" dirty="0"/>
          </a:p>
          <a:p>
            <a:r>
              <a:rPr lang="en-IN" dirty="0"/>
              <a:t>“Rolling features summarize recent demand. For example, a 3-hour rolling mean gives the average demand over the previous three hours. This helps the model understand the recent demand trend.”</a:t>
            </a:r>
          </a:p>
          <a:p>
            <a:r>
              <a:rPr lang="en-IN" b="1" dirty="0"/>
              <a:t>Finish with this sentence</a:t>
            </a:r>
          </a:p>
          <a:p>
            <a:r>
              <a:rPr lang="en-IN" b="1" dirty="0"/>
              <a:t>“So, these five feature groups provide the model with information about the current time, repeating time patterns, combinations of conditions, previous demand, and recent demand trends.”</a:t>
            </a:r>
          </a:p>
          <a:p>
            <a:endParaRPr lang="en-IN" b="1" dirty="0"/>
          </a:p>
          <a:p>
            <a:endParaRPr lang="en-IN" b="1" dirty="0"/>
          </a:p>
          <a:p>
            <a:endParaRPr lang="en-IN" b="1" dirty="0"/>
          </a:p>
          <a:p>
            <a:endParaRPr lang="en-IN" b="1" dirty="0"/>
          </a:p>
          <a:p>
            <a:endParaRPr lang="en-IN" b="1" dirty="0"/>
          </a:p>
          <a:p>
            <a:r>
              <a:rPr lang="en-IN" b="1" dirty="0"/>
              <a:t>Category 1: Calendar &amp; Flags (14 Features)</a:t>
            </a:r>
          </a:p>
          <a:p>
            <a:r>
              <a:rPr lang="en-IN" dirty="0"/>
              <a:t>These tell the model about the date, time of day, commuter rush hours, and holidays:</a:t>
            </a:r>
          </a:p>
          <a:p>
            <a:r>
              <a:rPr lang="en-IN" b="1" dirty="0" err="1"/>
              <a:t>start_station_id</a:t>
            </a:r>
            <a:r>
              <a:rPr lang="en-IN" dirty="0"/>
              <a:t> — The ID number of the bike station we want to predict for.</a:t>
            </a:r>
            <a:br>
              <a:rPr lang="en-IN" dirty="0"/>
            </a:br>
            <a:r>
              <a:rPr lang="en-IN" b="1" dirty="0"/>
              <a:t>Example:</a:t>
            </a:r>
            <a:r>
              <a:rPr lang="en-IN" dirty="0"/>
              <a:t> </a:t>
            </a:r>
            <a:r>
              <a:rPr lang="en-IN" sz="1200" kern="1200" dirty="0">
                <a:solidFill>
                  <a:schemeClr val="tx1"/>
                </a:solidFill>
                <a:latin typeface="+mn-lt"/>
                <a:ea typeface="+mn-ea"/>
                <a:cs typeface="+mn-cs"/>
              </a:rPr>
              <a:t>2</a:t>
            </a:r>
            <a:endParaRPr lang="en-IN" dirty="0"/>
          </a:p>
          <a:p>
            <a:r>
              <a:rPr lang="en-IN" b="1" dirty="0" err="1"/>
              <a:t>special_event</a:t>
            </a:r>
            <a:r>
              <a:rPr lang="en-IN" dirty="0"/>
              <a:t> — Tells whether today is a city holiday or festival.</a:t>
            </a:r>
            <a:br>
              <a:rPr lang="en-IN" dirty="0"/>
            </a:br>
            <a:r>
              <a:rPr lang="en-IN" b="1" dirty="0"/>
              <a:t>Example:</a:t>
            </a:r>
            <a:r>
              <a:rPr lang="en-IN" dirty="0"/>
              <a:t> </a:t>
            </a:r>
            <a:r>
              <a:rPr lang="en-IN" sz="1200" kern="1200" dirty="0">
                <a:solidFill>
                  <a:schemeClr val="tx1"/>
                </a:solidFill>
                <a:latin typeface="+mn-lt"/>
                <a:ea typeface="+mn-ea"/>
                <a:cs typeface="+mn-cs"/>
              </a:rPr>
              <a:t>0</a:t>
            </a:r>
            <a:r>
              <a:rPr lang="en-IN" dirty="0"/>
              <a:t> (No special event)</a:t>
            </a:r>
          </a:p>
          <a:p>
            <a:r>
              <a:rPr lang="en-IN" b="1" dirty="0"/>
              <a:t>hour</a:t>
            </a:r>
            <a:r>
              <a:rPr lang="en-IN" dirty="0"/>
              <a:t> — The hour of the day (from 0 to 23).</a:t>
            </a:r>
            <a:br>
              <a:rPr lang="en-IN" dirty="0"/>
            </a:br>
            <a:r>
              <a:rPr lang="en-IN" b="1" dirty="0"/>
              <a:t>Example:</a:t>
            </a:r>
            <a:r>
              <a:rPr lang="en-IN" dirty="0"/>
              <a:t> </a:t>
            </a:r>
            <a:r>
              <a:rPr lang="en-IN" sz="1200" kern="1200" dirty="0">
                <a:solidFill>
                  <a:schemeClr val="tx1"/>
                </a:solidFill>
                <a:latin typeface="+mn-lt"/>
                <a:ea typeface="+mn-ea"/>
                <a:cs typeface="+mn-cs"/>
              </a:rPr>
              <a:t>8</a:t>
            </a:r>
            <a:endParaRPr lang="en-IN" dirty="0"/>
          </a:p>
          <a:p>
            <a:r>
              <a:rPr lang="en-IN" b="1" dirty="0"/>
              <a:t>day</a:t>
            </a:r>
            <a:r>
              <a:rPr lang="en-IN" dirty="0"/>
              <a:t> — The day of the month (from 1 to 31).</a:t>
            </a:r>
            <a:br>
              <a:rPr lang="en-IN" dirty="0"/>
            </a:br>
            <a:r>
              <a:rPr lang="en-IN" b="1" dirty="0"/>
              <a:t>Example:</a:t>
            </a:r>
            <a:r>
              <a:rPr lang="en-IN" dirty="0"/>
              <a:t> </a:t>
            </a:r>
            <a:r>
              <a:rPr lang="en-IN" sz="1200" kern="1200" dirty="0">
                <a:solidFill>
                  <a:schemeClr val="tx1"/>
                </a:solidFill>
                <a:latin typeface="+mn-lt"/>
                <a:ea typeface="+mn-ea"/>
                <a:cs typeface="+mn-cs"/>
              </a:rPr>
              <a:t>15</a:t>
            </a:r>
            <a:endParaRPr lang="en-IN" dirty="0"/>
          </a:p>
          <a:p>
            <a:r>
              <a:rPr lang="en-IN" b="1" dirty="0"/>
              <a:t>weekday</a:t>
            </a:r>
            <a:r>
              <a:rPr lang="en-IN" dirty="0"/>
              <a:t> — The day of the week (0 for Monday up to 6 for Sunday).</a:t>
            </a:r>
            <a:br>
              <a:rPr lang="en-IN" dirty="0"/>
            </a:br>
            <a:r>
              <a:rPr lang="en-IN" b="1" dirty="0"/>
              <a:t>Example:</a:t>
            </a:r>
            <a:r>
              <a:rPr lang="en-IN" dirty="0"/>
              <a:t> </a:t>
            </a:r>
            <a:r>
              <a:rPr lang="en-IN" sz="1200" kern="1200" dirty="0">
                <a:solidFill>
                  <a:schemeClr val="tx1"/>
                </a:solidFill>
                <a:latin typeface="+mn-lt"/>
                <a:ea typeface="+mn-ea"/>
                <a:cs typeface="+mn-cs"/>
              </a:rPr>
              <a:t>1</a:t>
            </a:r>
            <a:r>
              <a:rPr lang="en-IN" dirty="0"/>
              <a:t> (Tuesday)</a:t>
            </a:r>
          </a:p>
          <a:p>
            <a:r>
              <a:rPr lang="en-IN" b="1" dirty="0"/>
              <a:t>month</a:t>
            </a:r>
            <a:r>
              <a:rPr lang="en-IN" dirty="0"/>
              <a:t> — The month of the year (1 for January to 12 for December).</a:t>
            </a:r>
            <a:br>
              <a:rPr lang="en-IN" dirty="0"/>
            </a:br>
            <a:r>
              <a:rPr lang="en-IN" b="1" dirty="0"/>
              <a:t>Example:</a:t>
            </a:r>
            <a:r>
              <a:rPr lang="en-IN" dirty="0"/>
              <a:t> </a:t>
            </a:r>
            <a:r>
              <a:rPr lang="en-IN" sz="1200" kern="1200" dirty="0">
                <a:solidFill>
                  <a:schemeClr val="tx1"/>
                </a:solidFill>
                <a:latin typeface="+mn-lt"/>
                <a:ea typeface="+mn-ea"/>
                <a:cs typeface="+mn-cs"/>
              </a:rPr>
              <a:t>10</a:t>
            </a:r>
            <a:r>
              <a:rPr lang="en-IN" dirty="0"/>
              <a:t> (October)</a:t>
            </a:r>
          </a:p>
          <a:p>
            <a:r>
              <a:rPr lang="en-IN" b="1" dirty="0"/>
              <a:t>year</a:t>
            </a:r>
            <a:r>
              <a:rPr lang="en-IN" dirty="0"/>
              <a:t> — The year of the record (2013, 2014, or 2015).</a:t>
            </a:r>
            <a:br>
              <a:rPr lang="en-IN" dirty="0"/>
            </a:br>
            <a:r>
              <a:rPr lang="en-IN" b="1" dirty="0"/>
              <a:t>Example:</a:t>
            </a:r>
            <a:r>
              <a:rPr lang="en-IN" dirty="0"/>
              <a:t> </a:t>
            </a:r>
            <a:r>
              <a:rPr lang="en-IN" sz="1200" kern="1200" dirty="0">
                <a:solidFill>
                  <a:schemeClr val="tx1"/>
                </a:solidFill>
                <a:latin typeface="+mn-lt"/>
                <a:ea typeface="+mn-ea"/>
                <a:cs typeface="+mn-cs"/>
              </a:rPr>
              <a:t>2013</a:t>
            </a:r>
            <a:endParaRPr lang="en-IN" dirty="0"/>
          </a:p>
          <a:p>
            <a:r>
              <a:rPr lang="en-IN" b="1" dirty="0" err="1"/>
              <a:t>day_of_year</a:t>
            </a:r>
            <a:r>
              <a:rPr lang="en-IN" dirty="0"/>
              <a:t> — The continuous day number in the year (from 1 to 365).</a:t>
            </a:r>
            <a:br>
              <a:rPr lang="en-IN" dirty="0"/>
            </a:br>
            <a:r>
              <a:rPr lang="en-IN" b="1" dirty="0"/>
              <a:t>Example:</a:t>
            </a:r>
            <a:r>
              <a:rPr lang="en-IN" dirty="0"/>
              <a:t> </a:t>
            </a:r>
            <a:r>
              <a:rPr lang="en-IN" sz="1200" kern="1200" dirty="0">
                <a:solidFill>
                  <a:schemeClr val="tx1"/>
                </a:solidFill>
                <a:latin typeface="+mn-lt"/>
                <a:ea typeface="+mn-ea"/>
                <a:cs typeface="+mn-cs"/>
              </a:rPr>
              <a:t>288</a:t>
            </a:r>
            <a:endParaRPr lang="en-IN" dirty="0"/>
          </a:p>
          <a:p>
            <a:r>
              <a:rPr lang="en-IN" b="1" dirty="0" err="1"/>
              <a:t>week_of_year</a:t>
            </a:r>
            <a:r>
              <a:rPr lang="en-IN" dirty="0"/>
              <a:t> — The calendar week number (from 1 to 52).</a:t>
            </a:r>
            <a:br>
              <a:rPr lang="en-IN" dirty="0"/>
            </a:br>
            <a:r>
              <a:rPr lang="en-IN" b="1" dirty="0"/>
              <a:t>Example:</a:t>
            </a:r>
            <a:r>
              <a:rPr lang="en-IN" dirty="0"/>
              <a:t> </a:t>
            </a:r>
            <a:r>
              <a:rPr lang="en-IN" sz="1200" kern="1200" dirty="0">
                <a:solidFill>
                  <a:schemeClr val="tx1"/>
                </a:solidFill>
                <a:latin typeface="+mn-lt"/>
                <a:ea typeface="+mn-ea"/>
                <a:cs typeface="+mn-cs"/>
              </a:rPr>
              <a:t>42</a:t>
            </a:r>
            <a:endParaRPr lang="en-IN" dirty="0"/>
          </a:p>
          <a:p>
            <a:r>
              <a:rPr lang="en-IN" b="1" dirty="0" err="1"/>
              <a:t>is_weekend</a:t>
            </a:r>
            <a:r>
              <a:rPr lang="en-IN" dirty="0"/>
              <a:t> — 1 if the day is Saturday or Sunday, and 0 for weekdays.</a:t>
            </a:r>
            <a:br>
              <a:rPr lang="en-IN" dirty="0"/>
            </a:br>
            <a:r>
              <a:rPr lang="en-IN" b="1" dirty="0"/>
              <a:t>Example:</a:t>
            </a:r>
            <a:r>
              <a:rPr lang="en-IN" dirty="0"/>
              <a:t> </a:t>
            </a:r>
            <a:r>
              <a:rPr lang="en-IN" sz="1200" kern="1200" dirty="0">
                <a:solidFill>
                  <a:schemeClr val="tx1"/>
                </a:solidFill>
                <a:latin typeface="+mn-lt"/>
                <a:ea typeface="+mn-ea"/>
                <a:cs typeface="+mn-cs"/>
              </a:rPr>
              <a:t>0</a:t>
            </a:r>
            <a:endParaRPr lang="en-IN" dirty="0"/>
          </a:p>
          <a:p>
            <a:r>
              <a:rPr lang="en-IN" b="1" dirty="0" err="1"/>
              <a:t>is_weekday</a:t>
            </a:r>
            <a:r>
              <a:rPr lang="en-IN" dirty="0"/>
              <a:t> — 1 if the day is Monday through Friday, and 0 for weekends.</a:t>
            </a:r>
            <a:br>
              <a:rPr lang="en-IN" dirty="0"/>
            </a:br>
            <a:r>
              <a:rPr lang="en-IN" b="1" dirty="0"/>
              <a:t>Example:</a:t>
            </a:r>
            <a:r>
              <a:rPr lang="en-IN" dirty="0"/>
              <a:t> </a:t>
            </a:r>
            <a:r>
              <a:rPr lang="en-IN" sz="1200" kern="1200" dirty="0">
                <a:solidFill>
                  <a:schemeClr val="tx1"/>
                </a:solidFill>
                <a:latin typeface="+mn-lt"/>
                <a:ea typeface="+mn-ea"/>
                <a:cs typeface="+mn-cs"/>
              </a:rPr>
              <a:t>1</a:t>
            </a:r>
            <a:endParaRPr lang="en-IN" dirty="0"/>
          </a:p>
          <a:p>
            <a:r>
              <a:rPr lang="en-IN" b="1" dirty="0" err="1"/>
              <a:t>morning_peak</a:t>
            </a:r>
            <a:r>
              <a:rPr lang="en-IN" dirty="0"/>
              <a:t> — 1 during morning rush hours (7:00 AM to 9:00 AM), and 0 otherwise.</a:t>
            </a:r>
            <a:br>
              <a:rPr lang="en-IN" dirty="0"/>
            </a:br>
            <a:r>
              <a:rPr lang="en-IN" b="1" dirty="0"/>
              <a:t>Example:</a:t>
            </a:r>
            <a:r>
              <a:rPr lang="en-IN" dirty="0"/>
              <a:t> </a:t>
            </a:r>
            <a:r>
              <a:rPr lang="en-IN" sz="1200" kern="1200" dirty="0">
                <a:solidFill>
                  <a:schemeClr val="tx1"/>
                </a:solidFill>
                <a:latin typeface="+mn-lt"/>
                <a:ea typeface="+mn-ea"/>
                <a:cs typeface="+mn-cs"/>
              </a:rPr>
              <a:t>1</a:t>
            </a:r>
            <a:endParaRPr lang="en-IN" dirty="0"/>
          </a:p>
          <a:p>
            <a:r>
              <a:rPr lang="en-IN" b="1" dirty="0" err="1"/>
              <a:t>evening_peak</a:t>
            </a:r>
            <a:r>
              <a:rPr lang="en-IN" dirty="0"/>
              <a:t> — 1 during evening rush hours (4:00 PM to 7:00 PM), and 0 otherwise.</a:t>
            </a:r>
            <a:br>
              <a:rPr lang="en-IN" dirty="0"/>
            </a:br>
            <a:r>
              <a:rPr lang="en-IN" b="1" dirty="0"/>
              <a:t>Example:</a:t>
            </a:r>
            <a:r>
              <a:rPr lang="en-IN" dirty="0"/>
              <a:t> </a:t>
            </a:r>
            <a:r>
              <a:rPr lang="en-IN" sz="1200" kern="1200" dirty="0">
                <a:solidFill>
                  <a:schemeClr val="tx1"/>
                </a:solidFill>
                <a:latin typeface="+mn-lt"/>
                <a:ea typeface="+mn-ea"/>
                <a:cs typeface="+mn-cs"/>
              </a:rPr>
              <a:t>0</a:t>
            </a:r>
            <a:endParaRPr lang="en-IN" dirty="0"/>
          </a:p>
          <a:p>
            <a:r>
              <a:rPr lang="en-IN" b="1" dirty="0" err="1"/>
              <a:t>peak_hour</a:t>
            </a:r>
            <a:r>
              <a:rPr lang="en-IN" dirty="0"/>
              <a:t> — 1 if the hour is either a morning or evening rush hour, and 0 otherwise.</a:t>
            </a:r>
            <a:br>
              <a:rPr lang="en-IN" dirty="0"/>
            </a:br>
            <a:r>
              <a:rPr lang="en-IN" b="1" dirty="0"/>
              <a:t>Example:</a:t>
            </a:r>
            <a:r>
              <a:rPr lang="en-IN" dirty="0"/>
              <a:t> </a:t>
            </a:r>
            <a:r>
              <a:rPr lang="en-IN" sz="1200" kern="1200" dirty="0">
                <a:solidFill>
                  <a:schemeClr val="tx1"/>
                </a:solidFill>
                <a:latin typeface="+mn-lt"/>
                <a:ea typeface="+mn-ea"/>
                <a:cs typeface="+mn-cs"/>
              </a:rPr>
              <a:t>1</a:t>
            </a:r>
            <a:endParaRPr lang="en-IN" dirty="0"/>
          </a:p>
          <a:p>
            <a:br>
              <a:rPr lang="en-IN" dirty="0"/>
            </a:br>
            <a:endParaRPr lang="en-IN" dirty="0"/>
          </a:p>
          <a:p>
            <a:r>
              <a:rPr lang="en-IN" b="1" dirty="0"/>
              <a:t>Category 2: Cyclical Features (8 Features)</a:t>
            </a:r>
          </a:p>
          <a:p>
            <a:r>
              <a:rPr lang="en-IN" dirty="0"/>
              <a:t>These convert time into a continuous 24-hour circular clock so that 11:00 PM and midnight are treated as right next to each other, without an artificial jump from 23 to 0:</a:t>
            </a:r>
          </a:p>
          <a:p>
            <a:endParaRPr lang="en-IN" dirty="0"/>
          </a:p>
          <a:p>
            <a:r>
              <a:rPr lang="en-IN" dirty="0"/>
              <a:t>We convert the hour into an angle on a 24-hour circle. For 8 AM, the angle is 120 degrees. The sine of 120 degrees is approximately 0.866 and the cosine is -0.5. These two values represent the position of 8 AM in the daily cycle</a:t>
            </a:r>
          </a:p>
          <a:p>
            <a:endParaRPr lang="en-IN" dirty="0"/>
          </a:p>
          <a:p>
            <a:r>
              <a:rPr lang="en-IN" b="1" dirty="0" err="1"/>
              <a:t>hour_sin</a:t>
            </a:r>
            <a:r>
              <a:rPr lang="en-IN" dirty="0"/>
              <a:t> — The sine value of the hour, capturing the 24-hour daily cycle.</a:t>
            </a:r>
            <a:br>
              <a:rPr lang="en-IN" dirty="0"/>
            </a:br>
            <a:r>
              <a:rPr lang="en-IN" b="1" dirty="0"/>
              <a:t>Example:</a:t>
            </a:r>
            <a:r>
              <a:rPr lang="en-IN" dirty="0"/>
              <a:t> </a:t>
            </a:r>
            <a:r>
              <a:rPr lang="en-IN" sz="1200" kern="1200" dirty="0">
                <a:solidFill>
                  <a:schemeClr val="tx1"/>
                </a:solidFill>
                <a:latin typeface="+mn-lt"/>
                <a:ea typeface="+mn-ea"/>
                <a:cs typeface="+mn-cs"/>
              </a:rPr>
              <a:t>0.866 </a:t>
            </a:r>
            <a:r>
              <a:rPr lang="en-IN" dirty="0" err="1"/>
              <a:t>hour_sin</a:t>
            </a:r>
            <a:r>
              <a:rPr lang="en-IN" dirty="0"/>
              <a:t>=sin(2π×hour/24​)</a:t>
            </a:r>
          </a:p>
          <a:p>
            <a:r>
              <a:rPr lang="en-IN" b="1" dirty="0" err="1"/>
              <a:t>hour_cos</a:t>
            </a:r>
            <a:r>
              <a:rPr lang="en-IN" dirty="0"/>
              <a:t> — The cosine value of the hour, working with sine to form a complete clock circle.</a:t>
            </a:r>
            <a:br>
              <a:rPr lang="en-IN" dirty="0"/>
            </a:br>
            <a:r>
              <a:rPr lang="en-IN" b="1" dirty="0"/>
              <a:t>Example:</a:t>
            </a:r>
            <a:r>
              <a:rPr lang="en-IN" dirty="0"/>
              <a:t> </a:t>
            </a:r>
            <a:r>
              <a:rPr lang="en-IN" sz="1200" kern="1200" dirty="0">
                <a:solidFill>
                  <a:schemeClr val="tx1"/>
                </a:solidFill>
                <a:latin typeface="+mn-lt"/>
                <a:ea typeface="+mn-ea"/>
                <a:cs typeface="+mn-cs"/>
              </a:rPr>
              <a:t>-0.500   </a:t>
            </a:r>
            <a:r>
              <a:rPr lang="en-IN" dirty="0" err="1"/>
              <a:t>hour_cos</a:t>
            </a:r>
            <a:r>
              <a:rPr lang="en-IN" dirty="0"/>
              <a:t>=cos(2π×hour/24​)</a:t>
            </a:r>
          </a:p>
          <a:p>
            <a:r>
              <a:rPr lang="en-IN" b="1" dirty="0" err="1"/>
              <a:t>weekday_sin</a:t>
            </a:r>
            <a:r>
              <a:rPr lang="en-IN" dirty="0"/>
              <a:t> — The sine value of the weekday, smoothly connecting Sunday night to Monday morning.</a:t>
            </a:r>
            <a:br>
              <a:rPr lang="en-IN" dirty="0"/>
            </a:br>
            <a:r>
              <a:rPr lang="en-IN" b="1" dirty="0"/>
              <a:t>Example:</a:t>
            </a:r>
            <a:r>
              <a:rPr lang="en-IN" dirty="0"/>
              <a:t> </a:t>
            </a:r>
            <a:r>
              <a:rPr lang="en-IN" sz="1200" kern="1200" dirty="0">
                <a:solidFill>
                  <a:schemeClr val="tx1"/>
                </a:solidFill>
                <a:latin typeface="+mn-lt"/>
                <a:ea typeface="+mn-ea"/>
                <a:cs typeface="+mn-cs"/>
              </a:rPr>
              <a:t>0.782</a:t>
            </a:r>
            <a:endParaRPr lang="en-IN" dirty="0"/>
          </a:p>
          <a:p>
            <a:r>
              <a:rPr lang="en-IN" b="1" dirty="0" err="1"/>
              <a:t>weekday_cos</a:t>
            </a:r>
            <a:r>
              <a:rPr lang="en-IN" dirty="0"/>
              <a:t> — The cosine value of the weekday.</a:t>
            </a:r>
            <a:br>
              <a:rPr lang="en-IN" dirty="0"/>
            </a:br>
            <a:r>
              <a:rPr lang="en-IN" b="1" dirty="0"/>
              <a:t>Example:</a:t>
            </a:r>
            <a:r>
              <a:rPr lang="en-IN" dirty="0"/>
              <a:t> </a:t>
            </a:r>
            <a:r>
              <a:rPr lang="en-IN" sz="1200" kern="1200" dirty="0">
                <a:solidFill>
                  <a:schemeClr val="tx1"/>
                </a:solidFill>
                <a:latin typeface="+mn-lt"/>
                <a:ea typeface="+mn-ea"/>
                <a:cs typeface="+mn-cs"/>
              </a:rPr>
              <a:t>0.623</a:t>
            </a:r>
            <a:endParaRPr lang="en-IN" dirty="0"/>
          </a:p>
          <a:p>
            <a:r>
              <a:rPr lang="en-IN" b="1" dirty="0" err="1"/>
              <a:t>month_sin</a:t>
            </a:r>
            <a:r>
              <a:rPr lang="en-IN" dirty="0"/>
              <a:t> — The sine value of the month, smoothly connecting December to January.</a:t>
            </a:r>
            <a:br>
              <a:rPr lang="en-IN" dirty="0"/>
            </a:br>
            <a:r>
              <a:rPr lang="en-IN" b="1" dirty="0"/>
              <a:t>Example:</a:t>
            </a:r>
            <a:r>
              <a:rPr lang="en-IN" dirty="0"/>
              <a:t> </a:t>
            </a:r>
            <a:r>
              <a:rPr lang="en-IN" sz="1200" kern="1200" dirty="0">
                <a:solidFill>
                  <a:schemeClr val="tx1"/>
                </a:solidFill>
                <a:latin typeface="+mn-lt"/>
                <a:ea typeface="+mn-ea"/>
                <a:cs typeface="+mn-cs"/>
              </a:rPr>
              <a:t>-0.866</a:t>
            </a:r>
            <a:endParaRPr lang="en-IN" dirty="0"/>
          </a:p>
          <a:p>
            <a:r>
              <a:rPr lang="en-IN" b="1" dirty="0" err="1"/>
              <a:t>month_cos</a:t>
            </a:r>
            <a:r>
              <a:rPr lang="en-IN" dirty="0"/>
              <a:t> — The cosine value of the month.</a:t>
            </a:r>
            <a:br>
              <a:rPr lang="en-IN" dirty="0"/>
            </a:br>
            <a:r>
              <a:rPr lang="en-IN" b="1" dirty="0"/>
              <a:t>Example:</a:t>
            </a:r>
            <a:r>
              <a:rPr lang="en-IN" dirty="0"/>
              <a:t> </a:t>
            </a:r>
            <a:r>
              <a:rPr lang="en-IN" sz="1200" kern="1200" dirty="0">
                <a:solidFill>
                  <a:schemeClr val="tx1"/>
                </a:solidFill>
                <a:latin typeface="+mn-lt"/>
                <a:ea typeface="+mn-ea"/>
                <a:cs typeface="+mn-cs"/>
              </a:rPr>
              <a:t>0.500</a:t>
            </a:r>
            <a:endParaRPr lang="en-IN" dirty="0"/>
          </a:p>
          <a:p>
            <a:r>
              <a:rPr lang="en-IN" b="1" dirty="0" err="1"/>
              <a:t>day_of_year_sin</a:t>
            </a:r>
            <a:r>
              <a:rPr lang="en-IN" dirty="0"/>
              <a:t> — The sine value of the day of the year, connecting the end of the year to the new year.</a:t>
            </a:r>
            <a:br>
              <a:rPr lang="en-IN" dirty="0"/>
            </a:br>
            <a:r>
              <a:rPr lang="en-IN" b="1" dirty="0"/>
              <a:t>Example:</a:t>
            </a:r>
            <a:r>
              <a:rPr lang="en-IN" dirty="0"/>
              <a:t> </a:t>
            </a:r>
            <a:r>
              <a:rPr lang="en-IN" sz="1200" kern="1200" dirty="0">
                <a:solidFill>
                  <a:schemeClr val="tx1"/>
                </a:solidFill>
                <a:latin typeface="+mn-lt"/>
                <a:ea typeface="+mn-ea"/>
                <a:cs typeface="+mn-cs"/>
              </a:rPr>
              <a:t>-0.975</a:t>
            </a:r>
            <a:endParaRPr lang="en-IN" dirty="0"/>
          </a:p>
          <a:p>
            <a:r>
              <a:rPr lang="en-IN" b="1" dirty="0" err="1"/>
              <a:t>day_of_year_cos</a:t>
            </a:r>
            <a:r>
              <a:rPr lang="en-IN" dirty="0"/>
              <a:t> — The cosine value of the day of the year.</a:t>
            </a:r>
            <a:br>
              <a:rPr lang="en-IN" dirty="0"/>
            </a:br>
            <a:r>
              <a:rPr lang="en-IN" b="1" dirty="0"/>
              <a:t>Example:</a:t>
            </a:r>
            <a:r>
              <a:rPr lang="en-IN" dirty="0"/>
              <a:t> </a:t>
            </a:r>
            <a:r>
              <a:rPr lang="en-IN" sz="1200" kern="1200" dirty="0">
                <a:solidFill>
                  <a:schemeClr val="tx1"/>
                </a:solidFill>
                <a:latin typeface="+mn-lt"/>
                <a:ea typeface="+mn-ea"/>
                <a:cs typeface="+mn-cs"/>
              </a:rPr>
              <a:t>0.223</a:t>
            </a:r>
            <a:endParaRPr lang="en-IN" dirty="0"/>
          </a:p>
          <a:p>
            <a:br>
              <a:rPr lang="en-IN" dirty="0"/>
            </a:br>
            <a:endParaRPr lang="en-IN" dirty="0"/>
          </a:p>
          <a:p>
            <a:r>
              <a:rPr lang="en-IN" b="1" dirty="0"/>
              <a:t>Category 3: Interaction Features (4 Features)</a:t>
            </a:r>
          </a:p>
          <a:p>
            <a:r>
              <a:rPr lang="en-IN" dirty="0"/>
              <a:t>These combine two time variables together so the model can easily separate different days and times (for example, busy Tuesday 8:00 AM versus calm Sunday 8:00 AM):</a:t>
            </a:r>
          </a:p>
          <a:p>
            <a:r>
              <a:rPr lang="en-IN" b="1" dirty="0" err="1"/>
              <a:t>hour_weekday</a:t>
            </a:r>
            <a:r>
              <a:rPr lang="en-IN" dirty="0"/>
              <a:t> — Combines the hour and the weekday to identify specific time slots in the week.</a:t>
            </a:r>
            <a:br>
              <a:rPr lang="en-IN" dirty="0"/>
            </a:br>
            <a:r>
              <a:rPr lang="en-IN" b="1" dirty="0"/>
              <a:t>Example:</a:t>
            </a:r>
            <a:r>
              <a:rPr lang="en-IN" dirty="0"/>
              <a:t> </a:t>
            </a:r>
            <a:r>
              <a:rPr lang="en-IN" sz="1200" kern="1200" dirty="0">
                <a:solidFill>
                  <a:schemeClr val="tx1"/>
                </a:solidFill>
                <a:latin typeface="+mn-lt"/>
                <a:ea typeface="+mn-ea"/>
                <a:cs typeface="+mn-cs"/>
              </a:rPr>
              <a:t>8</a:t>
            </a:r>
            <a:endParaRPr lang="en-IN" dirty="0"/>
          </a:p>
          <a:p>
            <a:r>
              <a:rPr lang="en-IN" b="1" dirty="0" err="1"/>
              <a:t>weekend_hour</a:t>
            </a:r>
            <a:r>
              <a:rPr lang="en-IN" dirty="0"/>
              <a:t> — Combines weekend flags with the hour to capture weekend afternoon leisure trips.</a:t>
            </a:r>
            <a:br>
              <a:rPr lang="en-IN" dirty="0"/>
            </a:br>
            <a:r>
              <a:rPr lang="en-IN" b="1" dirty="0"/>
              <a:t>Example:</a:t>
            </a:r>
            <a:r>
              <a:rPr lang="en-IN" dirty="0"/>
              <a:t> </a:t>
            </a:r>
            <a:r>
              <a:rPr lang="en-IN" sz="1200" kern="1200" dirty="0">
                <a:solidFill>
                  <a:schemeClr val="tx1"/>
                </a:solidFill>
                <a:latin typeface="+mn-lt"/>
                <a:ea typeface="+mn-ea"/>
                <a:cs typeface="+mn-cs"/>
              </a:rPr>
              <a:t>0</a:t>
            </a:r>
            <a:endParaRPr lang="en-IN" dirty="0"/>
          </a:p>
          <a:p>
            <a:r>
              <a:rPr lang="en-IN" b="1" dirty="0" err="1"/>
              <a:t>month_hour</a:t>
            </a:r>
            <a:r>
              <a:rPr lang="en-IN" dirty="0"/>
              <a:t> — Combines the month and the hour to capture seasonal differences between summer and winter rush hours.</a:t>
            </a:r>
            <a:br>
              <a:rPr lang="en-IN" dirty="0"/>
            </a:br>
            <a:r>
              <a:rPr lang="en-IN" b="1" dirty="0"/>
              <a:t>Example:</a:t>
            </a:r>
            <a:r>
              <a:rPr lang="en-IN" dirty="0"/>
              <a:t> </a:t>
            </a:r>
            <a:r>
              <a:rPr lang="en-IN" sz="1200" kern="1200" dirty="0">
                <a:solidFill>
                  <a:schemeClr val="tx1"/>
                </a:solidFill>
                <a:latin typeface="+mn-lt"/>
                <a:ea typeface="+mn-ea"/>
                <a:cs typeface="+mn-cs"/>
              </a:rPr>
              <a:t>80</a:t>
            </a:r>
            <a:endParaRPr lang="en-IN" dirty="0"/>
          </a:p>
          <a:p>
            <a:br>
              <a:rPr lang="en-IN" dirty="0"/>
            </a:br>
            <a:endParaRPr lang="en-IN" dirty="0"/>
          </a:p>
          <a:p>
            <a:r>
              <a:rPr lang="en-IN" b="1" dirty="0"/>
              <a:t>Category 4: Past Demand Lags &amp; Deltas (16 Features)</a:t>
            </a:r>
          </a:p>
          <a:p>
            <a:r>
              <a:rPr lang="en-IN" dirty="0"/>
              <a:t>These look backwards at how many bike trips started from this station in earlier hours and earlier days:</a:t>
            </a:r>
          </a:p>
          <a:p>
            <a:r>
              <a:rPr lang="en-IN" b="1" dirty="0"/>
              <a:t>lag_1h</a:t>
            </a:r>
            <a:r>
              <a:rPr lang="en-IN" dirty="0"/>
              <a:t> — Number of bike departures in the previous 1 hour (captures current momentum).</a:t>
            </a:r>
            <a:br>
              <a:rPr lang="en-IN" dirty="0"/>
            </a:br>
            <a:r>
              <a:rPr lang="en-IN" b="1" dirty="0"/>
              <a:t>Example:</a:t>
            </a:r>
            <a:r>
              <a:rPr lang="en-IN" dirty="0"/>
              <a:t> </a:t>
            </a:r>
            <a:r>
              <a:rPr lang="en-IN" sz="1200" kern="1200" dirty="0">
                <a:solidFill>
                  <a:schemeClr val="tx1"/>
                </a:solidFill>
                <a:latin typeface="+mn-lt"/>
                <a:ea typeface="+mn-ea"/>
                <a:cs typeface="+mn-cs"/>
              </a:rPr>
              <a:t>18</a:t>
            </a:r>
            <a:endParaRPr lang="en-IN" dirty="0"/>
          </a:p>
          <a:p>
            <a:r>
              <a:rPr lang="en-IN" b="1" dirty="0"/>
              <a:t>lag_2h</a:t>
            </a:r>
            <a:r>
              <a:rPr lang="en-IN" dirty="0"/>
              <a:t> — Number of bike departures 2 hours ago.</a:t>
            </a:r>
            <a:br>
              <a:rPr lang="en-IN" dirty="0"/>
            </a:br>
            <a:r>
              <a:rPr lang="en-IN" b="1" dirty="0"/>
              <a:t>Example:</a:t>
            </a:r>
            <a:r>
              <a:rPr lang="en-IN" dirty="0"/>
              <a:t> </a:t>
            </a:r>
            <a:r>
              <a:rPr lang="en-IN" sz="1200" kern="1200" dirty="0">
                <a:solidFill>
                  <a:schemeClr val="tx1"/>
                </a:solidFill>
                <a:latin typeface="+mn-lt"/>
                <a:ea typeface="+mn-ea"/>
                <a:cs typeface="+mn-cs"/>
              </a:rPr>
              <a:t>15</a:t>
            </a:r>
            <a:endParaRPr lang="en-IN" dirty="0"/>
          </a:p>
          <a:p>
            <a:r>
              <a:rPr lang="en-IN" b="1" dirty="0"/>
              <a:t>lag_3h</a:t>
            </a:r>
            <a:r>
              <a:rPr lang="en-IN" dirty="0"/>
              <a:t> — Number of bike departures 3 hours ago.</a:t>
            </a:r>
            <a:br>
              <a:rPr lang="en-IN" dirty="0"/>
            </a:br>
            <a:r>
              <a:rPr lang="en-IN" b="1" dirty="0"/>
              <a:t>Example:</a:t>
            </a:r>
            <a:r>
              <a:rPr lang="en-IN" dirty="0"/>
              <a:t> </a:t>
            </a:r>
            <a:r>
              <a:rPr lang="en-IN" sz="1200" kern="1200" dirty="0">
                <a:solidFill>
                  <a:schemeClr val="tx1"/>
                </a:solidFill>
                <a:latin typeface="+mn-lt"/>
                <a:ea typeface="+mn-ea"/>
                <a:cs typeface="+mn-cs"/>
              </a:rPr>
              <a:t>12</a:t>
            </a:r>
            <a:endParaRPr lang="en-IN" dirty="0"/>
          </a:p>
          <a:p>
            <a:r>
              <a:rPr lang="en-IN" b="1" dirty="0"/>
              <a:t>lag_6h</a:t>
            </a:r>
            <a:r>
              <a:rPr lang="en-IN" dirty="0"/>
              <a:t> — Number of bike departures 6 hours ago.</a:t>
            </a:r>
            <a:br>
              <a:rPr lang="en-IN" dirty="0"/>
            </a:br>
            <a:r>
              <a:rPr lang="en-IN" b="1" dirty="0"/>
              <a:t>Example:</a:t>
            </a:r>
            <a:r>
              <a:rPr lang="en-IN" dirty="0"/>
              <a:t> </a:t>
            </a:r>
            <a:r>
              <a:rPr lang="en-IN" sz="1200" kern="1200" dirty="0">
                <a:solidFill>
                  <a:schemeClr val="tx1"/>
                </a:solidFill>
                <a:latin typeface="+mn-lt"/>
                <a:ea typeface="+mn-ea"/>
                <a:cs typeface="+mn-cs"/>
              </a:rPr>
              <a:t>8</a:t>
            </a:r>
            <a:endParaRPr lang="en-IN" dirty="0"/>
          </a:p>
          <a:p>
            <a:r>
              <a:rPr lang="en-IN" b="1" dirty="0"/>
              <a:t>lag_12h</a:t>
            </a:r>
            <a:r>
              <a:rPr lang="en-IN" dirty="0"/>
              <a:t> — Number of bike departures 12 hours ago.</a:t>
            </a:r>
            <a:br>
              <a:rPr lang="en-IN" dirty="0"/>
            </a:br>
            <a:r>
              <a:rPr lang="en-IN" b="1" dirty="0"/>
              <a:t>Example:</a:t>
            </a:r>
            <a:r>
              <a:rPr lang="en-IN" dirty="0"/>
              <a:t> </a:t>
            </a:r>
            <a:r>
              <a:rPr lang="en-IN" sz="1200" kern="1200" dirty="0">
                <a:solidFill>
                  <a:schemeClr val="tx1"/>
                </a:solidFill>
                <a:latin typeface="+mn-lt"/>
                <a:ea typeface="+mn-ea"/>
                <a:cs typeface="+mn-cs"/>
              </a:rPr>
              <a:t>5</a:t>
            </a:r>
            <a:endParaRPr lang="en-IN" dirty="0"/>
          </a:p>
          <a:p>
            <a:r>
              <a:rPr lang="en-IN" b="1" dirty="0"/>
              <a:t>lag_24h</a:t>
            </a:r>
            <a:r>
              <a:rPr lang="en-IN" dirty="0"/>
              <a:t> — Number of bike departures yesterday at this exact same hour.</a:t>
            </a:r>
            <a:br>
              <a:rPr lang="en-IN" dirty="0"/>
            </a:br>
            <a:r>
              <a:rPr lang="en-IN" b="1" dirty="0"/>
              <a:t>Example:</a:t>
            </a:r>
            <a:r>
              <a:rPr lang="en-IN" dirty="0"/>
              <a:t> </a:t>
            </a:r>
            <a:r>
              <a:rPr lang="en-IN" sz="1200" kern="1200" dirty="0">
                <a:solidFill>
                  <a:schemeClr val="tx1"/>
                </a:solidFill>
                <a:latin typeface="+mn-lt"/>
                <a:ea typeface="+mn-ea"/>
                <a:cs typeface="+mn-cs"/>
              </a:rPr>
              <a:t>21</a:t>
            </a:r>
            <a:endParaRPr lang="en-IN" dirty="0"/>
          </a:p>
          <a:p>
            <a:r>
              <a:rPr lang="en-IN" b="1" dirty="0"/>
              <a:t>lag_48h</a:t>
            </a:r>
            <a:r>
              <a:rPr lang="en-IN" dirty="0"/>
              <a:t> — Number of bike departures 2 days ago at this same hour.</a:t>
            </a:r>
            <a:br>
              <a:rPr lang="en-IN" dirty="0"/>
            </a:br>
            <a:r>
              <a:rPr lang="en-IN" b="1" dirty="0"/>
              <a:t>Example:</a:t>
            </a:r>
            <a:r>
              <a:rPr lang="en-IN" dirty="0"/>
              <a:t> </a:t>
            </a:r>
            <a:r>
              <a:rPr lang="en-IN" sz="1200" kern="1200" dirty="0">
                <a:solidFill>
                  <a:schemeClr val="tx1"/>
                </a:solidFill>
                <a:latin typeface="+mn-lt"/>
                <a:ea typeface="+mn-ea"/>
                <a:cs typeface="+mn-cs"/>
              </a:rPr>
              <a:t>19</a:t>
            </a:r>
            <a:endParaRPr lang="en-IN" dirty="0"/>
          </a:p>
          <a:p>
            <a:r>
              <a:rPr lang="en-IN" b="1" dirty="0"/>
              <a:t>lag_72h</a:t>
            </a:r>
            <a:r>
              <a:rPr lang="en-IN" dirty="0"/>
              <a:t> — Number of bike departures 3 days ago at this same hour.</a:t>
            </a:r>
            <a:br>
              <a:rPr lang="en-IN" dirty="0"/>
            </a:br>
            <a:r>
              <a:rPr lang="en-IN" b="1" dirty="0"/>
              <a:t>Example:</a:t>
            </a:r>
            <a:r>
              <a:rPr lang="en-IN" dirty="0"/>
              <a:t> </a:t>
            </a:r>
            <a:r>
              <a:rPr lang="en-IN" sz="1200" kern="1200" dirty="0">
                <a:solidFill>
                  <a:schemeClr val="tx1"/>
                </a:solidFill>
                <a:latin typeface="+mn-lt"/>
                <a:ea typeface="+mn-ea"/>
                <a:cs typeface="+mn-cs"/>
              </a:rPr>
              <a:t>20</a:t>
            </a:r>
            <a:endParaRPr lang="en-IN" dirty="0"/>
          </a:p>
          <a:p>
            <a:r>
              <a:rPr lang="en-IN" b="1" dirty="0"/>
              <a:t>lag_168h</a:t>
            </a:r>
            <a:r>
              <a:rPr lang="en-IN" dirty="0"/>
              <a:t> — Number of bike departures exactly 7 days ago at this same hour (weekly routine).</a:t>
            </a:r>
            <a:br>
              <a:rPr lang="en-IN" dirty="0"/>
            </a:br>
            <a:r>
              <a:rPr lang="en-IN" b="1" dirty="0"/>
              <a:t>Example:</a:t>
            </a:r>
            <a:r>
              <a:rPr lang="en-IN" dirty="0"/>
              <a:t> </a:t>
            </a:r>
            <a:r>
              <a:rPr lang="en-IN" sz="1200" kern="1200" dirty="0">
                <a:solidFill>
                  <a:schemeClr val="tx1"/>
                </a:solidFill>
                <a:latin typeface="+mn-lt"/>
                <a:ea typeface="+mn-ea"/>
                <a:cs typeface="+mn-cs"/>
              </a:rPr>
              <a:t>23</a:t>
            </a:r>
            <a:endParaRPr lang="en-IN" dirty="0"/>
          </a:p>
          <a:p>
            <a:r>
              <a:rPr lang="en-IN" b="1" dirty="0" err="1"/>
              <a:t>same_hour_previous_day</a:t>
            </a:r>
            <a:r>
              <a:rPr lang="en-IN" dirty="0"/>
              <a:t> — Demand at the same hour 1 day ago.</a:t>
            </a:r>
            <a:br>
              <a:rPr lang="en-IN" dirty="0"/>
            </a:br>
            <a:r>
              <a:rPr lang="en-IN" b="1" dirty="0"/>
              <a:t>Example:</a:t>
            </a:r>
            <a:r>
              <a:rPr lang="en-IN" dirty="0"/>
              <a:t> </a:t>
            </a:r>
            <a:r>
              <a:rPr lang="en-IN" sz="1200" kern="1200" dirty="0">
                <a:solidFill>
                  <a:schemeClr val="tx1"/>
                </a:solidFill>
                <a:latin typeface="+mn-lt"/>
                <a:ea typeface="+mn-ea"/>
                <a:cs typeface="+mn-cs"/>
              </a:rPr>
              <a:t>21</a:t>
            </a:r>
            <a:endParaRPr lang="en-IN" dirty="0"/>
          </a:p>
          <a:p>
            <a:r>
              <a:rPr lang="en-IN" b="1" dirty="0"/>
              <a:t>same_hour_previous_2days</a:t>
            </a:r>
            <a:r>
              <a:rPr lang="en-IN" dirty="0"/>
              <a:t> — Demand at the same hour 2 days ago.</a:t>
            </a:r>
            <a:br>
              <a:rPr lang="en-IN" dirty="0"/>
            </a:br>
            <a:r>
              <a:rPr lang="en-IN" b="1" dirty="0"/>
              <a:t>Example:</a:t>
            </a:r>
            <a:r>
              <a:rPr lang="en-IN" dirty="0"/>
              <a:t> </a:t>
            </a:r>
            <a:r>
              <a:rPr lang="en-IN" sz="1200" kern="1200" dirty="0">
                <a:solidFill>
                  <a:schemeClr val="tx1"/>
                </a:solidFill>
                <a:latin typeface="+mn-lt"/>
                <a:ea typeface="+mn-ea"/>
                <a:cs typeface="+mn-cs"/>
              </a:rPr>
              <a:t>19</a:t>
            </a:r>
            <a:endParaRPr lang="en-IN" dirty="0"/>
          </a:p>
          <a:p>
            <a:r>
              <a:rPr lang="en-IN" b="1" dirty="0"/>
              <a:t>same_hour_previous_3days</a:t>
            </a:r>
            <a:r>
              <a:rPr lang="en-IN" dirty="0"/>
              <a:t> — Demand at the same hour 3 days ago.</a:t>
            </a:r>
            <a:br>
              <a:rPr lang="en-IN" dirty="0"/>
            </a:br>
            <a:r>
              <a:rPr lang="en-IN" b="1" dirty="0"/>
              <a:t>Example:</a:t>
            </a:r>
            <a:r>
              <a:rPr lang="en-IN" dirty="0"/>
              <a:t> </a:t>
            </a:r>
            <a:r>
              <a:rPr lang="en-IN" sz="1200" kern="1200" dirty="0">
                <a:solidFill>
                  <a:schemeClr val="tx1"/>
                </a:solidFill>
                <a:latin typeface="+mn-lt"/>
                <a:ea typeface="+mn-ea"/>
                <a:cs typeface="+mn-cs"/>
              </a:rPr>
              <a:t>20</a:t>
            </a:r>
            <a:endParaRPr lang="en-IN" dirty="0"/>
          </a:p>
          <a:p>
            <a:r>
              <a:rPr lang="en-IN" b="1" dirty="0" err="1"/>
              <a:t>same_hour_previous_week</a:t>
            </a:r>
            <a:r>
              <a:rPr lang="en-IN" dirty="0"/>
              <a:t> — Demand at the same hour 7 days ago.</a:t>
            </a:r>
            <a:br>
              <a:rPr lang="en-IN" dirty="0"/>
            </a:br>
            <a:r>
              <a:rPr lang="en-IN" b="1" dirty="0"/>
              <a:t>Example:</a:t>
            </a:r>
            <a:r>
              <a:rPr lang="en-IN" dirty="0"/>
              <a:t> </a:t>
            </a:r>
            <a:r>
              <a:rPr lang="en-IN" sz="1200" kern="1200" dirty="0">
                <a:solidFill>
                  <a:schemeClr val="tx1"/>
                </a:solidFill>
                <a:latin typeface="+mn-lt"/>
                <a:ea typeface="+mn-ea"/>
                <a:cs typeface="+mn-cs"/>
              </a:rPr>
              <a:t>23</a:t>
            </a:r>
            <a:endParaRPr lang="en-IN" dirty="0"/>
          </a:p>
          <a:p>
            <a:r>
              <a:rPr lang="en-IN" b="1" dirty="0"/>
              <a:t>demand_change_1h</a:t>
            </a:r>
            <a:r>
              <a:rPr lang="en-IN" dirty="0"/>
              <a:t> </a:t>
            </a:r>
            <a:r>
              <a:rPr lang="en-IN" i="1" dirty="0"/>
              <a:t>(Removed in audit)</a:t>
            </a:r>
            <a:r>
              <a:rPr lang="en-IN" dirty="0"/>
              <a:t> — Difference between current demand and demand 1 hour ago.</a:t>
            </a:r>
            <a:br>
              <a:rPr lang="en-IN" dirty="0"/>
            </a:br>
            <a:r>
              <a:rPr lang="en-IN" b="1" dirty="0"/>
              <a:t>Example:</a:t>
            </a:r>
            <a:r>
              <a:rPr lang="en-IN" dirty="0"/>
              <a:t> </a:t>
            </a:r>
            <a:r>
              <a:rPr lang="en-IN" sz="1200" kern="1200" dirty="0">
                <a:solidFill>
                  <a:schemeClr val="tx1"/>
                </a:solidFill>
                <a:latin typeface="+mn-lt"/>
                <a:ea typeface="+mn-ea"/>
                <a:cs typeface="+mn-cs"/>
              </a:rPr>
              <a:t>3</a:t>
            </a:r>
            <a:r>
              <a:rPr lang="en-IN" dirty="0"/>
              <a:t> </a:t>
            </a:r>
            <a:r>
              <a:rPr lang="en-IN" i="1" dirty="0"/>
              <a:t>(candidate value before removal)</a:t>
            </a:r>
            <a:endParaRPr lang="en-IN" dirty="0"/>
          </a:p>
          <a:p>
            <a:r>
              <a:rPr lang="en-IN" b="1" dirty="0"/>
              <a:t>demand_change_24h</a:t>
            </a:r>
            <a:r>
              <a:rPr lang="en-IN" dirty="0"/>
              <a:t> </a:t>
            </a:r>
            <a:r>
              <a:rPr lang="en-IN" i="1" dirty="0"/>
              <a:t>(Removed in audit)</a:t>
            </a:r>
            <a:r>
              <a:rPr lang="en-IN" dirty="0"/>
              <a:t> — Difference between current demand and demand yesterday.</a:t>
            </a:r>
            <a:br>
              <a:rPr lang="en-IN" dirty="0"/>
            </a:br>
            <a:r>
              <a:rPr lang="en-IN" b="1" dirty="0"/>
              <a:t>Example:</a:t>
            </a:r>
            <a:r>
              <a:rPr lang="en-IN" dirty="0"/>
              <a:t> </a:t>
            </a:r>
            <a:r>
              <a:rPr lang="en-IN" sz="1200" kern="1200" dirty="0">
                <a:solidFill>
                  <a:schemeClr val="tx1"/>
                </a:solidFill>
                <a:latin typeface="+mn-lt"/>
                <a:ea typeface="+mn-ea"/>
                <a:cs typeface="+mn-cs"/>
              </a:rPr>
              <a:t>-2</a:t>
            </a:r>
            <a:r>
              <a:rPr lang="en-IN" dirty="0"/>
              <a:t> </a:t>
            </a:r>
            <a:r>
              <a:rPr lang="en-IN" i="1" dirty="0"/>
              <a:t>(candidate value before removal)</a:t>
            </a:r>
            <a:endParaRPr lang="en-IN" dirty="0"/>
          </a:p>
          <a:p>
            <a:r>
              <a:rPr lang="en-IN" b="1" dirty="0" err="1"/>
              <a:t>demand_change_week</a:t>
            </a:r>
            <a:r>
              <a:rPr lang="en-IN" dirty="0"/>
              <a:t> </a:t>
            </a:r>
            <a:r>
              <a:rPr lang="en-IN" i="1" dirty="0"/>
              <a:t>(Removed in audit)</a:t>
            </a:r>
            <a:r>
              <a:rPr lang="en-IN" dirty="0"/>
              <a:t> — Difference between current demand and demand last week.</a:t>
            </a:r>
            <a:br>
              <a:rPr lang="en-IN" dirty="0"/>
            </a:br>
            <a:r>
              <a:rPr lang="en-IN" b="1" dirty="0"/>
              <a:t>Example:</a:t>
            </a:r>
            <a:r>
              <a:rPr lang="en-IN" dirty="0"/>
              <a:t> </a:t>
            </a:r>
            <a:r>
              <a:rPr lang="en-IN" sz="1200" kern="1200" dirty="0">
                <a:solidFill>
                  <a:schemeClr val="tx1"/>
                </a:solidFill>
                <a:latin typeface="+mn-lt"/>
                <a:ea typeface="+mn-ea"/>
                <a:cs typeface="+mn-cs"/>
              </a:rPr>
              <a:t>4</a:t>
            </a:r>
            <a:r>
              <a:rPr lang="en-IN" dirty="0"/>
              <a:t> </a:t>
            </a:r>
            <a:r>
              <a:rPr lang="en-IN" i="1" dirty="0"/>
              <a:t>(candidate value before removal)</a:t>
            </a:r>
            <a:endParaRPr lang="en-IN" dirty="0"/>
          </a:p>
          <a:p>
            <a:br>
              <a:rPr lang="en-IN" dirty="0"/>
            </a:br>
            <a:endParaRPr lang="en-IN" dirty="0"/>
          </a:p>
          <a:p>
            <a:r>
              <a:rPr lang="en-IN" b="1" dirty="0"/>
              <a:t>Category 5: Rolling Averages &amp; Historical Statistics (20 Features)</a:t>
            </a:r>
          </a:p>
          <a:p>
            <a:r>
              <a:rPr lang="en-IN" dirty="0"/>
              <a:t>Rolling features help the model understand the recent demand trend by summarizing demand over a group of previous hours, instead of looking at only one previous hour.</a:t>
            </a:r>
          </a:p>
          <a:p>
            <a:r>
              <a:rPr lang="en-IN" b="1" dirty="0"/>
              <a:t>rolling_mean_3h</a:t>
            </a:r>
            <a:r>
              <a:rPr lang="en-IN" dirty="0"/>
              <a:t> — Average hourly departures over the past 3 hours.</a:t>
            </a:r>
            <a:br>
              <a:rPr lang="en-IN" dirty="0"/>
            </a:br>
            <a:r>
              <a:rPr lang="en-IN" b="1" dirty="0"/>
              <a:t>Example:</a:t>
            </a:r>
            <a:r>
              <a:rPr lang="en-IN" dirty="0"/>
              <a:t> </a:t>
            </a:r>
            <a:r>
              <a:rPr lang="en-IN" sz="1200" kern="1200" dirty="0">
                <a:solidFill>
                  <a:schemeClr val="tx1"/>
                </a:solidFill>
                <a:latin typeface="+mn-lt"/>
                <a:ea typeface="+mn-ea"/>
                <a:cs typeface="+mn-cs"/>
              </a:rPr>
              <a:t>15.0</a:t>
            </a:r>
            <a:endParaRPr lang="en-IN" dirty="0"/>
          </a:p>
          <a:p>
            <a:r>
              <a:rPr lang="en-IN" b="1" dirty="0"/>
              <a:t>rolling_mean_6h</a:t>
            </a:r>
            <a:r>
              <a:rPr lang="en-IN" dirty="0"/>
              <a:t> — Average hourly departures over the past 6 hours.</a:t>
            </a:r>
            <a:br>
              <a:rPr lang="en-IN" dirty="0"/>
            </a:br>
            <a:r>
              <a:rPr lang="en-IN" b="1" dirty="0"/>
              <a:t>Example:</a:t>
            </a:r>
            <a:r>
              <a:rPr lang="en-IN" dirty="0"/>
              <a:t> </a:t>
            </a:r>
            <a:r>
              <a:rPr lang="en-IN" sz="1200" kern="1200" dirty="0">
                <a:solidFill>
                  <a:schemeClr val="tx1"/>
                </a:solidFill>
                <a:latin typeface="+mn-lt"/>
                <a:ea typeface="+mn-ea"/>
                <a:cs typeface="+mn-cs"/>
              </a:rPr>
              <a:t>12.5</a:t>
            </a:r>
            <a:endParaRPr lang="en-IN" dirty="0"/>
          </a:p>
          <a:p>
            <a:r>
              <a:rPr lang="en-IN" b="1" dirty="0"/>
              <a:t>rolling_mean_12h</a:t>
            </a:r>
            <a:r>
              <a:rPr lang="en-IN" dirty="0"/>
              <a:t> — Average hourly departures over the past 12 hours.</a:t>
            </a:r>
            <a:br>
              <a:rPr lang="en-IN" dirty="0"/>
            </a:br>
            <a:r>
              <a:rPr lang="en-IN" b="1" dirty="0"/>
              <a:t>Example:</a:t>
            </a:r>
            <a:r>
              <a:rPr lang="en-IN" dirty="0"/>
              <a:t> </a:t>
            </a:r>
            <a:r>
              <a:rPr lang="en-IN" sz="1200" kern="1200" dirty="0">
                <a:solidFill>
                  <a:schemeClr val="tx1"/>
                </a:solidFill>
                <a:latin typeface="+mn-lt"/>
                <a:ea typeface="+mn-ea"/>
                <a:cs typeface="+mn-cs"/>
              </a:rPr>
              <a:t>10.2</a:t>
            </a:r>
            <a:endParaRPr lang="en-IN" dirty="0"/>
          </a:p>
          <a:p>
            <a:r>
              <a:rPr lang="en-IN" b="1" dirty="0"/>
              <a:t>rolling_mean_24h</a:t>
            </a:r>
            <a:r>
              <a:rPr lang="en-IN" dirty="0"/>
              <a:t> — Average hourly departures over the past 24 hours (full-day baseline).</a:t>
            </a:r>
            <a:br>
              <a:rPr lang="en-IN" dirty="0"/>
            </a:br>
            <a:r>
              <a:rPr lang="en-IN" b="1" dirty="0"/>
              <a:t>Example:</a:t>
            </a:r>
            <a:r>
              <a:rPr lang="en-IN" dirty="0"/>
              <a:t> </a:t>
            </a:r>
            <a:r>
              <a:rPr lang="en-IN" sz="1200" kern="1200" dirty="0">
                <a:solidFill>
                  <a:schemeClr val="tx1"/>
                </a:solidFill>
                <a:latin typeface="+mn-lt"/>
                <a:ea typeface="+mn-ea"/>
                <a:cs typeface="+mn-cs"/>
              </a:rPr>
              <a:t>11.8</a:t>
            </a:r>
            <a:endParaRPr lang="en-IN" dirty="0"/>
          </a:p>
          <a:p>
            <a:r>
              <a:rPr lang="en-IN" b="1" dirty="0"/>
              <a:t>rolling_mean_168h</a:t>
            </a:r>
            <a:r>
              <a:rPr lang="en-IN" dirty="0"/>
              <a:t> — Average hourly departures over the past 7 days (full-week baseline).</a:t>
            </a:r>
            <a:br>
              <a:rPr lang="en-IN" dirty="0"/>
            </a:br>
            <a:r>
              <a:rPr lang="en-IN" b="1" dirty="0"/>
              <a:t>Example:</a:t>
            </a:r>
            <a:r>
              <a:rPr lang="en-IN" dirty="0"/>
              <a:t> </a:t>
            </a:r>
            <a:r>
              <a:rPr lang="en-IN" sz="1200" kern="1200" dirty="0">
                <a:solidFill>
                  <a:schemeClr val="tx1"/>
                </a:solidFill>
                <a:latin typeface="+mn-lt"/>
                <a:ea typeface="+mn-ea"/>
                <a:cs typeface="+mn-cs"/>
              </a:rPr>
              <a:t>13.4</a:t>
            </a:r>
            <a:endParaRPr lang="en-IN" dirty="0"/>
          </a:p>
          <a:p>
            <a:r>
              <a:rPr lang="en-IN" b="1" dirty="0"/>
              <a:t>rolling_max_24h</a:t>
            </a:r>
            <a:r>
              <a:rPr lang="en-IN" dirty="0"/>
              <a:t> — Highest single-hour departures recorded at this station in the last 24 hours.</a:t>
            </a:r>
            <a:br>
              <a:rPr lang="en-IN" dirty="0"/>
            </a:br>
            <a:r>
              <a:rPr lang="en-IN" b="1" dirty="0"/>
              <a:t>Example:</a:t>
            </a:r>
            <a:r>
              <a:rPr lang="en-IN" dirty="0"/>
              <a:t> </a:t>
            </a:r>
            <a:r>
              <a:rPr lang="en-IN" sz="1200" kern="1200" dirty="0">
                <a:solidFill>
                  <a:schemeClr val="tx1"/>
                </a:solidFill>
                <a:latin typeface="+mn-lt"/>
                <a:ea typeface="+mn-ea"/>
                <a:cs typeface="+mn-cs"/>
              </a:rPr>
              <a:t>28</a:t>
            </a:r>
            <a:endParaRPr lang="en-IN" dirty="0"/>
          </a:p>
          <a:p>
            <a:r>
              <a:rPr lang="en-IN" b="1" dirty="0"/>
              <a:t>rolling_max_168h</a:t>
            </a:r>
            <a:r>
              <a:rPr lang="en-IN" dirty="0"/>
              <a:t> — Highest single-hour departures recorded at this station in the last 7 days.</a:t>
            </a:r>
            <a:br>
              <a:rPr lang="en-IN" dirty="0"/>
            </a:br>
            <a:r>
              <a:rPr lang="en-IN" b="1" dirty="0"/>
              <a:t>Example:</a:t>
            </a:r>
            <a:r>
              <a:rPr lang="en-IN" dirty="0"/>
              <a:t> </a:t>
            </a:r>
            <a:r>
              <a:rPr lang="en-IN" sz="1200" kern="1200" dirty="0">
                <a:solidFill>
                  <a:schemeClr val="tx1"/>
                </a:solidFill>
                <a:latin typeface="+mn-lt"/>
                <a:ea typeface="+mn-ea"/>
                <a:cs typeface="+mn-cs"/>
              </a:rPr>
              <a:t>35</a:t>
            </a:r>
            <a:endParaRPr lang="en-IN" dirty="0"/>
          </a:p>
          <a:p>
            <a:r>
              <a:rPr lang="en-IN" b="1" dirty="0"/>
              <a:t>rolling_min_24h</a:t>
            </a:r>
            <a:r>
              <a:rPr lang="en-IN" dirty="0"/>
              <a:t> — Lowest departures recorded in the last 24 hours.</a:t>
            </a:r>
            <a:br>
              <a:rPr lang="en-IN" dirty="0"/>
            </a:br>
            <a:r>
              <a:rPr lang="en-IN" b="1" dirty="0"/>
              <a:t>Example:</a:t>
            </a:r>
            <a:r>
              <a:rPr lang="en-IN" dirty="0"/>
              <a:t> </a:t>
            </a:r>
            <a:r>
              <a:rPr lang="en-IN" sz="1200" kern="1200" dirty="0">
                <a:solidFill>
                  <a:schemeClr val="tx1"/>
                </a:solidFill>
                <a:latin typeface="+mn-lt"/>
                <a:ea typeface="+mn-ea"/>
                <a:cs typeface="+mn-cs"/>
              </a:rPr>
              <a:t>2</a:t>
            </a:r>
            <a:endParaRPr lang="en-IN" dirty="0"/>
          </a:p>
          <a:p>
            <a:r>
              <a:rPr lang="en-IN" b="1" dirty="0"/>
              <a:t>rolling_min_168h</a:t>
            </a:r>
            <a:r>
              <a:rPr lang="en-IN" dirty="0"/>
              <a:t> — Lowest departures recorded in the last 7 days.</a:t>
            </a:r>
            <a:br>
              <a:rPr lang="en-IN" dirty="0"/>
            </a:br>
            <a:r>
              <a:rPr lang="en-IN" b="1" dirty="0"/>
              <a:t>Example:</a:t>
            </a:r>
            <a:r>
              <a:rPr lang="en-IN" dirty="0"/>
              <a:t> </a:t>
            </a:r>
            <a:r>
              <a:rPr lang="en-IN" sz="1200" kern="1200" dirty="0">
                <a:solidFill>
                  <a:schemeClr val="tx1"/>
                </a:solidFill>
                <a:latin typeface="+mn-lt"/>
                <a:ea typeface="+mn-ea"/>
                <a:cs typeface="+mn-cs"/>
              </a:rPr>
              <a:t>1</a:t>
            </a:r>
            <a:endParaRPr lang="en-IN" dirty="0"/>
          </a:p>
          <a:p>
            <a:r>
              <a:rPr lang="en-IN" b="1" dirty="0"/>
              <a:t>rolling_std_24h</a:t>
            </a:r>
            <a:r>
              <a:rPr lang="en-IN" dirty="0"/>
              <a:t> — Variation or spread in departures over the last 24 hours (shows volatility).</a:t>
            </a:r>
            <a:br>
              <a:rPr lang="en-IN" dirty="0"/>
            </a:br>
            <a:r>
              <a:rPr lang="en-IN" b="1" dirty="0"/>
              <a:t>Example:</a:t>
            </a:r>
            <a:r>
              <a:rPr lang="en-IN" dirty="0"/>
              <a:t> </a:t>
            </a:r>
            <a:r>
              <a:rPr lang="en-IN" sz="1200" kern="1200" dirty="0">
                <a:solidFill>
                  <a:schemeClr val="tx1"/>
                </a:solidFill>
                <a:latin typeface="+mn-lt"/>
                <a:ea typeface="+mn-ea"/>
                <a:cs typeface="+mn-cs"/>
              </a:rPr>
              <a:t>6.3</a:t>
            </a:r>
            <a:endParaRPr lang="en-IN" dirty="0"/>
          </a:p>
          <a:p>
            <a:r>
              <a:rPr lang="en-IN" b="1" dirty="0"/>
              <a:t>rolling_std_168h</a:t>
            </a:r>
            <a:r>
              <a:rPr lang="en-IN" dirty="0"/>
              <a:t> — Variation or spread in departures over the last 7 days.</a:t>
            </a:r>
            <a:br>
              <a:rPr lang="en-IN" dirty="0"/>
            </a:br>
            <a:r>
              <a:rPr lang="en-IN" b="1" dirty="0"/>
              <a:t>Example:</a:t>
            </a:r>
            <a:r>
              <a:rPr lang="en-IN" dirty="0"/>
              <a:t> </a:t>
            </a:r>
            <a:r>
              <a:rPr lang="en-IN" sz="1200" kern="1200" dirty="0">
                <a:solidFill>
                  <a:schemeClr val="tx1"/>
                </a:solidFill>
                <a:latin typeface="+mn-lt"/>
                <a:ea typeface="+mn-ea"/>
                <a:cs typeface="+mn-cs"/>
              </a:rPr>
              <a:t>7.1</a:t>
            </a:r>
            <a:endParaRPr lang="en-IN" dirty="0"/>
          </a:p>
          <a:p>
            <a:r>
              <a:rPr lang="en-IN" b="1" dirty="0"/>
              <a:t>rolling_median_24h</a:t>
            </a:r>
            <a:r>
              <a:rPr lang="en-IN" dirty="0"/>
              <a:t> — Middle departure value over the past 24 hours.</a:t>
            </a:r>
            <a:br>
              <a:rPr lang="en-IN" dirty="0"/>
            </a:br>
            <a:r>
              <a:rPr lang="en-IN" b="1" dirty="0"/>
              <a:t>Example:</a:t>
            </a:r>
            <a:r>
              <a:rPr lang="en-IN" dirty="0"/>
              <a:t> </a:t>
            </a:r>
            <a:r>
              <a:rPr lang="en-IN" sz="1200" kern="1200" dirty="0">
                <a:solidFill>
                  <a:schemeClr val="tx1"/>
                </a:solidFill>
                <a:latin typeface="+mn-lt"/>
                <a:ea typeface="+mn-ea"/>
                <a:cs typeface="+mn-cs"/>
              </a:rPr>
              <a:t>10</a:t>
            </a:r>
            <a:endParaRPr lang="en-IN" dirty="0"/>
          </a:p>
          <a:p>
            <a:r>
              <a:rPr lang="en-IN" b="1" dirty="0" err="1"/>
              <a:t>historical_demand</a:t>
            </a:r>
            <a:r>
              <a:rPr lang="en-IN" dirty="0"/>
              <a:t> </a:t>
            </a:r>
            <a:r>
              <a:rPr lang="en-IN" i="1" dirty="0"/>
              <a:t>(Removed in audit)</a:t>
            </a:r>
            <a:r>
              <a:rPr lang="en-IN" dirty="0"/>
              <a:t> — Overall station average across the entire dataset.</a:t>
            </a:r>
            <a:br>
              <a:rPr lang="en-IN" dirty="0"/>
            </a:br>
            <a:r>
              <a:rPr lang="en-IN" b="1" dirty="0"/>
              <a:t>Example:</a:t>
            </a:r>
            <a:r>
              <a:rPr lang="en-IN" dirty="0"/>
              <a:t> </a:t>
            </a:r>
            <a:r>
              <a:rPr lang="en-IN" sz="1200" kern="1200" dirty="0">
                <a:solidFill>
                  <a:schemeClr val="tx1"/>
                </a:solidFill>
                <a:latin typeface="+mn-lt"/>
                <a:ea typeface="+mn-ea"/>
                <a:cs typeface="+mn-cs"/>
              </a:rPr>
              <a:t>14.6</a:t>
            </a:r>
            <a:r>
              <a:rPr lang="en-IN" dirty="0"/>
              <a:t> </a:t>
            </a:r>
            <a:r>
              <a:rPr lang="en-IN" i="1" dirty="0"/>
              <a:t>(candidate value before removal)</a:t>
            </a:r>
            <a:endParaRPr lang="en-IN" dirty="0"/>
          </a:p>
          <a:p>
            <a:r>
              <a:rPr lang="en-IN" b="1" dirty="0" err="1"/>
              <a:t>historical_max_demand</a:t>
            </a:r>
            <a:r>
              <a:rPr lang="en-IN" dirty="0"/>
              <a:t> </a:t>
            </a:r>
            <a:r>
              <a:rPr lang="en-IN" i="1" dirty="0"/>
              <a:t>(Removed in audit)</a:t>
            </a:r>
            <a:r>
              <a:rPr lang="en-IN" dirty="0"/>
              <a:t> — Maximum demand across the entire dataset.</a:t>
            </a:r>
            <a:br>
              <a:rPr lang="en-IN" dirty="0"/>
            </a:br>
            <a:r>
              <a:rPr lang="en-IN" b="1" dirty="0"/>
              <a:t>Example:</a:t>
            </a:r>
            <a:r>
              <a:rPr lang="en-IN" dirty="0"/>
              <a:t> </a:t>
            </a:r>
            <a:r>
              <a:rPr lang="en-IN" sz="1200" kern="1200" dirty="0">
                <a:solidFill>
                  <a:schemeClr val="tx1"/>
                </a:solidFill>
                <a:latin typeface="+mn-lt"/>
                <a:ea typeface="+mn-ea"/>
                <a:cs typeface="+mn-cs"/>
              </a:rPr>
              <a:t>42</a:t>
            </a:r>
            <a:r>
              <a:rPr lang="en-IN" dirty="0"/>
              <a:t> </a:t>
            </a:r>
            <a:r>
              <a:rPr lang="en-IN" i="1" dirty="0"/>
              <a:t>(candidate value before removal)</a:t>
            </a:r>
            <a:endParaRPr lang="en-IN" dirty="0"/>
          </a:p>
          <a:p>
            <a:r>
              <a:rPr lang="en-IN" b="1" dirty="0" err="1"/>
              <a:t>historical_min_demand</a:t>
            </a:r>
            <a:r>
              <a:rPr lang="en-IN" dirty="0"/>
              <a:t> </a:t>
            </a:r>
            <a:r>
              <a:rPr lang="en-IN" i="1" dirty="0"/>
              <a:t>(Removed in audit)</a:t>
            </a:r>
            <a:r>
              <a:rPr lang="en-IN" dirty="0"/>
              <a:t> — Minimum demand across the entire dataset.</a:t>
            </a:r>
            <a:br>
              <a:rPr lang="en-IN" dirty="0"/>
            </a:br>
            <a:r>
              <a:rPr lang="en-IN" b="1" dirty="0"/>
              <a:t>Example:</a:t>
            </a:r>
            <a:r>
              <a:rPr lang="en-IN" dirty="0"/>
              <a:t> </a:t>
            </a:r>
            <a:r>
              <a:rPr lang="en-IN" sz="1200" kern="1200" dirty="0">
                <a:solidFill>
                  <a:schemeClr val="tx1"/>
                </a:solidFill>
                <a:latin typeface="+mn-lt"/>
                <a:ea typeface="+mn-ea"/>
                <a:cs typeface="+mn-cs"/>
              </a:rPr>
              <a:t>0</a:t>
            </a:r>
            <a:r>
              <a:rPr lang="en-IN" dirty="0"/>
              <a:t> </a:t>
            </a:r>
            <a:r>
              <a:rPr lang="en-IN" i="1" dirty="0"/>
              <a:t>(candidate value before removal)</a:t>
            </a:r>
            <a:endParaRPr lang="en-IN" dirty="0"/>
          </a:p>
          <a:p>
            <a:r>
              <a:rPr lang="en-IN" b="1" dirty="0" err="1"/>
              <a:t>station_hour_historical_mean</a:t>
            </a:r>
            <a:r>
              <a:rPr lang="en-IN" dirty="0"/>
              <a:t> </a:t>
            </a:r>
            <a:r>
              <a:rPr lang="en-IN" i="1" dirty="0"/>
              <a:t>(Removed in audit)</a:t>
            </a:r>
            <a:r>
              <a:rPr lang="en-IN" dirty="0"/>
              <a:t> — Average demand for that station and hour over 2 full years.</a:t>
            </a:r>
            <a:br>
              <a:rPr lang="en-IN" dirty="0"/>
            </a:br>
            <a:r>
              <a:rPr lang="en-IN" b="1" dirty="0"/>
              <a:t>Example:</a:t>
            </a:r>
            <a:r>
              <a:rPr lang="en-IN" dirty="0"/>
              <a:t> </a:t>
            </a:r>
            <a:r>
              <a:rPr lang="en-IN" sz="1200" kern="1200" dirty="0">
                <a:solidFill>
                  <a:schemeClr val="tx1"/>
                </a:solidFill>
                <a:latin typeface="+mn-lt"/>
                <a:ea typeface="+mn-ea"/>
                <a:cs typeface="+mn-cs"/>
              </a:rPr>
              <a:t>17.2</a:t>
            </a:r>
            <a:r>
              <a:rPr lang="en-IN" dirty="0"/>
              <a:t> </a:t>
            </a:r>
            <a:r>
              <a:rPr lang="en-IN" i="1" dirty="0"/>
              <a:t>(candidate value before removal)</a:t>
            </a:r>
            <a:endParaRPr lang="en-IN" dirty="0"/>
          </a:p>
          <a:p>
            <a:r>
              <a:rPr lang="en-IN" b="1" dirty="0" err="1"/>
              <a:t>station_weekday_hour_mean</a:t>
            </a:r>
            <a:r>
              <a:rPr lang="en-IN" dirty="0"/>
              <a:t> </a:t>
            </a:r>
            <a:r>
              <a:rPr lang="en-IN" i="1" dirty="0"/>
              <a:t>(Removed in audit)</a:t>
            </a:r>
            <a:r>
              <a:rPr lang="en-IN" dirty="0"/>
              <a:t> — Average demand for that station, weekday, and hour over 2 full years.</a:t>
            </a:r>
            <a:br>
              <a:rPr lang="en-IN" dirty="0"/>
            </a:br>
            <a:r>
              <a:rPr lang="en-IN" b="1" dirty="0"/>
              <a:t>Example:</a:t>
            </a:r>
            <a:r>
              <a:rPr lang="en-IN" dirty="0"/>
              <a:t> </a:t>
            </a:r>
            <a:r>
              <a:rPr lang="en-IN" sz="1200" kern="1200" dirty="0">
                <a:solidFill>
                  <a:schemeClr val="tx1"/>
                </a:solidFill>
                <a:latin typeface="+mn-lt"/>
                <a:ea typeface="+mn-ea"/>
                <a:cs typeface="+mn-cs"/>
              </a:rPr>
              <a:t>19.5</a:t>
            </a:r>
            <a:r>
              <a:rPr lang="en-IN" dirty="0"/>
              <a:t> </a:t>
            </a:r>
            <a:r>
              <a:rPr lang="en-IN" i="1" dirty="0"/>
              <a:t>(candidate value before removal)</a:t>
            </a:r>
            <a:endParaRPr lang="en-IN" dirty="0"/>
          </a:p>
          <a:p>
            <a:r>
              <a:rPr lang="en-IN" b="1" dirty="0"/>
              <a:t>lag_1h_ratio_24h</a:t>
            </a:r>
            <a:r>
              <a:rPr lang="en-IN" dirty="0"/>
              <a:t> — Ratio showing if the last hour is running busier than the 24-hour daily average.</a:t>
            </a:r>
            <a:br>
              <a:rPr lang="en-IN" dirty="0"/>
            </a:br>
            <a:r>
              <a:rPr lang="en-IN" b="1" dirty="0"/>
              <a:t>Example:</a:t>
            </a:r>
            <a:r>
              <a:rPr lang="en-IN" dirty="0"/>
              <a:t> </a:t>
            </a:r>
            <a:r>
              <a:rPr lang="en-IN" sz="1200" kern="1200" dirty="0">
                <a:solidFill>
                  <a:schemeClr val="tx1"/>
                </a:solidFill>
                <a:latin typeface="+mn-lt"/>
                <a:ea typeface="+mn-ea"/>
                <a:cs typeface="+mn-cs"/>
              </a:rPr>
              <a:t>1.53</a:t>
            </a:r>
            <a:br>
              <a:rPr lang="en-IN" dirty="0"/>
            </a:br>
            <a:r>
              <a:rPr lang="en-IN" i="1" dirty="0"/>
              <a:t>(18 ÷ 11.8 ≈ 1.53)</a:t>
            </a:r>
            <a:endParaRPr lang="en-IN" dirty="0"/>
          </a:p>
          <a:p>
            <a:r>
              <a:rPr lang="en-IN" b="1" dirty="0"/>
              <a:t>lag_24h_ratio_week</a:t>
            </a:r>
            <a:r>
              <a:rPr lang="en-IN" dirty="0"/>
              <a:t> — Ratio comparing yesterday's demand to the 7-day weekly average.</a:t>
            </a:r>
            <a:br>
              <a:rPr lang="en-IN" dirty="0"/>
            </a:br>
            <a:r>
              <a:rPr lang="en-IN" b="1" dirty="0"/>
              <a:t>Example:</a:t>
            </a:r>
            <a:r>
              <a:rPr lang="en-IN" dirty="0"/>
              <a:t> </a:t>
            </a:r>
            <a:r>
              <a:rPr lang="en-IN" sz="1200" kern="1200" dirty="0">
                <a:solidFill>
                  <a:schemeClr val="tx1"/>
                </a:solidFill>
                <a:latin typeface="+mn-lt"/>
                <a:ea typeface="+mn-ea"/>
                <a:cs typeface="+mn-cs"/>
              </a:rPr>
              <a:t>1.57</a:t>
            </a:r>
            <a:br>
              <a:rPr lang="en-IN" dirty="0"/>
            </a:br>
            <a:r>
              <a:rPr lang="en-IN" i="1" dirty="0"/>
              <a:t>(21 ÷ 13.4 ≈ 1.57)</a:t>
            </a:r>
            <a:endParaRPr lang="en-IN" dirty="0"/>
          </a:p>
          <a:p>
            <a:r>
              <a:rPr lang="en-IN" b="1" dirty="0"/>
              <a:t>rolling_ratio_24h_168h</a:t>
            </a:r>
            <a:r>
              <a:rPr lang="en-IN" dirty="0"/>
              <a:t> — Ratio comparing the 24-hour daily average to the 7-day weekly average.</a:t>
            </a:r>
            <a:br>
              <a:rPr lang="en-IN" dirty="0"/>
            </a:br>
            <a:r>
              <a:rPr lang="en-IN" b="1" dirty="0"/>
              <a:t>Example:</a:t>
            </a:r>
            <a:r>
              <a:rPr lang="en-IN" dirty="0"/>
              <a:t> </a:t>
            </a:r>
            <a:r>
              <a:rPr lang="en-IN" sz="1200" kern="1200" dirty="0">
                <a:solidFill>
                  <a:schemeClr val="tx1"/>
                </a:solidFill>
                <a:latin typeface="+mn-lt"/>
                <a:ea typeface="+mn-ea"/>
                <a:cs typeface="+mn-cs"/>
              </a:rPr>
              <a:t>0.88</a:t>
            </a:r>
            <a:endParaRPr lang="en-IN" dirty="0"/>
          </a:p>
          <a:p>
            <a:endParaRPr lang="en-IN"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presents Stage 5: our Feature Leakage Audit.</a:t>
            </a:r>
          </a:p>
          <a:p>
            <a:r>
              <a:t>Data leakage happens when a feature accidentally uses information that would not be available in real life at prediction time. If uncorrected, the model achieves artificial 99% accuracy in training but fails completely in deployment.</a:t>
            </a:r>
          </a:p>
          <a:p>
            <a:r>
              <a:t>We audited all 62 features and removed 8 non-causal features:</a:t>
            </a:r>
          </a:p>
          <a:p>
            <a:r>
              <a:t>• 1. Removed 3 Demand Deltas: Features like demand_change_1h used the formula (current_demand - lag_1h). But when predicting at 8:00 AM, current demand is the target answer we are trying to predict! Using it was cheating.</a:t>
            </a:r>
          </a:p>
          <a:p>
            <a:r>
              <a:t>• 2. Removed 5 Global Averages: Features like historical_mean averaged demand over the entire two-year dataset (2013 to 2015). That meant 2013 records were using future numbers from 2015!</a:t>
            </a:r>
          </a:p>
          <a:p>
            <a:r>
              <a:t>• Strict Lags Verified: We confirmed that lag_1h, lag_24h, and lag_168h look strictly backwards in time.</a:t>
            </a:r>
          </a:p>
          <a:p>
            <a:r>
              <a:t>• Stage 5 Summary: 62 candidate features minus 8 removed equals 54 final features. All 54 features strictly use information available prior to the prediction timestamp.</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explains Stage 6: our Chronological Data Partitioning strategy.</a:t>
            </a:r>
          </a:p>
          <a:p>
            <a:r>
              <a:t>• Why No Random Shuffling?: In standard tabular machine learning, random train_test_split is common. In time-series forecasting, this is strictly forbidden! Random shuffling allows the model to use Wednesday to predict Tuesday, or June to predict May. It memorizes future answers to predict the past.</a:t>
            </a:r>
          </a:p>
          <a:p>
            <a:r>
              <a:t>• Strict Chronological Splits:</a:t>
            </a:r>
          </a:p>
          <a:p>
            <a:r>
              <a:t>1. Training Set (70%): 861,560 rows from Aug 29, 2013 to Jan 24, 2015. The model learns baseline traffic, rush hour dynamics, and station profiles across 17 full months.</a:t>
            </a:r>
          </a:p>
          <a:p>
            <a:r>
              <a:t>2. Validation Set (15%): 184,590 rows from Jan 24, 2015 to May 14, 2015. Used exclusively to tune hyperparameters like tree depth and learning rate without ever touching the test set.</a:t>
            </a:r>
          </a:p>
          <a:p>
            <a:r>
              <a:t>3. Test Set (15%): 184,660 rows from May 14, 2015 to Aug 31, 2015. Kept strictly locked until final evaluation to test true real-world generalization on unseen future months.</a:t>
            </a:r>
          </a:p>
          <a:p>
            <a:r>
              <a:t>• Stage 6 Summary: 54 causal features evaluated across Train (861k), Validation (184k), and Test (184k) rows.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11 details our Model Selection: how each of the three tree-based algorithms works.</a:t>
            </a:r>
          </a:p>
          <a:p>
            <a:r>
              <a:rPr dirty="0"/>
              <a:t>•Random Forest (Bagging):</a:t>
            </a:r>
          </a:p>
          <a:p>
            <a:r>
              <a:rPr dirty="0"/>
              <a:t>Random Forest builds hundreds of decision trees simultaneously in parallel. Each tree votes independently, and we take their average. For example, if Tree 1 predicts 14 trips, Tree 2 predicts 16, and Tree 3 predicts 15, the average prediction is 15 trips. Averaging independent trees reduces variance and handles noisy data well.</a:t>
            </a:r>
          </a:p>
          <a:p>
            <a:pPr lvl="0"/>
            <a:r>
              <a:rPr lang="en-IN" sz="1200" b="1" i="0" kern="1200" dirty="0" err="1">
                <a:solidFill>
                  <a:schemeClr val="tx1"/>
                </a:solidFill>
                <a:effectLst/>
                <a:latin typeface="+mn-lt"/>
                <a:ea typeface="+mn-ea"/>
                <a:cs typeface="+mn-cs"/>
              </a:rPr>
              <a:t>XGBoost</a:t>
            </a:r>
            <a:r>
              <a:rPr lang="en-IN" sz="1200" b="1" i="0" kern="1200" dirty="0">
                <a:solidFill>
                  <a:schemeClr val="tx1"/>
                </a:solidFill>
                <a:effectLst/>
                <a:latin typeface="+mn-lt"/>
                <a:ea typeface="+mn-ea"/>
                <a:cs typeface="+mn-cs"/>
              </a:rPr>
              <a:t>:</a:t>
            </a:r>
            <a:r>
              <a:rPr lang="en-IN" sz="1200" b="0" i="0" kern="1200" dirty="0">
                <a:solidFill>
                  <a:schemeClr val="tx1"/>
                </a:solidFill>
                <a:effectLst/>
                <a:latin typeface="+mn-lt"/>
                <a:ea typeface="+mn-ea"/>
                <a:cs typeface="+mn-cs"/>
              </a:rPr>
              <a:t> When calculating how big its mistake is, it checks against the </a:t>
            </a:r>
            <a:r>
              <a:rPr lang="en-IN" sz="1200" b="0" i="1" kern="1200" dirty="0">
                <a:solidFill>
                  <a:schemeClr val="tx1"/>
                </a:solidFill>
                <a:effectLst/>
                <a:latin typeface="+mn-lt"/>
                <a:ea typeface="+mn-ea"/>
                <a:cs typeface="+mn-cs"/>
              </a:rPr>
              <a:t>entire</a:t>
            </a:r>
            <a:r>
              <a:rPr lang="en-IN" sz="1200" b="0" i="0" kern="1200" dirty="0">
                <a:solidFill>
                  <a:schemeClr val="tx1"/>
                </a:solidFill>
                <a:effectLst/>
                <a:latin typeface="+mn-lt"/>
                <a:ea typeface="+mn-ea"/>
                <a:cs typeface="+mn-cs"/>
              </a:rPr>
              <a:t> dataset at once. Because the same data is seen over and over, it can sometimes become slightly overconfident or overfit repeating patterns.</a:t>
            </a:r>
          </a:p>
          <a:p>
            <a:pPr lvl="0"/>
            <a:r>
              <a:rPr lang="en-IN" sz="1200" b="1" i="0" kern="1200" dirty="0" err="1">
                <a:solidFill>
                  <a:schemeClr val="tx1"/>
                </a:solidFill>
                <a:effectLst/>
                <a:latin typeface="+mn-lt"/>
                <a:ea typeface="+mn-ea"/>
                <a:cs typeface="+mn-cs"/>
              </a:rPr>
              <a:t>CatBoost</a:t>
            </a:r>
            <a:r>
              <a:rPr lang="en-IN" sz="1200" b="1" i="0" kern="1200" dirty="0">
                <a:solidFill>
                  <a:schemeClr val="tx1"/>
                </a:solidFill>
                <a:effectLst/>
                <a:latin typeface="+mn-lt"/>
                <a:ea typeface="+mn-ea"/>
                <a:cs typeface="+mn-cs"/>
              </a:rPr>
              <a:t>:</a:t>
            </a:r>
            <a:r>
              <a:rPr lang="en-IN" sz="1200" b="0" i="0" kern="1200" dirty="0">
                <a:solidFill>
                  <a:schemeClr val="tx1"/>
                </a:solidFill>
                <a:effectLst/>
                <a:latin typeface="+mn-lt"/>
                <a:ea typeface="+mn-ea"/>
                <a:cs typeface="+mn-cs"/>
              </a:rPr>
              <a:t> It uses </a:t>
            </a:r>
            <a:r>
              <a:rPr lang="en-IN" sz="1200" b="1" i="0" kern="1200" dirty="0">
                <a:solidFill>
                  <a:schemeClr val="tx1"/>
                </a:solidFill>
                <a:effectLst/>
                <a:latin typeface="+mn-lt"/>
                <a:ea typeface="+mn-ea"/>
                <a:cs typeface="+mn-cs"/>
              </a:rPr>
              <a:t>Ordered Boosting</a:t>
            </a:r>
            <a:r>
              <a:rPr lang="en-IN" sz="1200" b="0" i="0" kern="1200" dirty="0">
                <a:solidFill>
                  <a:schemeClr val="tx1"/>
                </a:solidFill>
                <a:effectLst/>
                <a:latin typeface="+mn-lt"/>
                <a:ea typeface="+mn-ea"/>
                <a:cs typeface="+mn-cs"/>
              </a:rPr>
              <a:t>. It pretends the data arrived in a sequence. To calculate the error for a row, it only uses trees trained on </a:t>
            </a:r>
            <a:r>
              <a:rPr lang="en-IN" sz="1200" b="0" i="1" kern="1200" dirty="0">
                <a:solidFill>
                  <a:schemeClr val="tx1"/>
                </a:solidFill>
                <a:effectLst/>
                <a:latin typeface="+mn-lt"/>
                <a:ea typeface="+mn-ea"/>
                <a:cs typeface="+mn-cs"/>
              </a:rPr>
              <a:t>other</a:t>
            </a:r>
            <a:r>
              <a:rPr lang="en-IN" sz="1200" b="0" i="0" kern="1200" dirty="0">
                <a:solidFill>
                  <a:schemeClr val="tx1"/>
                </a:solidFill>
                <a:effectLst/>
                <a:latin typeface="+mn-lt"/>
                <a:ea typeface="+mn-ea"/>
                <a:cs typeface="+mn-cs"/>
              </a:rPr>
              <a:t> rows. This prevents the model from "peeking" at its own answers, resulting in less overfitting on repetitive tabular data.</a:t>
            </a:r>
          </a:p>
          <a:p>
            <a:endParaRPr lang="en-IN" dirty="0"/>
          </a:p>
          <a:p>
            <a:endParaRPr lang="en-IN" dirty="0"/>
          </a:p>
          <a:p>
            <a:r>
              <a:rPr lang="en-IN" sz="1200" b="0" i="1" kern="1200" dirty="0">
                <a:solidFill>
                  <a:schemeClr val="tx1"/>
                </a:solidFill>
                <a:effectLst/>
                <a:latin typeface="+mn-lt"/>
                <a:ea typeface="+mn-ea"/>
                <a:cs typeface="+mn-cs"/>
              </a:rPr>
              <a:t>We used </a:t>
            </a:r>
            <a:r>
              <a:rPr lang="en-IN" sz="1200" b="1" i="1" kern="1200" dirty="0">
                <a:solidFill>
                  <a:schemeClr val="tx1"/>
                </a:solidFill>
                <a:effectLst/>
                <a:latin typeface="+mn-lt"/>
                <a:ea typeface="+mn-ea"/>
                <a:cs typeface="+mn-cs"/>
              </a:rPr>
              <a:t>200 trees for Random Forest</a:t>
            </a:r>
            <a:r>
              <a:rPr lang="en-IN" sz="1200" b="0" i="1" kern="1200" dirty="0">
                <a:solidFill>
                  <a:schemeClr val="tx1"/>
                </a:solidFill>
                <a:effectLst/>
                <a:latin typeface="+mn-lt"/>
                <a:ea typeface="+mn-ea"/>
                <a:cs typeface="+mn-cs"/>
              </a:rPr>
              <a:t> and </a:t>
            </a:r>
            <a:r>
              <a:rPr lang="en-IN" sz="1200" b="1" i="1" kern="1200" dirty="0">
                <a:solidFill>
                  <a:schemeClr val="tx1"/>
                </a:solidFill>
                <a:effectLst/>
                <a:latin typeface="+mn-lt"/>
                <a:ea typeface="+mn-ea"/>
                <a:cs typeface="+mn-cs"/>
              </a:rPr>
              <a:t>600 trees for </a:t>
            </a:r>
            <a:r>
              <a:rPr lang="en-IN" sz="1200" b="1" i="1" kern="1200" dirty="0" err="1">
                <a:solidFill>
                  <a:schemeClr val="tx1"/>
                </a:solidFill>
                <a:effectLst/>
                <a:latin typeface="+mn-lt"/>
                <a:ea typeface="+mn-ea"/>
                <a:cs typeface="+mn-cs"/>
              </a:rPr>
              <a:t>XGBoost</a:t>
            </a:r>
            <a:r>
              <a:rPr lang="en-IN" sz="1200" b="1" i="1" kern="1200" dirty="0">
                <a:solidFill>
                  <a:schemeClr val="tx1"/>
                </a:solidFill>
                <a:effectLst/>
                <a:latin typeface="+mn-lt"/>
                <a:ea typeface="+mn-ea"/>
                <a:cs typeface="+mn-cs"/>
              </a:rPr>
              <a:t> and </a:t>
            </a:r>
            <a:r>
              <a:rPr lang="en-IN" sz="1200" b="1" i="1" kern="1200" dirty="0" err="1">
                <a:solidFill>
                  <a:schemeClr val="tx1"/>
                </a:solidFill>
                <a:effectLst/>
                <a:latin typeface="+mn-lt"/>
                <a:ea typeface="+mn-ea"/>
                <a:cs typeface="+mn-cs"/>
              </a:rPr>
              <a:t>CatBoost</a:t>
            </a:r>
            <a:r>
              <a:rPr lang="en-IN" sz="1200" b="0" i="1" kern="1200" dirty="0">
                <a:solidFill>
                  <a:schemeClr val="tx1"/>
                </a:solidFill>
                <a:effectLst/>
                <a:latin typeface="+mn-lt"/>
                <a:ea typeface="+mn-ea"/>
                <a:cs typeface="+mn-cs"/>
              </a:rPr>
              <a:t>. We selected these counts by evaluating error curves on our 15% validation dataset, picking the point where validation error was lowest without increasing training time or causing overfitting.</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12 presents our final Model Results evaluated on 184,660 completely unseen test rows.</a:t>
            </a:r>
          </a:p>
          <a:p>
            <a:r>
              <a:rPr dirty="0"/>
              <a:t>• Performance Table:</a:t>
            </a:r>
          </a:p>
          <a:p>
            <a:r>
              <a:rPr dirty="0"/>
              <a:t>- Random Forest: Test MAE = 0.439206 | RMSE = 0.908465 | R² = 0.731390</a:t>
            </a:r>
          </a:p>
          <a:p>
            <a:r>
              <a:rPr dirty="0"/>
              <a:t>- </a:t>
            </a:r>
            <a:r>
              <a:rPr dirty="0" err="1"/>
              <a:t>XGBoost</a:t>
            </a:r>
            <a:r>
              <a:rPr dirty="0"/>
              <a:t>: Test MAE = 0.430550 | RMSE = 0.898213 | R² = 0.737418</a:t>
            </a:r>
          </a:p>
          <a:p>
            <a:r>
              <a:rPr dirty="0"/>
              <a:t>- </a:t>
            </a:r>
            <a:r>
              <a:rPr dirty="0" err="1"/>
              <a:t>CatBoost</a:t>
            </a:r>
            <a:r>
              <a:rPr dirty="0"/>
              <a:t>: Test MAE = 0.436126 | RMSE = 0.897665 | R² = 0.737738</a:t>
            </a:r>
          </a:p>
          <a:p>
            <a:r>
              <a:rPr dirty="0"/>
              <a:t>• Detailed Analysis by Card:</a:t>
            </a:r>
          </a:p>
          <a:p>
            <a:r>
              <a:rPr dirty="0"/>
              <a:t>1. Random Forest: Delivers solid baseline performance, explaining about 73.1% of demand variation. It confirms that bagging decision trees creates a reliable, stable baseline on tabular time features.</a:t>
            </a:r>
          </a:p>
          <a:p>
            <a:r>
              <a:rPr dirty="0"/>
              <a:t>2. </a:t>
            </a:r>
            <a:r>
              <a:rPr dirty="0" err="1"/>
              <a:t>XGBoost</a:t>
            </a:r>
            <a:r>
              <a:rPr dirty="0"/>
              <a:t>: Achieved the lowest MAE (0.430550) among all three models. This means it has the lowest average absolute error on hourly trip predictions.</a:t>
            </a:r>
          </a:p>
          <a:p>
            <a:r>
              <a:rPr dirty="0"/>
              <a:t>3. </a:t>
            </a:r>
            <a:r>
              <a:rPr dirty="0" err="1"/>
              <a:t>CatBoost</a:t>
            </a:r>
            <a:r>
              <a:rPr dirty="0"/>
              <a:t>: Achieved the lowest RMSE (0.897665) and highest R² (0.737738). Lower RMSE means better performance when penalizing large surge mistakes.</a:t>
            </a:r>
          </a:p>
          <a:p>
            <a:r>
              <a:rPr dirty="0"/>
              <a:t>• Metric Interpretation: MAE of ~0.43 means our forecast is off by less than half a bike per station-hour on average. R² of ~0.74 means the models explain nearly 74% of the total variation in demand on unseen future data.</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13 examines Feature Importance: what influenced the predictions across all models.</a:t>
            </a:r>
          </a:p>
          <a:p>
            <a:r>
              <a:rPr dirty="0"/>
              <a:t>• Top 5 Features Across All Models:</a:t>
            </a:r>
          </a:p>
          <a:p>
            <a:r>
              <a:rPr dirty="0"/>
              <a:t>1. </a:t>
            </a:r>
            <a:r>
              <a:rPr dirty="0" err="1"/>
              <a:t>same_hour_previous_week</a:t>
            </a:r>
            <a:r>
              <a:rPr dirty="0"/>
              <a:t>: Demand at this exact station 7 days ago at the same hour was the single most powerful predictor.</a:t>
            </a:r>
          </a:p>
          <a:p>
            <a:r>
              <a:rPr dirty="0"/>
              <a:t>2. lag_168h: Demand 168 hours ago, reinforcing identical weekly commuter travel habits.</a:t>
            </a:r>
          </a:p>
          <a:p>
            <a:r>
              <a:rPr dirty="0"/>
              <a:t>3. </a:t>
            </a:r>
            <a:r>
              <a:rPr dirty="0" err="1"/>
              <a:t>peak_hour</a:t>
            </a:r>
            <a:r>
              <a:rPr dirty="0"/>
              <a:t>: Morning rush (7 to 9 AM) and evening rush (4 to 7 PM) binary flags.</a:t>
            </a:r>
          </a:p>
          <a:p>
            <a:r>
              <a:rPr dirty="0"/>
              <a:t>4. lag_1h: Departures in the immediately preceding hour, capturing real-time station momentum.</a:t>
            </a:r>
          </a:p>
          <a:p>
            <a:r>
              <a:rPr dirty="0"/>
              <a:t>5. lag_24h / </a:t>
            </a:r>
            <a:r>
              <a:rPr dirty="0" err="1"/>
              <a:t>same_hour_prev_day</a:t>
            </a:r>
            <a:r>
              <a:rPr dirty="0"/>
              <a:t>: Demand yesterday at the same hour.</a:t>
            </a:r>
          </a:p>
          <a:p>
            <a:r>
              <a:rPr dirty="0"/>
              <a:t>• Visual Insights:</a:t>
            </a:r>
            <a:endParaRPr lang="en-IN" dirty="0"/>
          </a:p>
          <a:p>
            <a:endParaRPr lang="en-IN" dirty="0"/>
          </a:p>
          <a:p>
            <a:r>
              <a:rPr lang="en-IN" dirty="0"/>
              <a:t>The graph shows the normalized importance of the top 15 features across the three models. </a:t>
            </a:r>
            <a:r>
              <a:rPr lang="en-IN" sz="1200" kern="1200" dirty="0">
                <a:solidFill>
                  <a:schemeClr val="tx1"/>
                </a:solidFill>
                <a:latin typeface="+mn-lt"/>
                <a:ea typeface="+mn-ea"/>
                <a:cs typeface="+mn-cs"/>
              </a:rPr>
              <a:t>lag_168h</a:t>
            </a:r>
            <a:r>
              <a:rPr lang="en-IN" dirty="0"/>
              <a:t> and </a:t>
            </a:r>
            <a:r>
              <a:rPr lang="en-IN" sz="1200" kern="1200" dirty="0" err="1">
                <a:solidFill>
                  <a:schemeClr val="tx1"/>
                </a:solidFill>
                <a:latin typeface="+mn-lt"/>
                <a:ea typeface="+mn-ea"/>
                <a:cs typeface="+mn-cs"/>
              </a:rPr>
              <a:t>same_hour_previous_week</a:t>
            </a:r>
            <a:r>
              <a:rPr lang="en-IN" dirty="0"/>
              <a:t> have high importance, showing that demand from the previous week is useful for prediction. </a:t>
            </a:r>
            <a:r>
              <a:rPr lang="en-IN" sz="1200" kern="1200" dirty="0" err="1">
                <a:solidFill>
                  <a:schemeClr val="tx1"/>
                </a:solidFill>
                <a:latin typeface="+mn-lt"/>
                <a:ea typeface="+mn-ea"/>
                <a:cs typeface="+mn-cs"/>
              </a:rPr>
              <a:t>peak_hour</a:t>
            </a:r>
            <a:r>
              <a:rPr lang="en-IN" dirty="0"/>
              <a:t> and </a:t>
            </a:r>
            <a:r>
              <a:rPr lang="en-IN" sz="1200" kern="1200" dirty="0">
                <a:solidFill>
                  <a:schemeClr val="tx1"/>
                </a:solidFill>
                <a:latin typeface="+mn-lt"/>
                <a:ea typeface="+mn-ea"/>
                <a:cs typeface="+mn-cs"/>
              </a:rPr>
              <a:t>lag_24h</a:t>
            </a:r>
            <a:r>
              <a:rPr lang="en-IN" dirty="0"/>
              <a:t> are also important. Overall, past demand and time-related features contribute strongly to the model predictions.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14 outlines our roadmap for the Next Phase of implementation:</a:t>
            </a:r>
          </a:p>
          <a:p>
            <a:r>
              <a:rPr dirty="0"/>
              <a:t>1. Build </a:t>
            </a:r>
            <a:r>
              <a:rPr dirty="0" err="1"/>
              <a:t>Streamlit</a:t>
            </a:r>
            <a:r>
              <a:rPr dirty="0"/>
              <a:t> UI: Develop an interactive, user-friendly web interface using Python </a:t>
            </a:r>
            <a:r>
              <a:rPr dirty="0" err="1"/>
              <a:t>Streamlit</a:t>
            </a:r>
            <a:r>
              <a:rPr dirty="0"/>
              <a:t>.</a:t>
            </a:r>
          </a:p>
          <a:p>
            <a:r>
              <a:rPr dirty="0"/>
              <a:t>2. Connect Trained Model: Load the serialized </a:t>
            </a:r>
            <a:r>
              <a:rPr dirty="0" err="1"/>
              <a:t>CatBoost</a:t>
            </a:r>
            <a:r>
              <a:rPr dirty="0"/>
              <a:t>/</a:t>
            </a:r>
            <a:r>
              <a:rPr dirty="0" err="1"/>
              <a:t>XGBoost</a:t>
            </a:r>
            <a:r>
              <a:rPr dirty="0"/>
              <a:t> model into the backend pipeline for instant inference.</a:t>
            </a:r>
          </a:p>
          <a:p>
            <a:r>
              <a:rPr dirty="0"/>
              <a:t>3. Station and Time Dropdowns: Allow transit managers to select any of the 70 stations, a target date, and an hour from simple dropdowns.</a:t>
            </a:r>
          </a:p>
          <a:p>
            <a:r>
              <a:rPr dirty="0"/>
              <a:t>4. Display Predicted Demand: Instantly display the forecasted number of bike checkouts for that station-hour.</a:t>
            </a:r>
          </a:p>
          <a:p>
            <a:r>
              <a:rPr dirty="0"/>
              <a:t>5. Interactive Visualizations: Show 24-hour historical curves and expected peak rush hour demand.</a:t>
            </a:r>
          </a:p>
          <a:p>
            <a:r>
              <a:rPr dirty="0"/>
              <a:t>6. Redistribution Support: Provide proactive rebalancing recommendations so transit operators can move bikes before shortages occur.</a:t>
            </a:r>
          </a:p>
          <a:p>
            <a:r>
              <a:rPr dirty="0"/>
              <a:t>7. End-to-End Testing: Perform comprehensive testing across edge cases, holidays, and high-traffic stations to ensure production reliability.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concludes our presentation.</a:t>
            </a:r>
          </a:p>
          <a:p>
            <a:r>
              <a:t>• Summary of Achievements:</a:t>
            </a:r>
          </a:p>
          <a:p>
            <a:r>
              <a:t>We successfully resolved the zero-demand problem by expanding 669k trips into a continuous 1.23 million row grid, engineered 54 strictly causal features with zero leakage, and proved that tree ensemble models explain approximately 74% of demand variation on unseen future test data.</a:t>
            </a:r>
          </a:p>
          <a:p>
            <a:r>
              <a:t>I would like to express my sincere gratitude to my project guide, Mr. Sibu Skaria, for his continuous guidance, and to the Department of Computer Applications.</a:t>
            </a:r>
          </a:p>
          <a:p>
            <a:r>
              <a:t>Thank you, respected panel members. I am now ready to take your questions and discussion.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914400" y="731520"/>
            <a:ext cx="10362895" cy="53949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188720"/>
            <a:ext cx="9448495" cy="2743200"/>
          </a:xfrm>
          <a:prstGeom prst="rect">
            <a:avLst/>
          </a:prstGeom>
          <a:noFill/>
        </p:spPr>
        <p:txBody>
          <a:bodyPr wrap="square">
            <a:spAutoFit/>
          </a:bodyPr>
          <a:lstStyle/>
          <a:p>
            <a:pPr>
              <a:spcAft>
                <a:spcPts val="1000"/>
              </a:spcAft>
              <a:defRPr sz="1200" b="1">
                <a:solidFill>
                  <a:srgbClr val="38BDF8"/>
                </a:solidFill>
                <a:latin typeface="Arial"/>
              </a:defRPr>
            </a:pPr>
            <a:r>
              <a:t>MCA MINI PROJECT PRESENTATION</a:t>
            </a:r>
          </a:p>
          <a:p>
            <a:pPr>
              <a:spcAft>
                <a:spcPts val="1000"/>
              </a:spcAft>
              <a:defRPr sz="3200" b="1">
                <a:solidFill>
                  <a:srgbClr val="FFFFFF"/>
                </a:solidFill>
                <a:latin typeface="Arial"/>
              </a:defRPr>
            </a:pPr>
            <a:r>
              <a:t>Urban Bike Sharing Demand Forecasting</a:t>
            </a:r>
          </a:p>
          <a:p>
            <a:pPr>
              <a:defRPr sz="1600">
                <a:solidFill>
                  <a:srgbClr val="CBD5E1"/>
                </a:solidFill>
                <a:latin typeface="Calibri"/>
              </a:defRPr>
            </a:pPr>
            <a:r>
              <a:t>Predicting Station-Level Hourly Bike Demand Using Machine Learning</a:t>
            </a:r>
          </a:p>
        </p:txBody>
      </p:sp>
      <p:sp>
        <p:nvSpPr>
          <p:cNvPr id="4" name="Rounded Rectangle 3"/>
          <p:cNvSpPr/>
          <p:nvPr/>
        </p:nvSpPr>
        <p:spPr>
          <a:xfrm>
            <a:off x="1371600" y="4297680"/>
            <a:ext cx="4480560" cy="1371600"/>
          </a:xfrm>
          <a:prstGeom prst="roundRect">
            <a:avLst/>
          </a:prstGeom>
          <a:solidFill>
            <a:srgbClr val="0F172A"/>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wrap="square" lIns="182880" tIns="182880" rtlCol="0" anchor="ctr"/>
          <a:lstStyle/>
          <a:p>
            <a:pPr algn="ctr">
              <a:spcAft>
                <a:spcPts val="400"/>
              </a:spcAft>
              <a:defRPr sz="1000" b="1">
                <a:solidFill>
                  <a:srgbClr val="38BDF8"/>
                </a:solidFill>
                <a:latin typeface="Arial"/>
              </a:defRPr>
            </a:pPr>
            <a:r>
              <a:rPr lang="en-IN" sz="1400" dirty="0"/>
              <a:t>PRESENTED BY</a:t>
            </a:r>
            <a:endParaRPr sz="1400" dirty="0"/>
          </a:p>
          <a:p>
            <a:pPr>
              <a:defRPr sz="1800" b="1">
                <a:solidFill>
                  <a:srgbClr val="FFFFFF"/>
                </a:solidFill>
                <a:latin typeface="Arial"/>
              </a:defRPr>
            </a:pPr>
            <a:r>
              <a:rPr dirty="0"/>
              <a:t>Isabella Dennis (Roll No: 30)</a:t>
            </a:r>
          </a:p>
          <a:p>
            <a:pPr>
              <a:defRPr sz="1200">
                <a:solidFill>
                  <a:srgbClr val="94A3B8"/>
                </a:solidFill>
                <a:latin typeface="Calibri"/>
              </a:defRPr>
            </a:pPr>
            <a:r>
              <a:rPr dirty="0"/>
              <a:t>Department of Computer Applications</a:t>
            </a:r>
          </a:p>
        </p:txBody>
      </p:sp>
      <p:sp>
        <p:nvSpPr>
          <p:cNvPr id="5" name="Rounded Rectangle 4"/>
          <p:cNvSpPr/>
          <p:nvPr/>
        </p:nvSpPr>
        <p:spPr>
          <a:xfrm>
            <a:off x="6309360" y="4297680"/>
            <a:ext cx="4480560" cy="1371600"/>
          </a:xfrm>
          <a:prstGeom prst="roundRect">
            <a:avLst/>
          </a:prstGeom>
          <a:solidFill>
            <a:srgbClr val="0F172A"/>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wrap="square" lIns="182880" tIns="182880" rtlCol="0" anchor="ctr"/>
          <a:lstStyle/>
          <a:p>
            <a:pPr algn="ctr">
              <a:spcAft>
                <a:spcPts val="400"/>
              </a:spcAft>
              <a:defRPr sz="1000" b="1">
                <a:solidFill>
                  <a:srgbClr val="0D9488"/>
                </a:solidFill>
                <a:latin typeface="Arial"/>
              </a:defRPr>
            </a:pPr>
            <a:r>
              <a:rPr sz="1400" dirty="0"/>
              <a:t>PROJECT GUIDE</a:t>
            </a:r>
          </a:p>
          <a:p>
            <a:pPr>
              <a:defRPr sz="1800" b="1">
                <a:solidFill>
                  <a:srgbClr val="FFFFFF"/>
                </a:solidFill>
                <a:latin typeface="Arial"/>
              </a:defRPr>
            </a:pPr>
            <a:r>
              <a:rPr lang="en-IN" dirty="0"/>
              <a:t>Prof</a:t>
            </a:r>
            <a:r>
              <a:rPr dirty="0"/>
              <a:t>. Sibu Skaria</a:t>
            </a:r>
          </a:p>
          <a:p>
            <a:pPr>
              <a:defRPr sz="1200">
                <a:solidFill>
                  <a:srgbClr val="94A3B8"/>
                </a:solidFill>
                <a:latin typeface="Calibri"/>
              </a:defRPr>
            </a:pPr>
            <a:r>
              <a:rPr dirty="0"/>
              <a:t>Professor, Department of Computer Applications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731520" y="347472"/>
            <a:ext cx="2926080" cy="310896"/>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tIns="36576" rtlCol="0" anchor="ctr"/>
          <a:lstStyle/>
          <a:p>
            <a:pPr algn="ctr">
              <a:defRPr sz="900" b="1">
                <a:solidFill>
                  <a:srgbClr val="FFFFFF"/>
                </a:solidFill>
                <a:latin typeface="Arial"/>
              </a:defRPr>
            </a:pPr>
            <a:r>
              <a:t>THE CHALLENGE &amp; THE GOALS</a:t>
            </a:r>
          </a:p>
        </p:txBody>
      </p:sp>
      <p:sp>
        <p:nvSpPr>
          <p:cNvPr id="3" name="TextBox 2"/>
          <p:cNvSpPr txBox="1"/>
          <p:nvPr/>
        </p:nvSpPr>
        <p:spPr>
          <a:xfrm>
            <a:off x="731520" y="713232"/>
            <a:ext cx="8686800" cy="457200"/>
          </a:xfrm>
          <a:prstGeom prst="rect">
            <a:avLst/>
          </a:prstGeom>
          <a:noFill/>
        </p:spPr>
        <p:txBody>
          <a:bodyPr wrap="square" lIns="0" tIns="0" rIns="0" bIns="0">
            <a:spAutoFit/>
          </a:bodyPr>
          <a:lstStyle/>
          <a:p>
            <a:pPr>
              <a:defRPr sz="2100" b="1">
                <a:solidFill>
                  <a:srgbClr val="0F172A"/>
                </a:solidFill>
                <a:latin typeface="Arial"/>
              </a:defRPr>
            </a:pPr>
            <a:r>
              <a:t>Problem Statement &amp; Project Objectives</a:t>
            </a:r>
          </a:p>
        </p:txBody>
      </p:sp>
      <p:sp>
        <p:nvSpPr>
          <p:cNvPr id="4" name="TextBox 3"/>
          <p:cNvSpPr txBox="1"/>
          <p:nvPr/>
        </p:nvSpPr>
        <p:spPr>
          <a:xfrm>
            <a:off x="10424160" y="347472"/>
            <a:ext cx="1005840" cy="320040"/>
          </a:xfrm>
          <a:prstGeom prst="rect">
            <a:avLst/>
          </a:prstGeom>
          <a:noFill/>
        </p:spPr>
        <p:txBody>
          <a:bodyPr wrap="none">
            <a:spAutoFit/>
          </a:bodyPr>
          <a:lstStyle/>
          <a:p>
            <a:pPr algn="r">
              <a:defRPr sz="1100" b="1">
                <a:solidFill>
                  <a:srgbClr val="64748B"/>
                </a:solidFill>
                <a:latin typeface="Arial"/>
              </a:defRPr>
            </a:pPr>
            <a:r>
              <a:t>02 / 15</a:t>
            </a:r>
          </a:p>
        </p:txBody>
      </p:sp>
      <p:sp>
        <p:nvSpPr>
          <p:cNvPr id="5" name="TextBox 4"/>
          <p:cNvSpPr txBox="1"/>
          <p:nvPr/>
        </p:nvSpPr>
        <p:spPr>
          <a:xfrm>
            <a:off x="731520" y="1234440"/>
            <a:ext cx="5166360" cy="274320"/>
          </a:xfrm>
          <a:prstGeom prst="rect">
            <a:avLst/>
          </a:prstGeom>
          <a:noFill/>
        </p:spPr>
        <p:txBody>
          <a:bodyPr wrap="none" lIns="0" tIns="0" rIns="0" bIns="0">
            <a:spAutoFit/>
          </a:bodyPr>
          <a:lstStyle/>
          <a:p>
            <a:pPr>
              <a:defRPr sz="1100" b="1">
                <a:solidFill>
                  <a:srgbClr val="0E7490"/>
                </a:solidFill>
                <a:latin typeface="Arial"/>
              </a:defRPr>
            </a:pPr>
            <a:r>
              <a:t>THE CHALLENGE: PROBLEM STATEMENT</a:t>
            </a:r>
          </a:p>
        </p:txBody>
      </p:sp>
      <p:sp>
        <p:nvSpPr>
          <p:cNvPr id="6" name="Rounded Rectangle 5"/>
          <p:cNvSpPr/>
          <p:nvPr/>
        </p:nvSpPr>
        <p:spPr>
          <a:xfrm>
            <a:off x="731520" y="1572768"/>
            <a:ext cx="5166360" cy="1828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91640"/>
            <a:ext cx="4800600" cy="256032"/>
          </a:xfrm>
          <a:prstGeom prst="rect">
            <a:avLst/>
          </a:prstGeom>
          <a:noFill/>
        </p:spPr>
        <p:txBody>
          <a:bodyPr wrap="none" lIns="0" tIns="0" rIns="0" bIns="0">
            <a:spAutoFit/>
          </a:bodyPr>
          <a:lstStyle/>
          <a:p>
            <a:pPr>
              <a:defRPr sz="1100" b="1">
                <a:solidFill>
                  <a:srgbClr val="0F172A"/>
                </a:solidFill>
                <a:latin typeface="Arial"/>
              </a:defRPr>
            </a:pPr>
            <a:r>
              <a:t>Station Imbalance, Illustrated</a:t>
            </a:r>
          </a:p>
        </p:txBody>
      </p:sp>
      <p:sp>
        <p:nvSpPr>
          <p:cNvPr id="8" name="Rounded Rectangle 7"/>
          <p:cNvSpPr/>
          <p:nvPr/>
        </p:nvSpPr>
        <p:spPr>
          <a:xfrm>
            <a:off x="914400" y="2011680"/>
            <a:ext cx="2103120" cy="86868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750" b="1">
                <a:solidFill>
                  <a:srgbClr val="B91C1C"/>
                </a:solidFill>
                <a:latin typeface="Arial"/>
              </a:defRPr>
            </a:pPr>
            <a:r>
              <a:rPr dirty="0"/>
              <a:t>STATION A </a:t>
            </a:r>
          </a:p>
          <a:p>
            <a:pPr algn="ctr">
              <a:defRPr sz="1300" b="1">
                <a:solidFill>
                  <a:srgbClr val="B91C1C"/>
                </a:solidFill>
                <a:latin typeface="Arial"/>
              </a:defRPr>
            </a:pPr>
            <a:r>
              <a:rPr dirty="0"/>
              <a:t>0 BIKES</a:t>
            </a:r>
          </a:p>
          <a:p>
            <a:pPr algn="ctr">
              <a:defRPr sz="800">
                <a:solidFill>
                  <a:srgbClr val="7F1D1D"/>
                </a:solidFill>
                <a:latin typeface="Calibri"/>
              </a:defRPr>
            </a:pPr>
            <a:r>
              <a:rPr dirty="0"/>
              <a:t>SHORTAGE: Riders cannot start trips</a:t>
            </a:r>
          </a:p>
        </p:txBody>
      </p:sp>
      <p:sp>
        <p:nvSpPr>
          <p:cNvPr id="9" name="Right Arrow 8"/>
          <p:cNvSpPr/>
          <p:nvPr/>
        </p:nvSpPr>
        <p:spPr>
          <a:xfrm>
            <a:off x="3108960" y="2331720"/>
            <a:ext cx="411480" cy="228600"/>
          </a:xfrm>
          <a:prstGeom prst="rightArrow">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611880" y="2011680"/>
            <a:ext cx="2103120" cy="86868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750" b="1">
                <a:solidFill>
                  <a:srgbClr val="15803D"/>
                </a:solidFill>
                <a:latin typeface="Arial"/>
              </a:defRPr>
            </a:pPr>
            <a:r>
              <a:rPr dirty="0"/>
              <a:t>STATION B </a:t>
            </a:r>
          </a:p>
          <a:p>
            <a:pPr algn="ctr">
              <a:defRPr sz="1300" b="1">
                <a:solidFill>
                  <a:srgbClr val="15803D"/>
                </a:solidFill>
                <a:latin typeface="Arial"/>
              </a:defRPr>
            </a:pPr>
            <a:r>
              <a:rPr dirty="0"/>
              <a:t>FULL</a:t>
            </a:r>
          </a:p>
          <a:p>
            <a:pPr algn="ctr">
              <a:defRPr sz="800">
                <a:solidFill>
                  <a:srgbClr val="14532D"/>
                </a:solidFill>
                <a:latin typeface="Calibri"/>
              </a:defRPr>
            </a:pPr>
            <a:r>
              <a:rPr dirty="0"/>
              <a:t>SURPLUS: Docks cannot accept returns</a:t>
            </a:r>
          </a:p>
        </p:txBody>
      </p:sp>
      <p:sp>
        <p:nvSpPr>
          <p:cNvPr id="12" name="Oval 11"/>
          <p:cNvSpPr/>
          <p:nvPr/>
        </p:nvSpPr>
        <p:spPr>
          <a:xfrm>
            <a:off x="777240" y="3511296"/>
            <a:ext cx="329184" cy="329184"/>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Arial"/>
              </a:defRPr>
            </a:pPr>
            <a:r>
              <a:t>1</a:t>
            </a:r>
          </a:p>
        </p:txBody>
      </p:sp>
      <p:sp>
        <p:nvSpPr>
          <p:cNvPr id="13" name="TextBox 12"/>
          <p:cNvSpPr txBox="1"/>
          <p:nvPr/>
        </p:nvSpPr>
        <p:spPr>
          <a:xfrm>
            <a:off x="1207008" y="3493008"/>
            <a:ext cx="4636008" cy="621792"/>
          </a:xfrm>
          <a:prstGeom prst="rect">
            <a:avLst/>
          </a:prstGeom>
          <a:noFill/>
        </p:spPr>
        <p:txBody>
          <a:bodyPr wrap="square" lIns="0" tIns="0" rIns="0" bIns="0">
            <a:spAutoFit/>
          </a:bodyPr>
          <a:lstStyle/>
          <a:p>
            <a:pPr>
              <a:spcAft>
                <a:spcPts val="100"/>
              </a:spcAft>
              <a:defRPr sz="1000" b="1">
                <a:solidFill>
                  <a:srgbClr val="0F172A"/>
                </a:solidFill>
                <a:latin typeface="Arial"/>
              </a:defRPr>
            </a:pPr>
            <a:r>
              <a:t>Uneven Demand</a:t>
            </a:r>
          </a:p>
          <a:p>
            <a:pPr>
              <a:defRPr sz="900">
                <a:solidFill>
                  <a:srgbClr val="475569"/>
                </a:solidFill>
                <a:latin typeface="Calibri"/>
              </a:defRPr>
            </a:pPr>
            <a:r>
              <a:t>Bike-sharing demand varies sharply across stations and across the hours of the day.</a:t>
            </a:r>
          </a:p>
        </p:txBody>
      </p:sp>
      <p:sp>
        <p:nvSpPr>
          <p:cNvPr id="14" name="Oval 13"/>
          <p:cNvSpPr/>
          <p:nvPr/>
        </p:nvSpPr>
        <p:spPr>
          <a:xfrm>
            <a:off x="777240" y="4041648"/>
            <a:ext cx="329184" cy="329184"/>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Arial"/>
              </a:defRPr>
            </a:pPr>
            <a:r>
              <a:t>2</a:t>
            </a:r>
          </a:p>
        </p:txBody>
      </p:sp>
      <p:sp>
        <p:nvSpPr>
          <p:cNvPr id="15" name="TextBox 14"/>
          <p:cNvSpPr txBox="1"/>
          <p:nvPr/>
        </p:nvSpPr>
        <p:spPr>
          <a:xfrm>
            <a:off x="1207008" y="4023360"/>
            <a:ext cx="4636008" cy="305212"/>
          </a:xfrm>
          <a:prstGeom prst="rect">
            <a:avLst/>
          </a:prstGeom>
          <a:noFill/>
        </p:spPr>
        <p:txBody>
          <a:bodyPr wrap="square" lIns="0" tIns="0" rIns="0" bIns="0">
            <a:spAutoFit/>
          </a:bodyPr>
          <a:lstStyle/>
          <a:p>
            <a:pPr>
              <a:spcAft>
                <a:spcPts val="100"/>
              </a:spcAft>
              <a:defRPr sz="1000" b="1">
                <a:solidFill>
                  <a:srgbClr val="0F172A"/>
                </a:solidFill>
                <a:latin typeface="Arial"/>
              </a:defRPr>
            </a:pPr>
            <a:r>
              <a:rPr dirty="0"/>
              <a:t>Shortages</a:t>
            </a:r>
          </a:p>
          <a:p>
            <a:pPr>
              <a:defRPr sz="900">
                <a:solidFill>
                  <a:srgbClr val="475569"/>
                </a:solidFill>
                <a:latin typeface="Calibri"/>
              </a:defRPr>
            </a:pPr>
            <a:r>
              <a:rPr dirty="0"/>
              <a:t>Popular stations frequently run out of bikes during peak </a:t>
            </a:r>
            <a:r>
              <a:rPr lang="en-IN" dirty="0"/>
              <a:t>hours</a:t>
            </a:r>
            <a:r>
              <a:rPr dirty="0"/>
              <a:t>.</a:t>
            </a:r>
          </a:p>
        </p:txBody>
      </p:sp>
      <p:sp>
        <p:nvSpPr>
          <p:cNvPr id="16" name="Oval 15"/>
          <p:cNvSpPr/>
          <p:nvPr/>
        </p:nvSpPr>
        <p:spPr>
          <a:xfrm>
            <a:off x="777240" y="4572000"/>
            <a:ext cx="329184" cy="329184"/>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Arial"/>
              </a:defRPr>
            </a:pPr>
            <a:r>
              <a:t>3</a:t>
            </a:r>
          </a:p>
        </p:txBody>
      </p:sp>
      <p:sp>
        <p:nvSpPr>
          <p:cNvPr id="17" name="TextBox 16"/>
          <p:cNvSpPr txBox="1"/>
          <p:nvPr/>
        </p:nvSpPr>
        <p:spPr>
          <a:xfrm>
            <a:off x="1207008" y="4553712"/>
            <a:ext cx="4636008" cy="621792"/>
          </a:xfrm>
          <a:prstGeom prst="rect">
            <a:avLst/>
          </a:prstGeom>
          <a:noFill/>
        </p:spPr>
        <p:txBody>
          <a:bodyPr wrap="square" lIns="0" tIns="0" rIns="0" bIns="0">
            <a:spAutoFit/>
          </a:bodyPr>
          <a:lstStyle/>
          <a:p>
            <a:pPr>
              <a:spcAft>
                <a:spcPts val="100"/>
              </a:spcAft>
              <a:defRPr sz="1000" b="1">
                <a:solidFill>
                  <a:srgbClr val="0F172A"/>
                </a:solidFill>
                <a:latin typeface="Arial"/>
              </a:defRPr>
            </a:pPr>
            <a:r>
              <a:t>Surpluses</a:t>
            </a:r>
          </a:p>
          <a:p>
            <a:pPr>
              <a:defRPr sz="900">
                <a:solidFill>
                  <a:srgbClr val="475569"/>
                </a:solidFill>
                <a:latin typeface="Calibri"/>
              </a:defRPr>
            </a:pPr>
            <a:r>
              <a:t>Other stations fill up with returned bikes and cannot accept more.</a:t>
            </a:r>
          </a:p>
        </p:txBody>
      </p:sp>
      <p:sp>
        <p:nvSpPr>
          <p:cNvPr id="18" name="Oval 17"/>
          <p:cNvSpPr/>
          <p:nvPr/>
        </p:nvSpPr>
        <p:spPr>
          <a:xfrm>
            <a:off x="777240" y="5102352"/>
            <a:ext cx="329184" cy="329184"/>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Arial"/>
              </a:defRPr>
            </a:pPr>
            <a:r>
              <a:t>4</a:t>
            </a:r>
          </a:p>
        </p:txBody>
      </p:sp>
      <p:sp>
        <p:nvSpPr>
          <p:cNvPr id="19" name="TextBox 18"/>
          <p:cNvSpPr txBox="1"/>
          <p:nvPr/>
        </p:nvSpPr>
        <p:spPr>
          <a:xfrm>
            <a:off x="1207008" y="5084064"/>
            <a:ext cx="4636008" cy="305212"/>
          </a:xfrm>
          <a:prstGeom prst="rect">
            <a:avLst/>
          </a:prstGeom>
          <a:noFill/>
        </p:spPr>
        <p:txBody>
          <a:bodyPr wrap="square" lIns="0" tIns="0" rIns="0" bIns="0">
            <a:spAutoFit/>
          </a:bodyPr>
          <a:lstStyle/>
          <a:p>
            <a:pPr>
              <a:spcAft>
                <a:spcPts val="100"/>
              </a:spcAft>
              <a:defRPr sz="1000" b="1">
                <a:solidFill>
                  <a:srgbClr val="0F172A"/>
                </a:solidFill>
                <a:latin typeface="Arial"/>
              </a:defRPr>
            </a:pPr>
            <a:r>
              <a:rPr dirty="0"/>
              <a:t>Manual Redistribution</a:t>
            </a:r>
          </a:p>
          <a:p>
            <a:pPr>
              <a:defRPr sz="900">
                <a:solidFill>
                  <a:srgbClr val="475569"/>
                </a:solidFill>
                <a:latin typeface="Calibri"/>
              </a:defRPr>
            </a:pPr>
            <a:r>
              <a:rPr dirty="0"/>
              <a:t>Moving bikes between stations by hand is slow, costly and </a:t>
            </a:r>
            <a:r>
              <a:rPr lang="en-IN" dirty="0" err="1"/>
              <a:t>timetaken</a:t>
            </a:r>
            <a:r>
              <a:rPr dirty="0"/>
              <a:t>.</a:t>
            </a:r>
          </a:p>
        </p:txBody>
      </p:sp>
      <p:sp>
        <p:nvSpPr>
          <p:cNvPr id="20" name="Oval 19"/>
          <p:cNvSpPr/>
          <p:nvPr/>
        </p:nvSpPr>
        <p:spPr>
          <a:xfrm>
            <a:off x="777240" y="5632704"/>
            <a:ext cx="329184" cy="329184"/>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Arial"/>
              </a:defRPr>
            </a:pPr>
            <a:r>
              <a:t>5</a:t>
            </a:r>
          </a:p>
        </p:txBody>
      </p:sp>
      <p:sp>
        <p:nvSpPr>
          <p:cNvPr id="21" name="TextBox 20"/>
          <p:cNvSpPr txBox="1"/>
          <p:nvPr/>
        </p:nvSpPr>
        <p:spPr>
          <a:xfrm>
            <a:off x="1207008" y="5614416"/>
            <a:ext cx="4636008" cy="621792"/>
          </a:xfrm>
          <a:prstGeom prst="rect">
            <a:avLst/>
          </a:prstGeom>
          <a:noFill/>
        </p:spPr>
        <p:txBody>
          <a:bodyPr wrap="square" lIns="0" tIns="0" rIns="0" bIns="0">
            <a:spAutoFit/>
          </a:bodyPr>
          <a:lstStyle/>
          <a:p>
            <a:pPr>
              <a:spcAft>
                <a:spcPts val="100"/>
              </a:spcAft>
              <a:defRPr sz="1000" b="1">
                <a:solidFill>
                  <a:srgbClr val="0F172A"/>
                </a:solidFill>
                <a:latin typeface="Arial"/>
              </a:defRPr>
            </a:pPr>
            <a:r>
              <a:t>Multiple Drivers</a:t>
            </a:r>
          </a:p>
          <a:p>
            <a:pPr>
              <a:defRPr sz="900">
                <a:solidFill>
                  <a:srgbClr val="475569"/>
                </a:solidFill>
                <a:latin typeface="Calibri"/>
              </a:defRPr>
            </a:pPr>
            <a:r>
              <a:t>Demand is shaped by temporal patterns, station characteristics and weather.</a:t>
            </a:r>
          </a:p>
        </p:txBody>
      </p:sp>
      <p:sp>
        <p:nvSpPr>
          <p:cNvPr id="22" name="TextBox 21"/>
          <p:cNvSpPr txBox="1"/>
          <p:nvPr/>
        </p:nvSpPr>
        <p:spPr>
          <a:xfrm>
            <a:off x="6263640" y="1234440"/>
            <a:ext cx="5166360" cy="274320"/>
          </a:xfrm>
          <a:prstGeom prst="rect">
            <a:avLst/>
          </a:prstGeom>
          <a:noFill/>
        </p:spPr>
        <p:txBody>
          <a:bodyPr wrap="none" lIns="0" tIns="0" rIns="0" bIns="0">
            <a:spAutoFit/>
          </a:bodyPr>
          <a:lstStyle/>
          <a:p>
            <a:pPr>
              <a:defRPr sz="1100" b="1">
                <a:solidFill>
                  <a:srgbClr val="1E293B"/>
                </a:solidFill>
                <a:latin typeface="Arial"/>
              </a:defRPr>
            </a:pPr>
            <a:r>
              <a:t>THE GOALS: PROJECT OBJECTIVES</a:t>
            </a:r>
          </a:p>
        </p:txBody>
      </p:sp>
      <p:sp>
        <p:nvSpPr>
          <p:cNvPr id="23" name="Rounded Rectangle 22"/>
          <p:cNvSpPr/>
          <p:nvPr/>
        </p:nvSpPr>
        <p:spPr>
          <a:xfrm>
            <a:off x="6263640" y="1572768"/>
            <a:ext cx="5166360" cy="8412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428232" y="1792224"/>
            <a:ext cx="384048" cy="384048"/>
          </a:xfrm>
          <a:prstGeom prst="ellipse">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FFFFFF"/>
                </a:solidFill>
                <a:latin typeface="Arial"/>
              </a:defRPr>
            </a:pPr>
            <a:r>
              <a:t>1</a:t>
            </a:r>
          </a:p>
        </p:txBody>
      </p:sp>
      <p:sp>
        <p:nvSpPr>
          <p:cNvPr id="25" name="TextBox 24"/>
          <p:cNvSpPr txBox="1"/>
          <p:nvPr/>
        </p:nvSpPr>
        <p:spPr>
          <a:xfrm>
            <a:off x="6922008" y="1700784"/>
            <a:ext cx="4389120" cy="621792"/>
          </a:xfrm>
          <a:prstGeom prst="rect">
            <a:avLst/>
          </a:prstGeom>
          <a:noFill/>
        </p:spPr>
        <p:txBody>
          <a:bodyPr wrap="square" lIns="0" tIns="0" rIns="0" bIns="0">
            <a:spAutoFit/>
          </a:bodyPr>
          <a:lstStyle/>
          <a:p>
            <a:pPr>
              <a:spcAft>
                <a:spcPts val="200"/>
              </a:spcAft>
              <a:defRPr sz="1050" b="1">
                <a:solidFill>
                  <a:srgbClr val="0F172A"/>
                </a:solidFill>
                <a:latin typeface="Arial"/>
              </a:defRPr>
            </a:pPr>
            <a:r>
              <a:t>Forecast Demand</a:t>
            </a:r>
          </a:p>
          <a:p>
            <a:pPr>
              <a:defRPr sz="950">
                <a:solidFill>
                  <a:srgbClr val="475569"/>
                </a:solidFill>
                <a:latin typeface="Calibri"/>
              </a:defRPr>
            </a:pPr>
            <a:r>
              <a:t>Predict station-level bike-sharing demand using machine learning models.</a:t>
            </a:r>
          </a:p>
        </p:txBody>
      </p:sp>
      <p:sp>
        <p:nvSpPr>
          <p:cNvPr id="26" name="Rounded Rectangle 25"/>
          <p:cNvSpPr/>
          <p:nvPr/>
        </p:nvSpPr>
        <p:spPr>
          <a:xfrm>
            <a:off x="6263640" y="2487168"/>
            <a:ext cx="5166360" cy="8412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428232" y="2706624"/>
            <a:ext cx="384048" cy="384048"/>
          </a:xfrm>
          <a:prstGeom prst="ellipse">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FFFFFF"/>
                </a:solidFill>
                <a:latin typeface="Arial"/>
              </a:defRPr>
            </a:pPr>
            <a:r>
              <a:t>2</a:t>
            </a:r>
          </a:p>
        </p:txBody>
      </p:sp>
      <p:sp>
        <p:nvSpPr>
          <p:cNvPr id="28" name="TextBox 27"/>
          <p:cNvSpPr txBox="1"/>
          <p:nvPr/>
        </p:nvSpPr>
        <p:spPr>
          <a:xfrm>
            <a:off x="6922008" y="2615184"/>
            <a:ext cx="4389120" cy="621792"/>
          </a:xfrm>
          <a:prstGeom prst="rect">
            <a:avLst/>
          </a:prstGeom>
          <a:noFill/>
        </p:spPr>
        <p:txBody>
          <a:bodyPr wrap="square" lIns="0" tIns="0" rIns="0" bIns="0">
            <a:spAutoFit/>
          </a:bodyPr>
          <a:lstStyle/>
          <a:p>
            <a:pPr>
              <a:spcAft>
                <a:spcPts val="200"/>
              </a:spcAft>
              <a:defRPr sz="1050" b="1">
                <a:solidFill>
                  <a:srgbClr val="0F172A"/>
                </a:solidFill>
                <a:latin typeface="Arial"/>
              </a:defRPr>
            </a:pPr>
            <a:r>
              <a:t>Analyze Patterns</a:t>
            </a:r>
          </a:p>
          <a:p>
            <a:pPr>
              <a:defRPr sz="950">
                <a:solidFill>
                  <a:srgbClr val="475569"/>
                </a:solidFill>
                <a:latin typeface="Calibri"/>
              </a:defRPr>
            </a:pPr>
            <a:r>
              <a:t>Study demand variation across time, stations and environmental conditions.</a:t>
            </a:r>
          </a:p>
        </p:txBody>
      </p:sp>
      <p:sp>
        <p:nvSpPr>
          <p:cNvPr id="29" name="Rounded Rectangle 28"/>
          <p:cNvSpPr/>
          <p:nvPr/>
        </p:nvSpPr>
        <p:spPr>
          <a:xfrm>
            <a:off x="6263640" y="3401568"/>
            <a:ext cx="5166360" cy="8412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428232" y="3621024"/>
            <a:ext cx="384048" cy="384048"/>
          </a:xfrm>
          <a:prstGeom prst="ellipse">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FFFFFF"/>
                </a:solidFill>
                <a:latin typeface="Arial"/>
              </a:defRPr>
            </a:pPr>
            <a:r>
              <a:t>3</a:t>
            </a:r>
          </a:p>
        </p:txBody>
      </p:sp>
      <p:sp>
        <p:nvSpPr>
          <p:cNvPr id="31" name="TextBox 30"/>
          <p:cNvSpPr txBox="1"/>
          <p:nvPr/>
        </p:nvSpPr>
        <p:spPr>
          <a:xfrm>
            <a:off x="6922008" y="3529584"/>
            <a:ext cx="4389120" cy="621792"/>
          </a:xfrm>
          <a:prstGeom prst="rect">
            <a:avLst/>
          </a:prstGeom>
          <a:noFill/>
        </p:spPr>
        <p:txBody>
          <a:bodyPr wrap="square" lIns="0" tIns="0" rIns="0" bIns="0">
            <a:spAutoFit/>
          </a:bodyPr>
          <a:lstStyle/>
          <a:p>
            <a:pPr>
              <a:spcAft>
                <a:spcPts val="200"/>
              </a:spcAft>
              <a:defRPr sz="1050" b="1">
                <a:solidFill>
                  <a:srgbClr val="0F172A"/>
                </a:solidFill>
                <a:latin typeface="Arial"/>
              </a:defRPr>
            </a:pPr>
            <a:r>
              <a:t>Leverage Historical Data</a:t>
            </a:r>
          </a:p>
          <a:p>
            <a:pPr>
              <a:defRPr sz="950">
                <a:solidFill>
                  <a:srgbClr val="475569"/>
                </a:solidFill>
                <a:latin typeface="Calibri"/>
              </a:defRPr>
            </a:pPr>
            <a:r>
              <a:t>Use historical trip and weather information as predictors.</a:t>
            </a:r>
          </a:p>
        </p:txBody>
      </p:sp>
      <p:sp>
        <p:nvSpPr>
          <p:cNvPr id="32" name="Rounded Rectangle 31"/>
          <p:cNvSpPr/>
          <p:nvPr/>
        </p:nvSpPr>
        <p:spPr>
          <a:xfrm>
            <a:off x="6263640" y="4315968"/>
            <a:ext cx="5166360" cy="8412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428232" y="4535424"/>
            <a:ext cx="384048" cy="384048"/>
          </a:xfrm>
          <a:prstGeom prst="ellipse">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FFFFFF"/>
                </a:solidFill>
                <a:latin typeface="Arial"/>
              </a:defRPr>
            </a:pPr>
            <a:r>
              <a:t>4</a:t>
            </a:r>
          </a:p>
        </p:txBody>
      </p:sp>
      <p:sp>
        <p:nvSpPr>
          <p:cNvPr id="34" name="TextBox 33"/>
          <p:cNvSpPr txBox="1"/>
          <p:nvPr/>
        </p:nvSpPr>
        <p:spPr>
          <a:xfrm>
            <a:off x="6922008" y="4443984"/>
            <a:ext cx="4389120" cy="621792"/>
          </a:xfrm>
          <a:prstGeom prst="rect">
            <a:avLst/>
          </a:prstGeom>
          <a:noFill/>
        </p:spPr>
        <p:txBody>
          <a:bodyPr wrap="square" lIns="0" tIns="0" rIns="0" bIns="0">
            <a:spAutoFit/>
          </a:bodyPr>
          <a:lstStyle/>
          <a:p>
            <a:pPr>
              <a:spcAft>
                <a:spcPts val="200"/>
              </a:spcAft>
              <a:defRPr sz="1050" b="1">
                <a:solidFill>
                  <a:srgbClr val="0F172A"/>
                </a:solidFill>
                <a:latin typeface="Arial"/>
              </a:defRPr>
            </a:pPr>
            <a:r>
              <a:t>Flag Imbalances</a:t>
            </a:r>
          </a:p>
          <a:p>
            <a:pPr>
              <a:defRPr sz="950">
                <a:solidFill>
                  <a:srgbClr val="475569"/>
                </a:solidFill>
                <a:latin typeface="Calibri"/>
              </a:defRPr>
            </a:pPr>
            <a:r>
              <a:t>Identify potential shortage and surplus situations before they occur.</a:t>
            </a:r>
          </a:p>
        </p:txBody>
      </p:sp>
      <p:sp>
        <p:nvSpPr>
          <p:cNvPr id="35" name="Rounded Rectangle 34"/>
          <p:cNvSpPr/>
          <p:nvPr/>
        </p:nvSpPr>
        <p:spPr>
          <a:xfrm>
            <a:off x="6263640" y="5230368"/>
            <a:ext cx="5166360" cy="84124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6428232" y="5449824"/>
            <a:ext cx="384048" cy="384048"/>
          </a:xfrm>
          <a:prstGeom prst="ellipse">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200" b="1">
                <a:solidFill>
                  <a:srgbClr val="FFFFFF"/>
                </a:solidFill>
                <a:latin typeface="Arial"/>
              </a:defRPr>
            </a:pPr>
            <a:r>
              <a:t>5</a:t>
            </a:r>
          </a:p>
        </p:txBody>
      </p:sp>
      <p:sp>
        <p:nvSpPr>
          <p:cNvPr id="37" name="TextBox 36"/>
          <p:cNvSpPr txBox="1"/>
          <p:nvPr/>
        </p:nvSpPr>
        <p:spPr>
          <a:xfrm>
            <a:off x="6922008" y="5358384"/>
            <a:ext cx="4389120" cy="621792"/>
          </a:xfrm>
          <a:prstGeom prst="rect">
            <a:avLst/>
          </a:prstGeom>
          <a:noFill/>
        </p:spPr>
        <p:txBody>
          <a:bodyPr wrap="square" lIns="0" tIns="0" rIns="0" bIns="0">
            <a:spAutoFit/>
          </a:bodyPr>
          <a:lstStyle/>
          <a:p>
            <a:pPr>
              <a:spcAft>
                <a:spcPts val="200"/>
              </a:spcAft>
              <a:defRPr sz="1050" b="1">
                <a:solidFill>
                  <a:srgbClr val="0F172A"/>
                </a:solidFill>
                <a:latin typeface="Arial"/>
              </a:defRPr>
            </a:pPr>
            <a:r>
              <a:t>Support Redistribution</a:t>
            </a:r>
          </a:p>
          <a:p>
            <a:pPr>
              <a:defRPr sz="950">
                <a:solidFill>
                  <a:srgbClr val="475569"/>
                </a:solidFill>
                <a:latin typeface="Calibri"/>
              </a:defRPr>
            </a:pPr>
            <a:r>
              <a:t>Enable smarter, data-driven bike redistribution through an interactive app.</a:t>
            </a:r>
          </a:p>
        </p:txBody>
      </p:sp>
      <p:sp>
        <p:nvSpPr>
          <p:cNvPr id="38" name="TextBox 37"/>
          <p:cNvSpPr txBox="1"/>
          <p:nvPr/>
        </p:nvSpPr>
        <p:spPr>
          <a:xfrm>
            <a:off x="731520" y="6291072"/>
            <a:ext cx="41148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40" name="TextBox 39"/>
          <p:cNvSpPr txBox="1"/>
          <p:nvPr/>
        </p:nvSpPr>
        <p:spPr>
          <a:xfrm>
            <a:off x="9144000" y="6291072"/>
            <a:ext cx="2286000" cy="274320"/>
          </a:xfrm>
          <a:prstGeom prst="rect">
            <a:avLst/>
          </a:prstGeom>
          <a:noFill/>
        </p:spPr>
        <p:txBody>
          <a:bodyPr wrap="none" lIns="0" tIns="0" rIns="0" bIns="0">
            <a:spAutoFit/>
          </a:bodyPr>
          <a:lstStyle/>
          <a:p>
            <a:pPr algn="r">
              <a:defRPr sz="950">
                <a:solidFill>
                  <a:srgbClr val="64748B"/>
                </a:solidFill>
                <a:latin typeface="Calibri"/>
              </a:defRPr>
            </a:pPr>
            <a:r>
              <a:t>Slide 2 of 15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9601200" cy="868680"/>
          </a:xfrm>
          <a:prstGeom prst="rect">
            <a:avLst/>
          </a:prstGeom>
          <a:noFill/>
        </p:spPr>
        <p:txBody>
          <a:bodyPr wrap="square" lIns="0" tIns="0" rIns="0" bIns="0">
            <a:spAutoFit/>
          </a:bodyPr>
          <a:lstStyle/>
          <a:p>
            <a:pPr>
              <a:spcAft>
                <a:spcPts val="200"/>
              </a:spcAft>
              <a:defRPr sz="1000" b="1">
                <a:solidFill>
                  <a:srgbClr val="0284C7"/>
                </a:solidFill>
                <a:latin typeface="Arial"/>
              </a:defRPr>
            </a:pPr>
            <a:r>
              <a:t>RELATED WORKS</a:t>
            </a:r>
          </a:p>
          <a:p>
            <a:pPr>
              <a:defRPr sz="2100" b="1">
                <a:solidFill>
                  <a:srgbClr val="0F172A"/>
                </a:solidFill>
                <a:latin typeface="Arial"/>
              </a:defRPr>
            </a:pPr>
            <a:r>
              <a:t>Literature Review</a:t>
            </a:r>
          </a:p>
        </p:txBody>
      </p:sp>
      <p:sp>
        <p:nvSpPr>
          <p:cNvPr id="3" name="TextBox 2"/>
          <p:cNvSpPr txBox="1"/>
          <p:nvPr/>
        </p:nvSpPr>
        <p:spPr>
          <a:xfrm>
            <a:off x="10424160" y="320040"/>
            <a:ext cx="1005840" cy="365760"/>
          </a:xfrm>
          <a:prstGeom prst="rect">
            <a:avLst/>
          </a:prstGeom>
          <a:noFill/>
        </p:spPr>
        <p:txBody>
          <a:bodyPr wrap="none">
            <a:spAutoFit/>
          </a:bodyPr>
          <a:lstStyle/>
          <a:p>
            <a:pPr algn="r">
              <a:defRPr sz="1100" b="1">
                <a:solidFill>
                  <a:srgbClr val="64748B"/>
                </a:solidFill>
                <a:latin typeface="Arial"/>
              </a:defRPr>
            </a:pPr>
            <a:r>
              <a:t>03 / 15</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17320"/>
            <a:ext cx="341345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Aft>
                <a:spcPts val="200"/>
              </a:spcAft>
              <a:defRPr sz="1000" b="1">
                <a:solidFill>
                  <a:srgbClr val="0284C7"/>
                </a:solidFill>
                <a:latin typeface="Arial"/>
              </a:defRPr>
            </a:pPr>
            <a:r>
              <a:rPr dirty="0"/>
              <a:t>PAPER 1</a:t>
            </a:r>
          </a:p>
          <a:p>
            <a:pPr>
              <a:spcAft>
                <a:spcPts val="200"/>
              </a:spcAft>
              <a:defRPr sz="1400" b="1">
                <a:solidFill>
                  <a:srgbClr val="0F172A"/>
                </a:solidFill>
                <a:latin typeface="Arial"/>
              </a:defRPr>
            </a:pPr>
            <a:r>
              <a:rPr dirty="0"/>
              <a:t>Aydın et al. (2023)</a:t>
            </a:r>
          </a:p>
          <a:p>
            <a:pPr>
              <a:spcAft>
                <a:spcPts val="800"/>
              </a:spcAft>
              <a:defRPr sz="1050" i="1">
                <a:solidFill>
                  <a:srgbClr val="0284C7"/>
                </a:solidFill>
                <a:latin typeface="Calibri"/>
              </a:defRPr>
            </a:pPr>
            <a:r>
              <a:rPr dirty="0"/>
              <a:t>"Prediction bike-sharing demand with gradient boosting methods"</a:t>
            </a:r>
          </a:p>
          <a:p>
            <a:pPr>
              <a:spcAft>
                <a:spcPts val="200"/>
              </a:spcAft>
              <a:defRPr sz="950" b="1">
                <a:solidFill>
                  <a:srgbClr val="64748B"/>
                </a:solidFill>
                <a:latin typeface="Arial"/>
              </a:defRPr>
            </a:pPr>
            <a:r>
              <a:rPr dirty="0"/>
              <a:t>WHAT THE PAPER SAYS:</a:t>
            </a:r>
          </a:p>
          <a:p>
            <a:pPr>
              <a:spcAft>
                <a:spcPts val="800"/>
              </a:spcAft>
              <a:defRPr sz="1050">
                <a:solidFill>
                  <a:srgbClr val="0F172A"/>
                </a:solidFill>
                <a:latin typeface="Calibri"/>
              </a:defRPr>
            </a:pPr>
            <a:r>
              <a:rPr dirty="0"/>
              <a:t>Predicts hourly bike demand in two cities (Konya and Washington D.C.) using weather and time features to help balance bike </a:t>
            </a:r>
            <a:r>
              <a:rPr lang="en-IN" dirty="0"/>
              <a:t>collection</a:t>
            </a:r>
            <a:r>
              <a:rPr dirty="0"/>
              <a:t>.</a:t>
            </a:r>
          </a:p>
          <a:p>
            <a:pPr>
              <a:spcAft>
                <a:spcPts val="200"/>
              </a:spcAft>
              <a:defRPr sz="950" b="1">
                <a:solidFill>
                  <a:srgbClr val="64748B"/>
                </a:solidFill>
                <a:latin typeface="Arial"/>
              </a:defRPr>
            </a:pPr>
            <a:r>
              <a:rPr dirty="0"/>
              <a:t>RELEVANT ALGORITHMS:</a:t>
            </a:r>
          </a:p>
          <a:p>
            <a:pPr>
              <a:spcAft>
                <a:spcPts val="1000"/>
              </a:spcAft>
              <a:defRPr sz="1050">
                <a:solidFill>
                  <a:srgbClr val="0F172A"/>
                </a:solidFill>
                <a:latin typeface="Calibri"/>
              </a:defRPr>
            </a:pPr>
            <a:r>
              <a:rPr dirty="0" err="1"/>
              <a:t>XGBoost</a:t>
            </a:r>
            <a:r>
              <a:rPr dirty="0"/>
              <a:t>, </a:t>
            </a:r>
            <a:r>
              <a:rPr dirty="0" err="1"/>
              <a:t>LightGBM</a:t>
            </a:r>
            <a:r>
              <a:rPr dirty="0"/>
              <a:t>, </a:t>
            </a:r>
            <a:r>
              <a:rPr dirty="0" err="1"/>
              <a:t>CatBoost</a:t>
            </a:r>
            <a:endParaRPr dirty="0"/>
          </a:p>
          <a:p>
            <a:pPr>
              <a:spcAft>
                <a:spcPts val="200"/>
              </a:spcAft>
              <a:defRPr sz="950" b="1">
                <a:solidFill>
                  <a:srgbClr val="0284C7"/>
                </a:solidFill>
                <a:latin typeface="Arial"/>
              </a:defRPr>
            </a:pPr>
            <a:r>
              <a:rPr dirty="0"/>
              <a:t>MODEL FOUND AS BEST:</a:t>
            </a:r>
          </a:p>
          <a:p>
            <a:pPr>
              <a:defRPr sz="1100" b="1">
                <a:solidFill>
                  <a:srgbClr val="0F172A"/>
                </a:solidFill>
                <a:latin typeface="Arial"/>
              </a:defRPr>
            </a:pPr>
            <a:r>
              <a:rPr dirty="0" err="1"/>
              <a:t>CatBoost</a:t>
            </a:r>
            <a:r>
              <a:rPr dirty="0"/>
              <a:t> and</a:t>
            </a:r>
            <a:r>
              <a:rPr lang="en-IN" dirty="0"/>
              <a:t> </a:t>
            </a:r>
            <a:r>
              <a:rPr lang="en-IN" dirty="0" err="1"/>
              <a:t>XGBoost</a:t>
            </a:r>
            <a:endParaRPr dirty="0"/>
          </a:p>
        </p:txBody>
      </p:sp>
      <p:sp>
        <p:nvSpPr>
          <p:cNvPr id="6" name="Rectangle 5"/>
          <p:cNvSpPr/>
          <p:nvPr/>
        </p:nvSpPr>
        <p:spPr>
          <a:xfrm>
            <a:off x="731520" y="1417320"/>
            <a:ext cx="341345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0" y="1417320"/>
            <a:ext cx="341345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Aft>
                <a:spcPts val="200"/>
              </a:spcAft>
              <a:defRPr sz="1000" b="1">
                <a:solidFill>
                  <a:srgbClr val="0D9488"/>
                </a:solidFill>
                <a:latin typeface="Arial"/>
              </a:defRPr>
            </a:pPr>
            <a:r>
              <a:rPr dirty="0"/>
              <a:t>PAPER 2</a:t>
            </a:r>
          </a:p>
          <a:p>
            <a:pPr>
              <a:spcAft>
                <a:spcPts val="200"/>
              </a:spcAft>
              <a:defRPr sz="1400" b="1">
                <a:solidFill>
                  <a:srgbClr val="0F172A"/>
                </a:solidFill>
                <a:latin typeface="Arial"/>
              </a:defRPr>
            </a:pPr>
            <a:r>
              <a:rPr dirty="0" err="1"/>
              <a:t>Karunanithi</a:t>
            </a:r>
            <a:r>
              <a:rPr dirty="0"/>
              <a:t> et al. (2024)</a:t>
            </a:r>
          </a:p>
          <a:p>
            <a:pPr>
              <a:spcAft>
                <a:spcPts val="800"/>
              </a:spcAft>
              <a:defRPr sz="1050" i="1">
                <a:solidFill>
                  <a:srgbClr val="0284C7"/>
                </a:solidFill>
                <a:latin typeface="Calibri"/>
              </a:defRPr>
            </a:pPr>
            <a:r>
              <a:rPr dirty="0"/>
              <a:t>"A predictive analytics approach for forecasting bike rental demand"</a:t>
            </a:r>
          </a:p>
          <a:p>
            <a:pPr>
              <a:spcAft>
                <a:spcPts val="200"/>
              </a:spcAft>
              <a:defRPr sz="950" b="1">
                <a:solidFill>
                  <a:srgbClr val="64748B"/>
                </a:solidFill>
                <a:latin typeface="Arial"/>
              </a:defRPr>
            </a:pPr>
            <a:r>
              <a:rPr dirty="0"/>
              <a:t>WHAT THE PAPER SAYS:</a:t>
            </a:r>
          </a:p>
          <a:p>
            <a:pPr>
              <a:spcAft>
                <a:spcPts val="800"/>
              </a:spcAft>
              <a:defRPr sz="1050">
                <a:solidFill>
                  <a:srgbClr val="0F172A"/>
                </a:solidFill>
                <a:latin typeface="Calibri"/>
              </a:defRPr>
            </a:pPr>
            <a:r>
              <a:rPr lang="en-IN" dirty="0"/>
              <a:t>Uses bike rental demand data c</a:t>
            </a:r>
            <a:r>
              <a:rPr dirty="0" err="1"/>
              <a:t>ompares</a:t>
            </a:r>
            <a:r>
              <a:rPr dirty="0"/>
              <a:t> different machine learning models to forecast hourly rental demand and prevent stations from becoming empty or full.</a:t>
            </a:r>
          </a:p>
          <a:p>
            <a:pPr>
              <a:spcAft>
                <a:spcPts val="200"/>
              </a:spcAft>
              <a:defRPr sz="950" b="1">
                <a:solidFill>
                  <a:srgbClr val="64748B"/>
                </a:solidFill>
                <a:latin typeface="Arial"/>
              </a:defRPr>
            </a:pPr>
            <a:r>
              <a:rPr dirty="0"/>
              <a:t>RELEVANT ALGORITHMS:</a:t>
            </a:r>
          </a:p>
          <a:p>
            <a:pPr>
              <a:spcAft>
                <a:spcPts val="1000"/>
              </a:spcAft>
              <a:defRPr sz="1050">
                <a:solidFill>
                  <a:srgbClr val="0F172A"/>
                </a:solidFill>
                <a:latin typeface="Calibri"/>
              </a:defRPr>
            </a:pPr>
            <a:r>
              <a:rPr dirty="0"/>
              <a:t>Random Forest, Gradient Boosting, Decision Tree, MLP</a:t>
            </a:r>
          </a:p>
          <a:p>
            <a:pPr>
              <a:spcAft>
                <a:spcPts val="200"/>
              </a:spcAft>
              <a:defRPr sz="950" b="1">
                <a:solidFill>
                  <a:srgbClr val="0D9488"/>
                </a:solidFill>
                <a:latin typeface="Arial"/>
              </a:defRPr>
            </a:pPr>
            <a:r>
              <a:rPr dirty="0"/>
              <a:t>MODEL FOUND AS BEST:</a:t>
            </a:r>
          </a:p>
          <a:p>
            <a:pPr>
              <a:defRPr sz="1100" b="1">
                <a:solidFill>
                  <a:srgbClr val="0F172A"/>
                </a:solidFill>
                <a:latin typeface="Arial"/>
              </a:defRPr>
            </a:pPr>
            <a:r>
              <a:rPr dirty="0"/>
              <a:t>Random Forest and Gradient Boosting</a:t>
            </a:r>
          </a:p>
        </p:txBody>
      </p:sp>
      <p:sp>
        <p:nvSpPr>
          <p:cNvPr id="8" name="Rectangle 7"/>
          <p:cNvSpPr/>
          <p:nvPr/>
        </p:nvSpPr>
        <p:spPr>
          <a:xfrm>
            <a:off x="4389120" y="1417320"/>
            <a:ext cx="3413455" cy="91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46720" y="1417320"/>
            <a:ext cx="341345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Aft>
                <a:spcPts val="200"/>
              </a:spcAft>
              <a:defRPr sz="1000" b="1">
                <a:solidFill>
                  <a:srgbClr val="D97706"/>
                </a:solidFill>
                <a:latin typeface="Arial"/>
              </a:defRPr>
            </a:pPr>
            <a:r>
              <a:rPr dirty="0"/>
              <a:t>PAPER 3</a:t>
            </a:r>
          </a:p>
          <a:p>
            <a:pPr>
              <a:spcAft>
                <a:spcPts val="200"/>
              </a:spcAft>
              <a:defRPr sz="1400" b="1">
                <a:solidFill>
                  <a:srgbClr val="0F172A"/>
                </a:solidFill>
                <a:latin typeface="Arial"/>
              </a:defRPr>
            </a:pPr>
            <a:r>
              <a:rPr dirty="0"/>
              <a:t>Yao et al. (2024)</a:t>
            </a:r>
          </a:p>
          <a:p>
            <a:pPr>
              <a:spcAft>
                <a:spcPts val="800"/>
              </a:spcAft>
              <a:defRPr sz="1050" i="1">
                <a:solidFill>
                  <a:srgbClr val="0284C7"/>
                </a:solidFill>
                <a:latin typeface="Calibri"/>
              </a:defRPr>
            </a:pPr>
            <a:r>
              <a:rPr dirty="0"/>
              <a:t>"GSTGAT: Gated spatiotemporal graph attention network"</a:t>
            </a:r>
          </a:p>
          <a:p>
            <a:pPr>
              <a:spcAft>
                <a:spcPts val="200"/>
              </a:spcAft>
              <a:defRPr sz="950" b="1">
                <a:solidFill>
                  <a:srgbClr val="64748B"/>
                </a:solidFill>
                <a:latin typeface="Arial"/>
              </a:defRPr>
            </a:pPr>
            <a:r>
              <a:rPr dirty="0"/>
              <a:t>WHAT THE PAPER SAYS:</a:t>
            </a:r>
          </a:p>
          <a:p>
            <a:pPr>
              <a:spcAft>
                <a:spcPts val="800"/>
              </a:spcAft>
              <a:defRPr sz="1050">
                <a:solidFill>
                  <a:srgbClr val="0F172A"/>
                </a:solidFill>
                <a:latin typeface="Calibri"/>
              </a:defRPr>
            </a:pPr>
            <a:r>
              <a:rPr dirty="0"/>
              <a:t>Uses the SF Bay Area dataset to study how demand at one bike station influences neighboring stations across the city network.</a:t>
            </a:r>
          </a:p>
          <a:p>
            <a:pPr>
              <a:spcAft>
                <a:spcPts val="200"/>
              </a:spcAft>
              <a:defRPr sz="950" b="1">
                <a:solidFill>
                  <a:srgbClr val="64748B"/>
                </a:solidFill>
                <a:latin typeface="Arial"/>
              </a:defRPr>
            </a:pPr>
            <a:r>
              <a:rPr dirty="0"/>
              <a:t>RELEVANT ALGORITHMS:</a:t>
            </a:r>
          </a:p>
          <a:p>
            <a:pPr>
              <a:spcAft>
                <a:spcPts val="1000"/>
              </a:spcAft>
              <a:defRPr sz="1050">
                <a:solidFill>
                  <a:srgbClr val="0F172A"/>
                </a:solidFill>
                <a:latin typeface="Calibri"/>
              </a:defRPr>
            </a:pPr>
            <a:r>
              <a:rPr dirty="0"/>
              <a:t>GSTGAT (Graph Attention Network), GRU</a:t>
            </a:r>
            <a:r>
              <a:rPr lang="en-IN" dirty="0"/>
              <a:t>,Random Forest</a:t>
            </a:r>
            <a:endParaRPr dirty="0"/>
          </a:p>
          <a:p>
            <a:pPr>
              <a:spcAft>
                <a:spcPts val="200"/>
              </a:spcAft>
              <a:defRPr sz="950" b="1">
                <a:solidFill>
                  <a:srgbClr val="D97706"/>
                </a:solidFill>
                <a:latin typeface="Arial"/>
              </a:defRPr>
            </a:pPr>
            <a:r>
              <a:rPr dirty="0"/>
              <a:t>MODEL FOUND AS BEST:</a:t>
            </a:r>
          </a:p>
          <a:p>
            <a:pPr>
              <a:defRPr sz="1100" b="1">
                <a:solidFill>
                  <a:srgbClr val="0F172A"/>
                </a:solidFill>
                <a:latin typeface="Arial"/>
              </a:defRPr>
            </a:pPr>
            <a:r>
              <a:rPr dirty="0"/>
              <a:t>GSTGAT model</a:t>
            </a:r>
          </a:p>
        </p:txBody>
      </p:sp>
      <p:sp>
        <p:nvSpPr>
          <p:cNvPr id="10" name="Rectangle 9"/>
          <p:cNvSpPr/>
          <p:nvPr/>
        </p:nvSpPr>
        <p:spPr>
          <a:xfrm>
            <a:off x="8046720" y="1417320"/>
            <a:ext cx="3413455"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9601200" cy="868680"/>
          </a:xfrm>
          <a:prstGeom prst="rect">
            <a:avLst/>
          </a:prstGeom>
          <a:noFill/>
        </p:spPr>
        <p:txBody>
          <a:bodyPr wrap="square" lIns="0" tIns="0" rIns="0" bIns="0">
            <a:spAutoFit/>
          </a:bodyPr>
          <a:lstStyle/>
          <a:p>
            <a:pPr>
              <a:spcAft>
                <a:spcPts val="200"/>
              </a:spcAft>
              <a:defRPr sz="1000" b="1">
                <a:solidFill>
                  <a:srgbClr val="0284C7"/>
                </a:solidFill>
                <a:latin typeface="Arial"/>
              </a:defRPr>
            </a:pPr>
            <a:r>
              <a:t>DATASET INFORMATION  •  STAGE 1: RAW DATA (669,959 ROWS, 12 COLUMNS)</a:t>
            </a:r>
          </a:p>
          <a:p>
            <a:pPr>
              <a:defRPr sz="2100" b="1">
                <a:solidFill>
                  <a:srgbClr val="0F172A"/>
                </a:solidFill>
                <a:latin typeface="Arial"/>
              </a:defRPr>
            </a:pPr>
            <a:r>
              <a:t>About the Dataset</a:t>
            </a:r>
          </a:p>
        </p:txBody>
      </p:sp>
      <p:sp>
        <p:nvSpPr>
          <p:cNvPr id="3" name="TextBox 2"/>
          <p:cNvSpPr txBox="1"/>
          <p:nvPr/>
        </p:nvSpPr>
        <p:spPr>
          <a:xfrm>
            <a:off x="10424160" y="320040"/>
            <a:ext cx="1005840" cy="365760"/>
          </a:xfrm>
          <a:prstGeom prst="rect">
            <a:avLst/>
          </a:prstGeom>
          <a:noFill/>
        </p:spPr>
        <p:txBody>
          <a:bodyPr wrap="none">
            <a:spAutoFit/>
          </a:bodyPr>
          <a:lstStyle/>
          <a:p>
            <a:pPr algn="r">
              <a:defRPr sz="1100" b="1">
                <a:solidFill>
                  <a:srgbClr val="64748B"/>
                </a:solidFill>
                <a:latin typeface="Arial"/>
              </a:defRPr>
            </a:pPr>
            <a:r>
              <a:t>04 / 15</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17320"/>
            <a:ext cx="5120640"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spcAft>
                <a:spcPts val="800"/>
              </a:spcAft>
              <a:defRPr sz="1100" b="1">
                <a:solidFill>
                  <a:srgbClr val="0284C7"/>
                </a:solidFill>
                <a:latin typeface="Arial"/>
              </a:defRPr>
            </a:pPr>
            <a:r>
              <a:rPr sz="1600" dirty="0"/>
              <a:t>DATASET SUMMARY</a:t>
            </a:r>
          </a:p>
          <a:p>
            <a:pPr>
              <a:spcAft>
                <a:spcPts val="400"/>
              </a:spcAft>
              <a:defRPr sz="1000" b="1">
                <a:solidFill>
                  <a:srgbClr val="0F172A"/>
                </a:solidFill>
                <a:latin typeface="Arial"/>
              </a:defRPr>
            </a:pPr>
            <a:r>
              <a:rPr dirty="0"/>
              <a:t>• Dataset Source: </a:t>
            </a:r>
            <a:r>
              <a:rPr sz="1000" b="0" dirty="0">
                <a:solidFill>
                  <a:srgbClr val="334155"/>
                </a:solidFill>
                <a:latin typeface="Calibri"/>
              </a:rPr>
              <a:t>SF Bay Area Bike Share Dataset (trip.csv)</a:t>
            </a:r>
          </a:p>
          <a:p>
            <a:pPr>
              <a:spcAft>
                <a:spcPts val="400"/>
              </a:spcAft>
              <a:defRPr sz="1000" b="1">
                <a:solidFill>
                  <a:srgbClr val="0F172A"/>
                </a:solidFill>
                <a:latin typeface="Arial"/>
              </a:defRPr>
            </a:pPr>
            <a:r>
              <a:rPr dirty="0"/>
              <a:t>• Total</a:t>
            </a:r>
            <a:r>
              <a:rPr lang="en-IN" dirty="0"/>
              <a:t> </a:t>
            </a:r>
            <a:r>
              <a:rPr dirty="0"/>
              <a:t>Records: </a:t>
            </a:r>
            <a:r>
              <a:rPr sz="1000" b="0" dirty="0">
                <a:solidFill>
                  <a:srgbClr val="334155"/>
                </a:solidFill>
                <a:latin typeface="Calibri"/>
              </a:rPr>
              <a:t>669,959 trip departure transactions</a:t>
            </a:r>
          </a:p>
          <a:p>
            <a:pPr>
              <a:spcAft>
                <a:spcPts val="400"/>
              </a:spcAft>
              <a:defRPr sz="1000" b="1">
                <a:solidFill>
                  <a:srgbClr val="0F172A"/>
                </a:solidFill>
                <a:latin typeface="Arial"/>
              </a:defRPr>
            </a:pPr>
            <a:r>
              <a:rPr dirty="0"/>
              <a:t>• Total Columns: </a:t>
            </a:r>
            <a:r>
              <a:rPr sz="1000" b="0" dirty="0">
                <a:solidFill>
                  <a:srgbClr val="334155"/>
                </a:solidFill>
                <a:latin typeface="Calibri"/>
              </a:rPr>
              <a:t>12 columns (receipts, timestamps, dock IDs, user type)</a:t>
            </a:r>
          </a:p>
          <a:p>
            <a:pPr>
              <a:spcAft>
                <a:spcPts val="400"/>
              </a:spcAft>
              <a:defRPr sz="1000" b="1">
                <a:solidFill>
                  <a:srgbClr val="0F172A"/>
                </a:solidFill>
                <a:latin typeface="Arial"/>
              </a:defRPr>
            </a:pPr>
            <a:r>
              <a:rPr dirty="0"/>
              <a:t>• Time Span: </a:t>
            </a:r>
            <a:r>
              <a:rPr sz="1000" b="0" dirty="0">
                <a:solidFill>
                  <a:srgbClr val="334155"/>
                </a:solidFill>
                <a:latin typeface="Calibri"/>
              </a:rPr>
              <a:t>Aug 29, 2013 to Aug 31, 2015 (733 days / ~2 full years)</a:t>
            </a:r>
          </a:p>
          <a:p>
            <a:pPr>
              <a:spcAft>
                <a:spcPts val="400"/>
              </a:spcAft>
              <a:defRPr sz="1000" b="1">
                <a:solidFill>
                  <a:srgbClr val="0F172A"/>
                </a:solidFill>
                <a:latin typeface="Arial"/>
              </a:defRPr>
            </a:pPr>
            <a:r>
              <a:rPr dirty="0"/>
              <a:t>• Active Stations: </a:t>
            </a:r>
            <a:r>
              <a:rPr sz="1000" b="0" dirty="0">
                <a:solidFill>
                  <a:srgbClr val="334155"/>
                </a:solidFill>
                <a:latin typeface="Calibri"/>
              </a:rPr>
              <a:t>70 unique docking stations across the region</a:t>
            </a:r>
          </a:p>
          <a:p>
            <a:pPr>
              <a:spcAft>
                <a:spcPts val="400"/>
              </a:spcAft>
              <a:defRPr sz="1000" b="1">
                <a:solidFill>
                  <a:srgbClr val="0F172A"/>
                </a:solidFill>
                <a:latin typeface="Arial"/>
              </a:defRPr>
            </a:pPr>
            <a:r>
              <a:rPr dirty="0"/>
              <a:t>• Target Variable: </a:t>
            </a:r>
            <a:r>
              <a:rPr sz="1000" b="0" dirty="0">
                <a:solidFill>
                  <a:srgbClr val="334155"/>
                </a:solidFill>
                <a:latin typeface="Calibri"/>
              </a:rPr>
              <a:t>Hourly demand = number of bike trips starting from a station during an hour.</a:t>
            </a:r>
          </a:p>
        </p:txBody>
      </p:sp>
      <p:pic>
        <p:nvPicPr>
          <p:cNvPr id="6" name="Picture 5" descr="fig_3_1_shape_dtypes.png"/>
          <p:cNvPicPr>
            <a:picLocks noChangeAspect="1"/>
          </p:cNvPicPr>
          <p:nvPr/>
        </p:nvPicPr>
        <p:blipFill>
          <a:blip r:embed="rId3"/>
          <a:stretch>
            <a:fillRect/>
          </a:stretch>
        </p:blipFill>
        <p:spPr>
          <a:xfrm>
            <a:off x="6035040" y="1417320"/>
            <a:ext cx="5394960" cy="2377440"/>
          </a:xfrm>
          <a:prstGeom prst="rect">
            <a:avLst/>
          </a:prstGeom>
        </p:spPr>
      </p:pic>
      <p:pic>
        <p:nvPicPr>
          <p:cNvPr id="7" name="Picture 6" descr="fig_3_3_first_10_records.png"/>
          <p:cNvPicPr>
            <a:picLocks noChangeAspect="1"/>
          </p:cNvPicPr>
          <p:nvPr/>
        </p:nvPicPr>
        <p:blipFill>
          <a:blip r:embed="rId4"/>
          <a:stretch>
            <a:fillRect/>
          </a:stretch>
        </p:blipFill>
        <p:spPr>
          <a:xfrm>
            <a:off x="6035040" y="3977639"/>
            <a:ext cx="5394960" cy="24688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9601200" cy="868680"/>
          </a:xfrm>
          <a:prstGeom prst="rect">
            <a:avLst/>
          </a:prstGeom>
          <a:noFill/>
        </p:spPr>
        <p:txBody>
          <a:bodyPr wrap="square" lIns="0" tIns="0" rIns="0" bIns="0">
            <a:spAutoFit/>
          </a:bodyPr>
          <a:lstStyle/>
          <a:p>
            <a:pPr>
              <a:spcAft>
                <a:spcPts val="200"/>
              </a:spcAft>
              <a:defRPr sz="1000" b="1">
                <a:solidFill>
                  <a:srgbClr val="0284C7"/>
                </a:solidFill>
                <a:latin typeface="Arial"/>
              </a:defRPr>
            </a:pPr>
            <a:r>
              <a:t>DATA INSIGHTS  •  QUALITY &amp; COMMUTER BEHAVIOR</a:t>
            </a:r>
          </a:p>
          <a:p>
            <a:pPr>
              <a:defRPr sz="2100" b="1">
                <a:solidFill>
                  <a:srgbClr val="0F172A"/>
                </a:solidFill>
                <a:latin typeface="Arial"/>
              </a:defRPr>
            </a:pPr>
            <a:r>
              <a:t>Exploratory Data Analysis (EDA)</a:t>
            </a:r>
          </a:p>
        </p:txBody>
      </p:sp>
      <p:sp>
        <p:nvSpPr>
          <p:cNvPr id="3" name="TextBox 2"/>
          <p:cNvSpPr txBox="1"/>
          <p:nvPr/>
        </p:nvSpPr>
        <p:spPr>
          <a:xfrm>
            <a:off x="10424160" y="320040"/>
            <a:ext cx="1005840" cy="365760"/>
          </a:xfrm>
          <a:prstGeom prst="rect">
            <a:avLst/>
          </a:prstGeom>
          <a:noFill/>
        </p:spPr>
        <p:txBody>
          <a:bodyPr wrap="none">
            <a:spAutoFit/>
          </a:bodyPr>
          <a:lstStyle/>
          <a:p>
            <a:pPr algn="r">
              <a:defRPr sz="1100" b="1">
                <a:solidFill>
                  <a:srgbClr val="64748B"/>
                </a:solidFill>
                <a:latin typeface="Arial"/>
              </a:defRPr>
            </a:pPr>
            <a:r>
              <a:t>05 / 15</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17320"/>
            <a:ext cx="5120640" cy="2377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Aft>
                <a:spcPts val="400"/>
              </a:spcAft>
              <a:defRPr sz="1050" b="1">
                <a:solidFill>
                  <a:srgbClr val="0284C7"/>
                </a:solidFill>
                <a:latin typeface="Arial"/>
              </a:defRPr>
            </a:pPr>
            <a:r>
              <a:rPr dirty="0"/>
              <a:t>DATA QUALITY AUDIT (669,959 TRIPS)</a:t>
            </a:r>
          </a:p>
          <a:p>
            <a:pPr>
              <a:spcAft>
                <a:spcPts val="200"/>
              </a:spcAft>
              <a:defRPr sz="1050">
                <a:solidFill>
                  <a:srgbClr val="0F172A"/>
                </a:solidFill>
                <a:latin typeface="Calibri"/>
              </a:defRPr>
            </a:pPr>
            <a:r>
              <a:rPr dirty="0"/>
              <a:t>• Missing Values: Only 6,619 in </a:t>
            </a:r>
            <a:r>
              <a:rPr dirty="0" err="1"/>
              <a:t>zip_code</a:t>
            </a:r>
            <a:r>
              <a:rPr dirty="0"/>
              <a:t> , an optional input field. All other 11 columns have 0 missing values.</a:t>
            </a:r>
          </a:p>
          <a:p>
            <a:pPr>
              <a:spcAft>
                <a:spcPts val="200"/>
              </a:spcAft>
              <a:defRPr sz="1050">
                <a:solidFill>
                  <a:srgbClr val="0F172A"/>
                </a:solidFill>
                <a:latin typeface="Calibri"/>
              </a:defRPr>
            </a:pPr>
            <a:r>
              <a:rPr dirty="0"/>
              <a:t>• Duplicate Rows: Exactly 0 duplicate rows detected in the entire dataset.</a:t>
            </a:r>
          </a:p>
          <a:p>
            <a:pPr>
              <a:spcAft>
                <a:spcPts val="200"/>
              </a:spcAft>
              <a:defRPr sz="1050">
                <a:solidFill>
                  <a:srgbClr val="0F172A"/>
                </a:solidFill>
                <a:latin typeface="Calibri"/>
              </a:defRPr>
            </a:pPr>
            <a:r>
              <a:rPr dirty="0"/>
              <a:t>• Active Network: 70 unique docking stations across the Bay Area.</a:t>
            </a:r>
          </a:p>
          <a:p>
            <a:pPr>
              <a:spcAft>
                <a:spcPts val="200"/>
              </a:spcAft>
              <a:defRPr sz="1050">
                <a:solidFill>
                  <a:srgbClr val="0F172A"/>
                </a:solidFill>
                <a:latin typeface="Calibri"/>
              </a:defRPr>
            </a:pPr>
            <a:r>
              <a:rPr dirty="0"/>
              <a:t>• User Categories: 84% Annual Subscribers (daily </a:t>
            </a:r>
            <a:r>
              <a:rPr lang="en-IN" dirty="0"/>
              <a:t>customers</a:t>
            </a:r>
            <a:r>
              <a:rPr dirty="0"/>
              <a:t>) and 16% Casual Customers (tourists/</a:t>
            </a:r>
            <a:r>
              <a:rPr lang="en-IN" dirty="0"/>
              <a:t>casual users</a:t>
            </a:r>
            <a:r>
              <a:rPr dirty="0"/>
              <a:t>).</a:t>
            </a:r>
          </a:p>
        </p:txBody>
      </p:sp>
      <p:sp>
        <p:nvSpPr>
          <p:cNvPr id="6" name="Rounded Rectangle 5"/>
          <p:cNvSpPr/>
          <p:nvPr/>
        </p:nvSpPr>
        <p:spPr>
          <a:xfrm>
            <a:off x="731520" y="3977639"/>
            <a:ext cx="5120640" cy="2468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Aft>
                <a:spcPts val="400"/>
              </a:spcAft>
              <a:defRPr sz="1050" b="1">
                <a:solidFill>
                  <a:srgbClr val="0D9488"/>
                </a:solidFill>
                <a:latin typeface="Arial"/>
              </a:defRPr>
            </a:pPr>
            <a:r>
              <a:rPr dirty="0"/>
              <a:t>RIDER BEHAVIOR PATTERNS</a:t>
            </a:r>
          </a:p>
          <a:p>
            <a:pPr>
              <a:spcAft>
                <a:spcPts val="300"/>
              </a:spcAft>
              <a:defRPr sz="1000">
                <a:solidFill>
                  <a:srgbClr val="0F172A"/>
                </a:solidFill>
                <a:latin typeface="Calibri"/>
              </a:defRPr>
            </a:pPr>
            <a:r>
              <a:rPr dirty="0"/>
              <a:t>• Weekdays (Mon–Fri): Two sharp commuter rush hour peaks — Morning (8:00 AM) and Evening (5:00 PM).</a:t>
            </a:r>
          </a:p>
          <a:p>
            <a:pPr>
              <a:spcAft>
                <a:spcPts val="300"/>
              </a:spcAft>
              <a:defRPr sz="1000">
                <a:solidFill>
                  <a:srgbClr val="0F172A"/>
                </a:solidFill>
                <a:latin typeface="Calibri"/>
              </a:defRPr>
            </a:pPr>
            <a:r>
              <a:rPr dirty="0"/>
              <a:t>• Weekends (Sat–Sun): Rush hour peaks vanish completely. Demand forms a gentle recreational curve peaking between 12:00 PM and 3:00 PM.</a:t>
            </a:r>
          </a:p>
          <a:p>
            <a:pPr>
              <a:spcAft>
                <a:spcPts val="300"/>
              </a:spcAft>
              <a:defRPr sz="1000">
                <a:solidFill>
                  <a:srgbClr val="0F172A"/>
                </a:solidFill>
                <a:latin typeface="Calibri"/>
              </a:defRPr>
            </a:pPr>
            <a:r>
              <a:rPr dirty="0"/>
              <a:t>• Station Volumes: SF Caltrain recorded the highest demand with</a:t>
            </a:r>
            <a:r>
              <a:rPr lang="en-IN" dirty="0"/>
              <a:t> </a:t>
            </a:r>
            <a:r>
              <a:rPr dirty="0"/>
              <a:t>49,000+ trip departures</a:t>
            </a:r>
            <a:r>
              <a:rPr lang="en-IN" dirty="0"/>
              <a:t>.</a:t>
            </a:r>
            <a:endParaRPr dirty="0"/>
          </a:p>
        </p:txBody>
      </p:sp>
      <p:pic>
        <p:nvPicPr>
          <p:cNvPr id="7" name="Picture 6" descr="hourly_demand.png"/>
          <p:cNvPicPr>
            <a:picLocks noChangeAspect="1"/>
          </p:cNvPicPr>
          <p:nvPr/>
        </p:nvPicPr>
        <p:blipFill>
          <a:blip r:embed="rId3"/>
          <a:stretch>
            <a:fillRect/>
          </a:stretch>
        </p:blipFill>
        <p:spPr>
          <a:xfrm>
            <a:off x="6035040" y="1417320"/>
            <a:ext cx="5394960" cy="2423160"/>
          </a:xfrm>
          <a:prstGeom prst="rect">
            <a:avLst/>
          </a:prstGeom>
        </p:spPr>
      </p:pic>
      <p:pic>
        <p:nvPicPr>
          <p:cNvPr id="8" name="Picture 7" descr="weekday_demand.png"/>
          <p:cNvPicPr>
            <a:picLocks noChangeAspect="1"/>
          </p:cNvPicPr>
          <p:nvPr/>
        </p:nvPicPr>
        <p:blipFill>
          <a:blip r:embed="rId4"/>
          <a:stretch>
            <a:fillRect/>
          </a:stretch>
        </p:blipFill>
        <p:spPr>
          <a:xfrm>
            <a:off x="6035040" y="3977639"/>
            <a:ext cx="5394960" cy="24688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9601200" cy="868680"/>
          </a:xfrm>
          <a:prstGeom prst="rect">
            <a:avLst/>
          </a:prstGeom>
          <a:noFill/>
        </p:spPr>
        <p:txBody>
          <a:bodyPr wrap="square" lIns="0" tIns="0" rIns="0" bIns="0">
            <a:spAutoFit/>
          </a:bodyPr>
          <a:lstStyle/>
          <a:p>
            <a:pPr>
              <a:spcAft>
                <a:spcPts val="200"/>
              </a:spcAft>
              <a:defRPr sz="1000" b="1">
                <a:solidFill>
                  <a:srgbClr val="0284C7"/>
                </a:solidFill>
                <a:latin typeface="Arial"/>
              </a:defRPr>
            </a:pPr>
            <a:r>
              <a:t>DATA PREPARATION  •  STAGE 2: GRID EXPANSION (1,230,810 ROWS)</a:t>
            </a:r>
          </a:p>
          <a:p>
            <a:pPr>
              <a:defRPr sz="2100" b="1">
                <a:solidFill>
                  <a:srgbClr val="0F172A"/>
                </a:solidFill>
                <a:latin typeface="Arial"/>
              </a:defRPr>
            </a:pPr>
            <a:r>
              <a:t>Data Preprocessing: Solving the Zero-Demand Problem</a:t>
            </a:r>
          </a:p>
        </p:txBody>
      </p:sp>
      <p:sp>
        <p:nvSpPr>
          <p:cNvPr id="3" name="TextBox 2"/>
          <p:cNvSpPr txBox="1"/>
          <p:nvPr/>
        </p:nvSpPr>
        <p:spPr>
          <a:xfrm>
            <a:off x="10424160" y="320040"/>
            <a:ext cx="1005840" cy="365760"/>
          </a:xfrm>
          <a:prstGeom prst="rect">
            <a:avLst/>
          </a:prstGeom>
          <a:noFill/>
        </p:spPr>
        <p:txBody>
          <a:bodyPr wrap="none">
            <a:spAutoFit/>
          </a:bodyPr>
          <a:lstStyle/>
          <a:p>
            <a:pPr algn="r">
              <a:defRPr sz="1100" b="1">
                <a:solidFill>
                  <a:srgbClr val="64748B"/>
                </a:solidFill>
                <a:latin typeface="Arial"/>
              </a:defRPr>
            </a:pPr>
            <a:r>
              <a:t>06 / 15</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17320"/>
            <a:ext cx="2578608"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46304" tIns="164592" rIns="146304" rtlCol="0" anchor="ctr"/>
          <a:lstStyle/>
          <a:p>
            <a:pPr algn="ctr">
              <a:spcAft>
                <a:spcPts val="200"/>
              </a:spcAft>
              <a:defRPr sz="900" b="1">
                <a:solidFill>
                  <a:srgbClr val="0284C7"/>
                </a:solidFill>
                <a:latin typeface="Arial"/>
              </a:defRPr>
            </a:pPr>
            <a:r>
              <a:t>STEP 1: HOURLY ROUNDING</a:t>
            </a:r>
          </a:p>
          <a:p>
            <a:pPr>
              <a:spcAft>
                <a:spcPts val="400"/>
              </a:spcAft>
              <a:defRPr sz="1150" b="1">
                <a:solidFill>
                  <a:srgbClr val="0F172A"/>
                </a:solidFill>
                <a:latin typeface="Arial"/>
              </a:defRPr>
            </a:pPr>
            <a:r>
              <a:t>Rounding Datetime to Hour</a:t>
            </a:r>
          </a:p>
          <a:p>
            <a:pPr>
              <a:spcAft>
                <a:spcPts val="500"/>
              </a:spcAft>
              <a:defRPr sz="950">
                <a:solidFill>
                  <a:srgbClr val="0F172A"/>
                </a:solidFill>
                <a:latin typeface="Calibri"/>
              </a:defRPr>
            </a:pPr>
            <a:r>
              <a:t>WHAT IS IT?</a:t>
            </a:r>
            <a:br/>
            <a:r>
              <a:t>Round the exact start datetime down to the beginning of that hour:</a:t>
            </a:r>
            <a:br/>
            <a:r>
              <a:t>2013-08-29 09:08:24  →  2013-08-29 09:00:00</a:t>
            </a:r>
            <a:br/>
            <a:r>
              <a:t>2013-08-29 09:35:10  →  2013-08-29 09:00:00</a:t>
            </a:r>
          </a:p>
          <a:p>
            <a:pPr>
              <a:defRPr sz="950">
                <a:solidFill>
                  <a:srgbClr val="334155"/>
                </a:solidFill>
                <a:latin typeface="Calibri"/>
              </a:defRPr>
            </a:pPr>
            <a:r>
              <a:t>WHY DO WE USE IT?</a:t>
            </a:r>
            <a:br/>
            <a:r>
              <a:t>Individual trips have different seconds. Rounding allows us to group and count all trips that started in that hour.</a:t>
            </a:r>
          </a:p>
        </p:txBody>
      </p:sp>
      <p:sp>
        <p:nvSpPr>
          <p:cNvPr id="6" name="Rectangle 5"/>
          <p:cNvSpPr/>
          <p:nvPr/>
        </p:nvSpPr>
        <p:spPr>
          <a:xfrm>
            <a:off x="731520" y="1417320"/>
            <a:ext cx="2578608"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456432" y="1417320"/>
            <a:ext cx="2578608"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46304" tIns="164592" rIns="146304" rtlCol="0" anchor="ctr"/>
          <a:lstStyle/>
          <a:p>
            <a:pPr algn="ctr">
              <a:spcAft>
                <a:spcPts val="200"/>
              </a:spcAft>
              <a:defRPr sz="900" b="1">
                <a:solidFill>
                  <a:srgbClr val="E11D48"/>
                </a:solidFill>
                <a:latin typeface="Arial"/>
              </a:defRPr>
            </a:pPr>
            <a:r>
              <a:t>STEP 2: THE PROBLEM</a:t>
            </a:r>
          </a:p>
          <a:p>
            <a:pPr>
              <a:spcAft>
                <a:spcPts val="400"/>
              </a:spcAft>
              <a:defRPr sz="1150" b="1">
                <a:solidFill>
                  <a:srgbClr val="0F172A"/>
                </a:solidFill>
                <a:latin typeface="Arial"/>
              </a:defRPr>
            </a:pPr>
            <a:r>
              <a:t>The Zero-Demand Problem</a:t>
            </a:r>
          </a:p>
          <a:p>
            <a:pPr>
              <a:spcAft>
                <a:spcPts val="500"/>
              </a:spcAft>
              <a:defRPr sz="950">
                <a:solidFill>
                  <a:srgbClr val="0F172A"/>
                </a:solidFill>
                <a:latin typeface="Calibri"/>
              </a:defRPr>
            </a:pPr>
            <a:r>
              <a:t>WHAT IS IT?</a:t>
            </a:r>
            <a:br/>
            <a:r>
              <a:t>In raw logs, if nobody rents a bike at Station #12 at 3:00 AM, NO row is recorded.</a:t>
            </a:r>
          </a:p>
          <a:p>
            <a:pPr>
              <a:defRPr sz="950">
                <a:solidFill>
                  <a:srgbClr val="334155"/>
                </a:solidFill>
                <a:latin typeface="Calibri"/>
              </a:defRPr>
            </a:pPr>
            <a:r>
              <a:t>WHY IS THIS DANGEROUS?</a:t>
            </a:r>
            <a:br/>
            <a:r>
              <a:t>If we only train on hours when rides occurred, the model never learns when demand is 0! It will severely over-predict nighttime demand.</a:t>
            </a:r>
          </a:p>
        </p:txBody>
      </p:sp>
      <p:sp>
        <p:nvSpPr>
          <p:cNvPr id="8" name="Rectangle 7"/>
          <p:cNvSpPr/>
          <p:nvPr/>
        </p:nvSpPr>
        <p:spPr>
          <a:xfrm>
            <a:off x="3456432" y="1417320"/>
            <a:ext cx="2578608" cy="9144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181344" y="1417320"/>
            <a:ext cx="2578608"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46304" tIns="164592" rIns="146304" rtlCol="0" anchor="ctr"/>
          <a:lstStyle/>
          <a:p>
            <a:pPr algn="ctr">
              <a:spcAft>
                <a:spcPts val="200"/>
              </a:spcAft>
              <a:defRPr sz="900" b="1">
                <a:solidFill>
                  <a:srgbClr val="0D9488"/>
                </a:solidFill>
                <a:latin typeface="Arial"/>
              </a:defRPr>
            </a:pPr>
            <a:r>
              <a:t>STEP 3: COMPLETE TIMELINE</a:t>
            </a:r>
          </a:p>
          <a:p>
            <a:pPr>
              <a:spcAft>
                <a:spcPts val="400"/>
              </a:spcAft>
              <a:defRPr sz="1150" b="1">
                <a:solidFill>
                  <a:srgbClr val="0F172A"/>
                </a:solidFill>
                <a:latin typeface="Arial"/>
              </a:defRPr>
            </a:pPr>
            <a:r>
              <a:t>Grid Expansion (70 × 17,583)</a:t>
            </a:r>
          </a:p>
          <a:p>
            <a:pPr>
              <a:spcAft>
                <a:spcPts val="500"/>
              </a:spcAft>
              <a:defRPr sz="950">
                <a:solidFill>
                  <a:srgbClr val="0F172A"/>
                </a:solidFill>
                <a:latin typeface="Calibri"/>
              </a:defRPr>
            </a:pPr>
            <a:r>
              <a:t>WHY MULTIPLY 70 × 17,583?</a:t>
            </a:r>
            <a:br/>
            <a:r>
              <a:t>Stations exist even when 0 rides occur. In raw logs, quiet hours have no record. To teach the model when demand is 0, we create a record for EVERY station at EVERY hour across the 2 years:</a:t>
            </a:r>
            <a:br/>
            <a:r>
              <a:t>70 stations × 17,583 hours = 1,230,810 station-hour records.</a:t>
            </a:r>
          </a:p>
          <a:p>
            <a:pPr>
              <a:defRPr sz="950">
                <a:solidFill>
                  <a:srgbClr val="334155"/>
                </a:solidFill>
                <a:latin typeface="Calibri"/>
              </a:defRPr>
            </a:pPr>
            <a:r>
              <a:t>ZERO-FILLING:</a:t>
            </a:r>
            <a:br/>
            <a:r>
              <a:t>Hours with trips get their actual count; quiet hours get demand = 0.</a:t>
            </a:r>
          </a:p>
        </p:txBody>
      </p:sp>
      <p:sp>
        <p:nvSpPr>
          <p:cNvPr id="10" name="Rectangle 9"/>
          <p:cNvSpPr/>
          <p:nvPr/>
        </p:nvSpPr>
        <p:spPr>
          <a:xfrm>
            <a:off x="6181344" y="1417320"/>
            <a:ext cx="2578608" cy="91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906256" y="1417320"/>
            <a:ext cx="2578608"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46304" tIns="164592" rIns="146304" rtlCol="0" anchor="ctr"/>
          <a:lstStyle/>
          <a:p>
            <a:pPr algn="ctr">
              <a:spcAft>
                <a:spcPts val="200"/>
              </a:spcAft>
              <a:defRPr sz="900" b="1">
                <a:solidFill>
                  <a:srgbClr val="D97706"/>
                </a:solidFill>
                <a:latin typeface="Arial"/>
              </a:defRPr>
            </a:pPr>
            <a:r>
              <a:t>STEP 4: EVENT CALENDAR</a:t>
            </a:r>
          </a:p>
          <a:p>
            <a:pPr>
              <a:spcAft>
                <a:spcPts val="400"/>
              </a:spcAft>
              <a:defRPr sz="1150" b="1">
                <a:solidFill>
                  <a:srgbClr val="0F172A"/>
                </a:solidFill>
                <a:latin typeface="Arial"/>
              </a:defRPr>
            </a:pPr>
            <a:r>
              <a:t>Adding Special Events</a:t>
            </a:r>
          </a:p>
          <a:p>
            <a:pPr>
              <a:spcAft>
                <a:spcPts val="500"/>
              </a:spcAft>
              <a:defRPr sz="950">
                <a:solidFill>
                  <a:srgbClr val="0F172A"/>
                </a:solidFill>
                <a:latin typeface="Calibri"/>
              </a:defRPr>
            </a:pPr>
            <a:r>
              <a:t>WHAT IS IT?</a:t>
            </a:r>
            <a:br/>
            <a:r>
              <a:t>Extracted holiday and festival dates from trip.csv into a calendar lookup dictionary.</a:t>
            </a:r>
          </a:p>
          <a:p>
            <a:pPr>
              <a:defRPr sz="950">
                <a:solidFill>
                  <a:srgbClr val="334155"/>
                </a:solidFill>
                <a:latin typeface="Calibri"/>
              </a:defRPr>
            </a:pPr>
            <a:r>
              <a:t>WHY DO WE USE IT?</a:t>
            </a:r>
            <a:br/>
            <a:r>
              <a:t>Every newly added 0-demand station-hour row correctly inherits its holiday label (e.g. Halloween, Christmas).</a:t>
            </a:r>
          </a:p>
        </p:txBody>
      </p:sp>
      <p:sp>
        <p:nvSpPr>
          <p:cNvPr id="12" name="Rectangle 11"/>
          <p:cNvSpPr/>
          <p:nvPr/>
        </p:nvSpPr>
        <p:spPr>
          <a:xfrm>
            <a:off x="8906256" y="1417320"/>
            <a:ext cx="2578608"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31520" y="5486400"/>
            <a:ext cx="10728655" cy="914400"/>
          </a:xfrm>
          <a:prstGeom prst="roundRect">
            <a:avLst/>
          </a:prstGeom>
          <a:solidFill>
            <a:srgbClr val="F1F5F9"/>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wrap="square" lIns="228600" tIns="137160" rtlCol="0" anchor="ctr"/>
          <a:lstStyle/>
          <a:p>
            <a:pPr algn="ctr">
              <a:defRPr sz="1050" b="1">
                <a:solidFill>
                  <a:srgbClr val="0284C7"/>
                </a:solidFill>
                <a:latin typeface="Arial"/>
              </a:defRPr>
            </a:pPr>
            <a:r>
              <a:t>STAGE 2 SUMMARY (ROW COUNT PROGRESSION):</a:t>
            </a:r>
          </a:p>
          <a:p>
            <a:pPr>
              <a:defRPr sz="1050" b="1">
                <a:solidFill>
                  <a:srgbClr val="0F172A"/>
                </a:solidFill>
                <a:latin typeface="Calibri"/>
              </a:defRPr>
            </a:pPr>
            <a:r>
              <a:t>Expanded raw 669,959 individual trips into 1,230,810 station-hour records (70 stations × 17,583 hourly timestamps). Features: 3 base columns (station_id, hour_timestamp, demand). Inactive hours now have demand = 0, teaching the model when stations are idle.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9601200" cy="868680"/>
          </a:xfrm>
          <a:prstGeom prst="rect">
            <a:avLst/>
          </a:prstGeom>
          <a:noFill/>
        </p:spPr>
        <p:txBody>
          <a:bodyPr wrap="square" lIns="0" tIns="0" rIns="0" bIns="0">
            <a:spAutoFit/>
          </a:bodyPr>
          <a:lstStyle/>
          <a:p>
            <a:pPr>
              <a:spcAft>
                <a:spcPts val="200"/>
              </a:spcAft>
              <a:defRPr sz="1000" b="1">
                <a:solidFill>
                  <a:srgbClr val="0284C7"/>
                </a:solidFill>
                <a:latin typeface="Arial"/>
              </a:defRPr>
            </a:pPr>
            <a:r>
              <a:t>DATA PREPROCESSING  •  STAGE 3: COLUMN SELECTION (12 RAW COLUMNS FILTERED)</a:t>
            </a:r>
          </a:p>
          <a:p>
            <a:pPr>
              <a:defRPr sz="2100" b="1">
                <a:solidFill>
                  <a:srgbClr val="0F172A"/>
                </a:solidFill>
                <a:latin typeface="Arial"/>
              </a:defRPr>
            </a:pPr>
            <a:r>
              <a:t>Raw Dataset Columns (Why Kept or Removed)</a:t>
            </a:r>
          </a:p>
        </p:txBody>
      </p:sp>
      <p:sp>
        <p:nvSpPr>
          <p:cNvPr id="3" name="TextBox 2"/>
          <p:cNvSpPr txBox="1"/>
          <p:nvPr/>
        </p:nvSpPr>
        <p:spPr>
          <a:xfrm>
            <a:off x="10424160" y="320040"/>
            <a:ext cx="1005840" cy="365760"/>
          </a:xfrm>
          <a:prstGeom prst="rect">
            <a:avLst/>
          </a:prstGeom>
          <a:noFill/>
        </p:spPr>
        <p:txBody>
          <a:bodyPr wrap="none">
            <a:spAutoFit/>
          </a:bodyPr>
          <a:lstStyle/>
          <a:p>
            <a:pPr algn="r">
              <a:defRPr sz="1100" b="1">
                <a:solidFill>
                  <a:srgbClr val="64748B"/>
                </a:solidFill>
                <a:latin typeface="Arial"/>
              </a:defRPr>
            </a:pPr>
            <a:r>
              <a:t>07 / 15</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731520" y="1371600"/>
          <a:ext cx="10728655" cy="431761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3413455">
                  <a:extLst>
                    <a:ext uri="{9D8B030D-6E8A-4147-A177-3AD203B41FA5}">
                      <a16:colId xmlns:a16="http://schemas.microsoft.com/office/drawing/2014/main" val="20004"/>
                    </a:ext>
                  </a:extLst>
                </a:gridCol>
              </a:tblGrid>
              <a:tr h="330590">
                <a:tc>
                  <a:txBody>
                    <a:bodyPr/>
                    <a:lstStyle/>
                    <a:p>
                      <a:pPr>
                        <a:defRPr sz="950" b="1">
                          <a:solidFill>
                            <a:srgbClr val="FFFFFF"/>
                          </a:solidFill>
                          <a:latin typeface="Arial"/>
                        </a:defRPr>
                      </a:pPr>
                      <a:r>
                        <a:t>Column Name</a:t>
                      </a:r>
                    </a:p>
                  </a:txBody>
                  <a:tcPr>
                    <a:solidFill>
                      <a:srgbClr val="1E293B"/>
                    </a:solidFill>
                  </a:tcPr>
                </a:tc>
                <a:tc>
                  <a:txBody>
                    <a:bodyPr/>
                    <a:lstStyle/>
                    <a:p>
                      <a:pPr>
                        <a:defRPr sz="950" b="1">
                          <a:solidFill>
                            <a:srgbClr val="FFFFFF"/>
                          </a:solidFill>
                          <a:latin typeface="Arial"/>
                        </a:defRPr>
                      </a:pPr>
                      <a:r>
                        <a:t>Data Type</a:t>
                      </a:r>
                    </a:p>
                  </a:txBody>
                  <a:tcPr>
                    <a:solidFill>
                      <a:srgbClr val="1E293B"/>
                    </a:solidFill>
                  </a:tcPr>
                </a:tc>
                <a:tc>
                  <a:txBody>
                    <a:bodyPr/>
                    <a:lstStyle/>
                    <a:p>
                      <a:pPr>
                        <a:defRPr sz="950" b="1">
                          <a:solidFill>
                            <a:srgbClr val="FFFFFF"/>
                          </a:solidFill>
                          <a:latin typeface="Arial"/>
                        </a:defRPr>
                      </a:pPr>
                      <a:r>
                        <a:t>Meaning</a:t>
                      </a:r>
                    </a:p>
                  </a:txBody>
                  <a:tcPr>
                    <a:solidFill>
                      <a:srgbClr val="1E293B"/>
                    </a:solidFill>
                  </a:tcPr>
                </a:tc>
                <a:tc>
                  <a:txBody>
                    <a:bodyPr/>
                    <a:lstStyle/>
                    <a:p>
                      <a:pPr>
                        <a:defRPr sz="950" b="1">
                          <a:solidFill>
                            <a:srgbClr val="FFFFFF"/>
                          </a:solidFill>
                          <a:latin typeface="Arial"/>
                        </a:defRPr>
                      </a:pPr>
                      <a:r>
                        <a:t>Example Value</a:t>
                      </a:r>
                    </a:p>
                  </a:txBody>
                  <a:tcPr>
                    <a:solidFill>
                      <a:srgbClr val="1E293B"/>
                    </a:solidFill>
                  </a:tcPr>
                </a:tc>
                <a:tc>
                  <a:txBody>
                    <a:bodyPr/>
                    <a:lstStyle/>
                    <a:p>
                      <a:pPr>
                        <a:defRPr sz="950" b="1">
                          <a:solidFill>
                            <a:srgbClr val="FFFFFF"/>
                          </a:solidFill>
                          <a:latin typeface="Arial"/>
                        </a:defRPr>
                      </a:pPr>
                      <a:r>
                        <a:t>Decision &amp; Simple Reason</a:t>
                      </a:r>
                    </a:p>
                  </a:txBody>
                  <a:tcPr>
                    <a:solidFill>
                      <a:srgbClr val="1E293B"/>
                    </a:solidFill>
                  </a:tcPr>
                </a:tc>
                <a:extLst>
                  <a:ext uri="{0D108BD9-81ED-4DB2-BD59-A6C34878D82A}">
                    <a16:rowId xmlns:a16="http://schemas.microsoft.com/office/drawing/2014/main" val="10000"/>
                  </a:ext>
                </a:extLst>
              </a:tr>
              <a:tr h="330590">
                <a:tc>
                  <a:txBody>
                    <a:bodyPr/>
                    <a:lstStyle/>
                    <a:p>
                      <a:pPr>
                        <a:defRPr sz="850" b="1">
                          <a:solidFill>
                            <a:srgbClr val="0284C7"/>
                          </a:solidFill>
                          <a:latin typeface="Calibri"/>
                        </a:defRPr>
                      </a:pPr>
                      <a:r>
                        <a:t>id</a:t>
                      </a:r>
                    </a:p>
                  </a:txBody>
                  <a:tcPr>
                    <a:solidFill>
                      <a:srgbClr val="FFFFFF"/>
                    </a:solidFill>
                  </a:tcPr>
                </a:tc>
                <a:tc>
                  <a:txBody>
                    <a:bodyPr/>
                    <a:lstStyle/>
                    <a:p>
                      <a:pPr>
                        <a:defRPr sz="850">
                          <a:solidFill>
                            <a:srgbClr val="0F172A"/>
                          </a:solidFill>
                          <a:latin typeface="Calibri"/>
                        </a:defRPr>
                      </a:pPr>
                      <a:r>
                        <a:t>Integer</a:t>
                      </a:r>
                    </a:p>
                  </a:txBody>
                  <a:tcPr>
                    <a:solidFill>
                      <a:srgbClr val="FFFFFF"/>
                    </a:solidFill>
                  </a:tcPr>
                </a:tc>
                <a:tc>
                  <a:txBody>
                    <a:bodyPr/>
                    <a:lstStyle/>
                    <a:p>
                      <a:pPr>
                        <a:defRPr sz="850">
                          <a:solidFill>
                            <a:srgbClr val="0F172A"/>
                          </a:solidFill>
                          <a:latin typeface="Calibri"/>
                        </a:defRPr>
                      </a:pPr>
                      <a:r>
                        <a:t>Unique trip receipt number</a:t>
                      </a:r>
                    </a:p>
                  </a:txBody>
                  <a:tcPr>
                    <a:solidFill>
                      <a:srgbClr val="FFFFFF"/>
                    </a:solidFill>
                  </a:tcPr>
                </a:tc>
                <a:tc>
                  <a:txBody>
                    <a:bodyPr/>
                    <a:lstStyle/>
                    <a:p>
                      <a:pPr>
                        <a:defRPr sz="850">
                          <a:solidFill>
                            <a:srgbClr val="0F172A"/>
                          </a:solidFill>
                          <a:latin typeface="Calibri"/>
                        </a:defRPr>
                      </a:pPr>
                      <a:r>
                        <a:t>4576</a:t>
                      </a:r>
                    </a:p>
                  </a:txBody>
                  <a:tcPr>
                    <a:solidFill>
                      <a:srgbClr val="FFFFFF"/>
                    </a:solidFill>
                  </a:tcPr>
                </a:tc>
                <a:tc>
                  <a:txBody>
                    <a:bodyPr/>
                    <a:lstStyle/>
                    <a:p>
                      <a:pPr>
                        <a:defRPr sz="850">
                          <a:solidFill>
                            <a:srgbClr val="E11D48"/>
                          </a:solidFill>
                          <a:latin typeface="Calibri"/>
                        </a:defRPr>
                      </a:pPr>
                      <a:r>
                        <a:t>Removed: Just a receipt number for one ride</a:t>
                      </a:r>
                    </a:p>
                  </a:txBody>
                  <a:tcPr>
                    <a:solidFill>
                      <a:srgbClr val="FFFFFF"/>
                    </a:solidFill>
                  </a:tcPr>
                </a:tc>
                <a:extLst>
                  <a:ext uri="{0D108BD9-81ED-4DB2-BD59-A6C34878D82A}">
                    <a16:rowId xmlns:a16="http://schemas.microsoft.com/office/drawing/2014/main" val="10001"/>
                  </a:ext>
                </a:extLst>
              </a:tr>
              <a:tr h="330590">
                <a:tc>
                  <a:txBody>
                    <a:bodyPr/>
                    <a:lstStyle/>
                    <a:p>
                      <a:pPr>
                        <a:defRPr sz="850" b="1">
                          <a:solidFill>
                            <a:srgbClr val="0284C7"/>
                          </a:solidFill>
                          <a:latin typeface="Calibri"/>
                        </a:defRPr>
                      </a:pPr>
                      <a:r>
                        <a:t>duration</a:t>
                      </a:r>
                    </a:p>
                  </a:txBody>
                  <a:tcPr>
                    <a:solidFill>
                      <a:srgbClr val="F1F5F9"/>
                    </a:solidFill>
                  </a:tcPr>
                </a:tc>
                <a:tc>
                  <a:txBody>
                    <a:bodyPr/>
                    <a:lstStyle/>
                    <a:p>
                      <a:pPr>
                        <a:defRPr sz="850">
                          <a:solidFill>
                            <a:srgbClr val="0F172A"/>
                          </a:solidFill>
                          <a:latin typeface="Calibri"/>
                        </a:defRPr>
                      </a:pPr>
                      <a:r>
                        <a:t>Integer</a:t>
                      </a:r>
                    </a:p>
                  </a:txBody>
                  <a:tcPr>
                    <a:solidFill>
                      <a:srgbClr val="F1F5F9"/>
                    </a:solidFill>
                  </a:tcPr>
                </a:tc>
                <a:tc>
                  <a:txBody>
                    <a:bodyPr/>
                    <a:lstStyle/>
                    <a:p>
                      <a:pPr>
                        <a:defRPr sz="850">
                          <a:solidFill>
                            <a:srgbClr val="0F172A"/>
                          </a:solidFill>
                          <a:latin typeface="Calibri"/>
                        </a:defRPr>
                      </a:pPr>
                      <a:r>
                        <a:t>Trip duration in seconds</a:t>
                      </a:r>
                    </a:p>
                  </a:txBody>
                  <a:tcPr>
                    <a:solidFill>
                      <a:srgbClr val="F1F5F9"/>
                    </a:solidFill>
                  </a:tcPr>
                </a:tc>
                <a:tc>
                  <a:txBody>
                    <a:bodyPr/>
                    <a:lstStyle/>
                    <a:p>
                      <a:pPr>
                        <a:defRPr sz="850">
                          <a:solidFill>
                            <a:srgbClr val="0F172A"/>
                          </a:solidFill>
                          <a:latin typeface="Calibri"/>
                        </a:defRPr>
                      </a:pPr>
                      <a:r>
                        <a:t>63</a:t>
                      </a:r>
                    </a:p>
                  </a:txBody>
                  <a:tcPr>
                    <a:solidFill>
                      <a:srgbClr val="F1F5F9"/>
                    </a:solidFill>
                  </a:tcPr>
                </a:tc>
                <a:tc>
                  <a:txBody>
                    <a:bodyPr/>
                    <a:lstStyle/>
                    <a:p>
                      <a:pPr>
                        <a:defRPr sz="850">
                          <a:solidFill>
                            <a:srgbClr val="E11D48"/>
                          </a:solidFill>
                          <a:latin typeface="Calibri"/>
                        </a:defRPr>
                      </a:pPr>
                      <a:r>
                        <a:t>Removed: Future info (we only know duration after ride ends)</a:t>
                      </a:r>
                    </a:p>
                  </a:txBody>
                  <a:tcPr>
                    <a:solidFill>
                      <a:srgbClr val="F1F5F9"/>
                    </a:solidFill>
                  </a:tcPr>
                </a:tc>
                <a:extLst>
                  <a:ext uri="{0D108BD9-81ED-4DB2-BD59-A6C34878D82A}">
                    <a16:rowId xmlns:a16="http://schemas.microsoft.com/office/drawing/2014/main" val="10002"/>
                  </a:ext>
                </a:extLst>
              </a:tr>
              <a:tr h="330590">
                <a:tc>
                  <a:txBody>
                    <a:bodyPr/>
                    <a:lstStyle/>
                    <a:p>
                      <a:pPr>
                        <a:defRPr sz="850" b="1">
                          <a:solidFill>
                            <a:srgbClr val="0284C7"/>
                          </a:solidFill>
                          <a:latin typeface="Calibri"/>
                        </a:defRPr>
                      </a:pPr>
                      <a:r>
                        <a:t>start_date</a:t>
                      </a:r>
                    </a:p>
                  </a:txBody>
                  <a:tcPr>
                    <a:solidFill>
                      <a:srgbClr val="FFFFFF"/>
                    </a:solidFill>
                  </a:tcPr>
                </a:tc>
                <a:tc>
                  <a:txBody>
                    <a:bodyPr/>
                    <a:lstStyle/>
                    <a:p>
                      <a:pPr>
                        <a:defRPr sz="850">
                          <a:solidFill>
                            <a:srgbClr val="0F172A"/>
                          </a:solidFill>
                          <a:latin typeface="Calibri"/>
                        </a:defRPr>
                      </a:pPr>
                      <a:r>
                        <a:t>Object (String)</a:t>
                      </a:r>
                    </a:p>
                  </a:txBody>
                  <a:tcPr>
                    <a:solidFill>
                      <a:srgbClr val="FFFFFF"/>
                    </a:solidFill>
                  </a:tcPr>
                </a:tc>
                <a:tc>
                  <a:txBody>
                    <a:bodyPr/>
                    <a:lstStyle/>
                    <a:p>
                      <a:pPr>
                        <a:defRPr sz="850">
                          <a:solidFill>
                            <a:srgbClr val="0F172A"/>
                          </a:solidFill>
                          <a:latin typeface="Calibri"/>
                        </a:defRPr>
                      </a:pPr>
                      <a:r>
                        <a:t>Time when bike unlocked</a:t>
                      </a:r>
                    </a:p>
                  </a:txBody>
                  <a:tcPr>
                    <a:solidFill>
                      <a:srgbClr val="FFFFFF"/>
                    </a:solidFill>
                  </a:tcPr>
                </a:tc>
                <a:tc>
                  <a:txBody>
                    <a:bodyPr/>
                    <a:lstStyle/>
                    <a:p>
                      <a:pPr>
                        <a:defRPr sz="850">
                          <a:solidFill>
                            <a:srgbClr val="0F172A"/>
                          </a:solidFill>
                          <a:latin typeface="Calibri"/>
                        </a:defRPr>
                      </a:pPr>
                      <a:r>
                        <a:t>8/29/2013 09:08</a:t>
                      </a:r>
                    </a:p>
                  </a:txBody>
                  <a:tcPr>
                    <a:solidFill>
                      <a:srgbClr val="FFFFFF"/>
                    </a:solidFill>
                  </a:tcPr>
                </a:tc>
                <a:tc>
                  <a:txBody>
                    <a:bodyPr/>
                    <a:lstStyle/>
                    <a:p>
                      <a:pPr>
                        <a:defRPr sz="850" b="1">
                          <a:solidFill>
                            <a:srgbClr val="0284C7"/>
                          </a:solidFill>
                          <a:latin typeface="Calibri"/>
                        </a:defRPr>
                      </a:pPr>
                      <a:r>
                        <a:t>Transformed: Floored to hour_timestamp to group trips</a:t>
                      </a:r>
                    </a:p>
                  </a:txBody>
                  <a:tcPr>
                    <a:solidFill>
                      <a:srgbClr val="FFFFFF"/>
                    </a:solidFill>
                  </a:tcPr>
                </a:tc>
                <a:extLst>
                  <a:ext uri="{0D108BD9-81ED-4DB2-BD59-A6C34878D82A}">
                    <a16:rowId xmlns:a16="http://schemas.microsoft.com/office/drawing/2014/main" val="10003"/>
                  </a:ext>
                </a:extLst>
              </a:tr>
              <a:tr h="330590">
                <a:tc>
                  <a:txBody>
                    <a:bodyPr/>
                    <a:lstStyle/>
                    <a:p>
                      <a:pPr>
                        <a:defRPr sz="850" b="1">
                          <a:solidFill>
                            <a:srgbClr val="0284C7"/>
                          </a:solidFill>
                          <a:latin typeface="Calibri"/>
                        </a:defRPr>
                      </a:pPr>
                      <a:r>
                        <a:t>start_station_name</a:t>
                      </a:r>
                    </a:p>
                  </a:txBody>
                  <a:tcPr>
                    <a:solidFill>
                      <a:srgbClr val="F1F5F9"/>
                    </a:solidFill>
                  </a:tcPr>
                </a:tc>
                <a:tc>
                  <a:txBody>
                    <a:bodyPr/>
                    <a:lstStyle/>
                    <a:p>
                      <a:pPr>
                        <a:defRPr sz="850">
                          <a:solidFill>
                            <a:srgbClr val="0F172A"/>
                          </a:solidFill>
                          <a:latin typeface="Calibri"/>
                        </a:defRPr>
                      </a:pPr>
                      <a:r>
                        <a:t>Object (String)</a:t>
                      </a:r>
                    </a:p>
                  </a:txBody>
                  <a:tcPr>
                    <a:solidFill>
                      <a:srgbClr val="F1F5F9"/>
                    </a:solidFill>
                  </a:tcPr>
                </a:tc>
                <a:tc>
                  <a:txBody>
                    <a:bodyPr/>
                    <a:lstStyle/>
                    <a:p>
                      <a:pPr>
                        <a:defRPr sz="850">
                          <a:solidFill>
                            <a:srgbClr val="0F172A"/>
                          </a:solidFill>
                          <a:latin typeface="Calibri"/>
                        </a:defRPr>
                      </a:pPr>
                      <a:r>
                        <a:t>Origin station name</a:t>
                      </a:r>
                    </a:p>
                  </a:txBody>
                  <a:tcPr>
                    <a:solidFill>
                      <a:srgbClr val="F1F5F9"/>
                    </a:solidFill>
                  </a:tcPr>
                </a:tc>
                <a:tc>
                  <a:txBody>
                    <a:bodyPr/>
                    <a:lstStyle/>
                    <a:p>
                      <a:pPr>
                        <a:defRPr sz="850">
                          <a:solidFill>
                            <a:srgbClr val="0F172A"/>
                          </a:solidFill>
                          <a:latin typeface="Calibri"/>
                        </a:defRPr>
                      </a:pPr>
                      <a:r>
                        <a:t>San Jose City Hall</a:t>
                      </a:r>
                    </a:p>
                  </a:txBody>
                  <a:tcPr>
                    <a:solidFill>
                      <a:srgbClr val="F1F5F9"/>
                    </a:solidFill>
                  </a:tcPr>
                </a:tc>
                <a:tc>
                  <a:txBody>
                    <a:bodyPr/>
                    <a:lstStyle/>
                    <a:p>
                      <a:pPr>
                        <a:defRPr sz="850" b="1">
                          <a:solidFill>
                            <a:srgbClr val="109567"/>
                          </a:solidFill>
                          <a:latin typeface="Calibri"/>
                        </a:defRPr>
                      </a:pPr>
                      <a:r>
                        <a:t>Kept: Station name for display and reports</a:t>
                      </a:r>
                    </a:p>
                  </a:txBody>
                  <a:tcPr>
                    <a:solidFill>
                      <a:srgbClr val="F1F5F9"/>
                    </a:solidFill>
                  </a:tcPr>
                </a:tc>
                <a:extLst>
                  <a:ext uri="{0D108BD9-81ED-4DB2-BD59-A6C34878D82A}">
                    <a16:rowId xmlns:a16="http://schemas.microsoft.com/office/drawing/2014/main" val="10004"/>
                  </a:ext>
                </a:extLst>
              </a:tr>
              <a:tr h="330590">
                <a:tc>
                  <a:txBody>
                    <a:bodyPr/>
                    <a:lstStyle/>
                    <a:p>
                      <a:pPr>
                        <a:defRPr sz="850" b="1">
                          <a:solidFill>
                            <a:srgbClr val="0284C7"/>
                          </a:solidFill>
                          <a:latin typeface="Calibri"/>
                        </a:defRPr>
                      </a:pPr>
                      <a:r>
                        <a:t>start_station_id</a:t>
                      </a:r>
                    </a:p>
                  </a:txBody>
                  <a:tcPr>
                    <a:solidFill>
                      <a:srgbClr val="FFFFFF"/>
                    </a:solidFill>
                  </a:tcPr>
                </a:tc>
                <a:tc>
                  <a:txBody>
                    <a:bodyPr/>
                    <a:lstStyle/>
                    <a:p>
                      <a:pPr>
                        <a:defRPr sz="850">
                          <a:solidFill>
                            <a:srgbClr val="0F172A"/>
                          </a:solidFill>
                          <a:latin typeface="Calibri"/>
                        </a:defRPr>
                      </a:pPr>
                      <a:r>
                        <a:t>Integer</a:t>
                      </a:r>
                    </a:p>
                  </a:txBody>
                  <a:tcPr>
                    <a:solidFill>
                      <a:srgbClr val="FFFFFF"/>
                    </a:solidFill>
                  </a:tcPr>
                </a:tc>
                <a:tc>
                  <a:txBody>
                    <a:bodyPr/>
                    <a:lstStyle/>
                    <a:p>
                      <a:pPr>
                        <a:defRPr sz="850">
                          <a:solidFill>
                            <a:srgbClr val="0F172A"/>
                          </a:solidFill>
                          <a:latin typeface="Calibri"/>
                        </a:defRPr>
                      </a:pPr>
                      <a:r>
                        <a:t>Origin station number</a:t>
                      </a:r>
                    </a:p>
                  </a:txBody>
                  <a:tcPr>
                    <a:solidFill>
                      <a:srgbClr val="FFFFFF"/>
                    </a:solidFill>
                  </a:tcPr>
                </a:tc>
                <a:tc>
                  <a:txBody>
                    <a:bodyPr/>
                    <a:lstStyle/>
                    <a:p>
                      <a:pPr>
                        <a:defRPr sz="850">
                          <a:solidFill>
                            <a:srgbClr val="0F172A"/>
                          </a:solidFill>
                          <a:latin typeface="Calibri"/>
                        </a:defRPr>
                      </a:pPr>
                      <a:r>
                        <a:t>10</a:t>
                      </a:r>
                    </a:p>
                  </a:txBody>
                  <a:tcPr>
                    <a:solidFill>
                      <a:srgbClr val="FFFFFF"/>
                    </a:solidFill>
                  </a:tcPr>
                </a:tc>
                <a:tc>
                  <a:txBody>
                    <a:bodyPr/>
                    <a:lstStyle/>
                    <a:p>
                      <a:pPr>
                        <a:defRPr sz="850" b="1">
                          <a:solidFill>
                            <a:srgbClr val="109567"/>
                          </a:solidFill>
                          <a:latin typeface="Calibri"/>
                        </a:defRPr>
                      </a:pPr>
                      <a:r>
                        <a:t>Kept: Target station ID to predict demand for</a:t>
                      </a:r>
                    </a:p>
                  </a:txBody>
                  <a:tcPr>
                    <a:solidFill>
                      <a:srgbClr val="FFFFFF"/>
                    </a:solidFill>
                  </a:tcPr>
                </a:tc>
                <a:extLst>
                  <a:ext uri="{0D108BD9-81ED-4DB2-BD59-A6C34878D82A}">
                    <a16:rowId xmlns:a16="http://schemas.microsoft.com/office/drawing/2014/main" val="10005"/>
                  </a:ext>
                </a:extLst>
              </a:tr>
              <a:tr h="330590">
                <a:tc>
                  <a:txBody>
                    <a:bodyPr/>
                    <a:lstStyle/>
                    <a:p>
                      <a:pPr>
                        <a:defRPr sz="850" b="1">
                          <a:solidFill>
                            <a:srgbClr val="0284C7"/>
                          </a:solidFill>
                          <a:latin typeface="Calibri"/>
                        </a:defRPr>
                      </a:pPr>
                      <a:r>
                        <a:t>end_date</a:t>
                      </a:r>
                    </a:p>
                  </a:txBody>
                  <a:tcPr>
                    <a:solidFill>
                      <a:srgbClr val="F1F5F9"/>
                    </a:solidFill>
                  </a:tcPr>
                </a:tc>
                <a:tc>
                  <a:txBody>
                    <a:bodyPr/>
                    <a:lstStyle/>
                    <a:p>
                      <a:pPr>
                        <a:defRPr sz="850">
                          <a:solidFill>
                            <a:srgbClr val="0F172A"/>
                          </a:solidFill>
                          <a:latin typeface="Calibri"/>
                        </a:defRPr>
                      </a:pPr>
                      <a:r>
                        <a:t>Object (String)</a:t>
                      </a:r>
                    </a:p>
                  </a:txBody>
                  <a:tcPr>
                    <a:solidFill>
                      <a:srgbClr val="F1F5F9"/>
                    </a:solidFill>
                  </a:tcPr>
                </a:tc>
                <a:tc>
                  <a:txBody>
                    <a:bodyPr/>
                    <a:lstStyle/>
                    <a:p>
                      <a:pPr>
                        <a:defRPr sz="850">
                          <a:solidFill>
                            <a:srgbClr val="0F172A"/>
                          </a:solidFill>
                          <a:latin typeface="Calibri"/>
                        </a:defRPr>
                      </a:pPr>
                      <a:r>
                        <a:t>Time when bike returned</a:t>
                      </a:r>
                    </a:p>
                  </a:txBody>
                  <a:tcPr>
                    <a:solidFill>
                      <a:srgbClr val="F1F5F9"/>
                    </a:solidFill>
                  </a:tcPr>
                </a:tc>
                <a:tc>
                  <a:txBody>
                    <a:bodyPr/>
                    <a:lstStyle/>
                    <a:p>
                      <a:pPr>
                        <a:defRPr sz="850">
                          <a:solidFill>
                            <a:srgbClr val="0F172A"/>
                          </a:solidFill>
                          <a:latin typeface="Calibri"/>
                        </a:defRPr>
                      </a:pPr>
                      <a:r>
                        <a:t>8/29/2013 09:09</a:t>
                      </a:r>
                    </a:p>
                  </a:txBody>
                  <a:tcPr>
                    <a:solidFill>
                      <a:srgbClr val="F1F5F9"/>
                    </a:solidFill>
                  </a:tcPr>
                </a:tc>
                <a:tc>
                  <a:txBody>
                    <a:bodyPr/>
                    <a:lstStyle/>
                    <a:p>
                      <a:pPr>
                        <a:defRPr sz="850">
                          <a:solidFill>
                            <a:srgbClr val="E11D48"/>
                          </a:solidFill>
                          <a:latin typeface="Calibri"/>
                        </a:defRPr>
                      </a:pPr>
                      <a:r>
                        <a:t>Removed: Future info (unknown before ride happens)</a:t>
                      </a:r>
                    </a:p>
                  </a:txBody>
                  <a:tcPr>
                    <a:solidFill>
                      <a:srgbClr val="F1F5F9"/>
                    </a:solidFill>
                  </a:tcPr>
                </a:tc>
                <a:extLst>
                  <a:ext uri="{0D108BD9-81ED-4DB2-BD59-A6C34878D82A}">
                    <a16:rowId xmlns:a16="http://schemas.microsoft.com/office/drawing/2014/main" val="10006"/>
                  </a:ext>
                </a:extLst>
              </a:tr>
              <a:tr h="330590">
                <a:tc>
                  <a:txBody>
                    <a:bodyPr/>
                    <a:lstStyle/>
                    <a:p>
                      <a:pPr>
                        <a:defRPr sz="850" b="1">
                          <a:solidFill>
                            <a:srgbClr val="0284C7"/>
                          </a:solidFill>
                          <a:latin typeface="Calibri"/>
                        </a:defRPr>
                      </a:pPr>
                      <a:r>
                        <a:t>end_station_name</a:t>
                      </a:r>
                    </a:p>
                  </a:txBody>
                  <a:tcPr>
                    <a:solidFill>
                      <a:srgbClr val="FFFFFF"/>
                    </a:solidFill>
                  </a:tcPr>
                </a:tc>
                <a:tc>
                  <a:txBody>
                    <a:bodyPr/>
                    <a:lstStyle/>
                    <a:p>
                      <a:pPr>
                        <a:defRPr sz="850">
                          <a:solidFill>
                            <a:srgbClr val="0F172A"/>
                          </a:solidFill>
                          <a:latin typeface="Calibri"/>
                        </a:defRPr>
                      </a:pPr>
                      <a:r>
                        <a:t>Object (String)</a:t>
                      </a:r>
                    </a:p>
                  </a:txBody>
                  <a:tcPr>
                    <a:solidFill>
                      <a:srgbClr val="FFFFFF"/>
                    </a:solidFill>
                  </a:tcPr>
                </a:tc>
                <a:tc>
                  <a:txBody>
                    <a:bodyPr/>
                    <a:lstStyle/>
                    <a:p>
                      <a:pPr>
                        <a:defRPr sz="850">
                          <a:solidFill>
                            <a:srgbClr val="0F172A"/>
                          </a:solidFill>
                          <a:latin typeface="Calibri"/>
                        </a:defRPr>
                      </a:pPr>
                      <a:r>
                        <a:t>Destination station name</a:t>
                      </a:r>
                    </a:p>
                  </a:txBody>
                  <a:tcPr>
                    <a:solidFill>
                      <a:srgbClr val="FFFFFF"/>
                    </a:solidFill>
                  </a:tcPr>
                </a:tc>
                <a:tc>
                  <a:txBody>
                    <a:bodyPr/>
                    <a:lstStyle/>
                    <a:p>
                      <a:pPr>
                        <a:defRPr sz="850">
                          <a:solidFill>
                            <a:srgbClr val="0F172A"/>
                          </a:solidFill>
                          <a:latin typeface="Calibri"/>
                        </a:defRPr>
                      </a:pPr>
                      <a:r>
                        <a:t>San Jose City Hall</a:t>
                      </a:r>
                    </a:p>
                  </a:txBody>
                  <a:tcPr>
                    <a:solidFill>
                      <a:srgbClr val="FFFFFF"/>
                    </a:solidFill>
                  </a:tcPr>
                </a:tc>
                <a:tc>
                  <a:txBody>
                    <a:bodyPr/>
                    <a:lstStyle/>
                    <a:p>
                      <a:pPr>
                        <a:defRPr sz="850">
                          <a:solidFill>
                            <a:srgbClr val="E11D48"/>
                          </a:solidFill>
                          <a:latin typeface="Calibri"/>
                        </a:defRPr>
                      </a:pPr>
                      <a:r>
                        <a:t>Removed: Future info (destination is unknown at start)</a:t>
                      </a:r>
                    </a:p>
                  </a:txBody>
                  <a:tcPr>
                    <a:solidFill>
                      <a:srgbClr val="FFFFFF"/>
                    </a:solidFill>
                  </a:tcPr>
                </a:tc>
                <a:extLst>
                  <a:ext uri="{0D108BD9-81ED-4DB2-BD59-A6C34878D82A}">
                    <a16:rowId xmlns:a16="http://schemas.microsoft.com/office/drawing/2014/main" val="10007"/>
                  </a:ext>
                </a:extLst>
              </a:tr>
              <a:tr h="330590">
                <a:tc>
                  <a:txBody>
                    <a:bodyPr/>
                    <a:lstStyle/>
                    <a:p>
                      <a:pPr>
                        <a:defRPr sz="850" b="1">
                          <a:solidFill>
                            <a:srgbClr val="0284C7"/>
                          </a:solidFill>
                          <a:latin typeface="Calibri"/>
                        </a:defRPr>
                      </a:pPr>
                      <a:r>
                        <a:t>end_station_id</a:t>
                      </a:r>
                    </a:p>
                  </a:txBody>
                  <a:tcPr>
                    <a:solidFill>
                      <a:srgbClr val="F1F5F9"/>
                    </a:solidFill>
                  </a:tcPr>
                </a:tc>
                <a:tc>
                  <a:txBody>
                    <a:bodyPr/>
                    <a:lstStyle/>
                    <a:p>
                      <a:pPr>
                        <a:defRPr sz="850">
                          <a:solidFill>
                            <a:srgbClr val="0F172A"/>
                          </a:solidFill>
                          <a:latin typeface="Calibri"/>
                        </a:defRPr>
                      </a:pPr>
                      <a:r>
                        <a:t>Integer</a:t>
                      </a:r>
                    </a:p>
                  </a:txBody>
                  <a:tcPr>
                    <a:solidFill>
                      <a:srgbClr val="F1F5F9"/>
                    </a:solidFill>
                  </a:tcPr>
                </a:tc>
                <a:tc>
                  <a:txBody>
                    <a:bodyPr/>
                    <a:lstStyle/>
                    <a:p>
                      <a:pPr>
                        <a:defRPr sz="850">
                          <a:solidFill>
                            <a:srgbClr val="0F172A"/>
                          </a:solidFill>
                          <a:latin typeface="Calibri"/>
                        </a:defRPr>
                      </a:pPr>
                      <a:r>
                        <a:t>Destination station number</a:t>
                      </a:r>
                    </a:p>
                  </a:txBody>
                  <a:tcPr>
                    <a:solidFill>
                      <a:srgbClr val="F1F5F9"/>
                    </a:solidFill>
                  </a:tcPr>
                </a:tc>
                <a:tc>
                  <a:txBody>
                    <a:bodyPr/>
                    <a:lstStyle/>
                    <a:p>
                      <a:pPr>
                        <a:defRPr sz="850">
                          <a:solidFill>
                            <a:srgbClr val="0F172A"/>
                          </a:solidFill>
                          <a:latin typeface="Calibri"/>
                        </a:defRPr>
                      </a:pPr>
                      <a:r>
                        <a:t>10</a:t>
                      </a:r>
                    </a:p>
                  </a:txBody>
                  <a:tcPr>
                    <a:solidFill>
                      <a:srgbClr val="F1F5F9"/>
                    </a:solidFill>
                  </a:tcPr>
                </a:tc>
                <a:tc>
                  <a:txBody>
                    <a:bodyPr/>
                    <a:lstStyle/>
                    <a:p>
                      <a:pPr>
                        <a:defRPr sz="850">
                          <a:solidFill>
                            <a:srgbClr val="E11D48"/>
                          </a:solidFill>
                          <a:latin typeface="Calibri"/>
                        </a:defRPr>
                      </a:pPr>
                      <a:r>
                        <a:t>Removed: Destination is unknown when predicting departures</a:t>
                      </a:r>
                    </a:p>
                  </a:txBody>
                  <a:tcPr>
                    <a:solidFill>
                      <a:srgbClr val="F1F5F9"/>
                    </a:solidFill>
                  </a:tcPr>
                </a:tc>
                <a:extLst>
                  <a:ext uri="{0D108BD9-81ED-4DB2-BD59-A6C34878D82A}">
                    <a16:rowId xmlns:a16="http://schemas.microsoft.com/office/drawing/2014/main" val="10008"/>
                  </a:ext>
                </a:extLst>
              </a:tr>
              <a:tr h="330590">
                <a:tc>
                  <a:txBody>
                    <a:bodyPr/>
                    <a:lstStyle/>
                    <a:p>
                      <a:pPr>
                        <a:defRPr sz="850" b="1">
                          <a:solidFill>
                            <a:srgbClr val="0284C7"/>
                          </a:solidFill>
                          <a:latin typeface="Calibri"/>
                        </a:defRPr>
                      </a:pPr>
                      <a:r>
                        <a:t>bike_id</a:t>
                      </a:r>
                    </a:p>
                  </a:txBody>
                  <a:tcPr>
                    <a:solidFill>
                      <a:srgbClr val="FFFFFF"/>
                    </a:solidFill>
                  </a:tcPr>
                </a:tc>
                <a:tc>
                  <a:txBody>
                    <a:bodyPr/>
                    <a:lstStyle/>
                    <a:p>
                      <a:pPr>
                        <a:defRPr sz="850">
                          <a:solidFill>
                            <a:srgbClr val="0F172A"/>
                          </a:solidFill>
                          <a:latin typeface="Calibri"/>
                        </a:defRPr>
                      </a:pPr>
                      <a:r>
                        <a:t>Integer</a:t>
                      </a:r>
                    </a:p>
                  </a:txBody>
                  <a:tcPr>
                    <a:solidFill>
                      <a:srgbClr val="FFFFFF"/>
                    </a:solidFill>
                  </a:tcPr>
                </a:tc>
                <a:tc>
                  <a:txBody>
                    <a:bodyPr/>
                    <a:lstStyle/>
                    <a:p>
                      <a:pPr>
                        <a:defRPr sz="850">
                          <a:solidFill>
                            <a:srgbClr val="0F172A"/>
                          </a:solidFill>
                          <a:latin typeface="Calibri"/>
                        </a:defRPr>
                      </a:pPr>
                      <a:r>
                        <a:t>Bicycle serial number</a:t>
                      </a:r>
                    </a:p>
                  </a:txBody>
                  <a:tcPr>
                    <a:solidFill>
                      <a:srgbClr val="FFFFFF"/>
                    </a:solidFill>
                  </a:tcPr>
                </a:tc>
                <a:tc>
                  <a:txBody>
                    <a:bodyPr/>
                    <a:lstStyle/>
                    <a:p>
                      <a:pPr>
                        <a:defRPr sz="850">
                          <a:solidFill>
                            <a:srgbClr val="0F172A"/>
                          </a:solidFill>
                          <a:latin typeface="Calibri"/>
                        </a:defRPr>
                      </a:pPr>
                      <a:r>
                        <a:t>520</a:t>
                      </a:r>
                    </a:p>
                  </a:txBody>
                  <a:tcPr>
                    <a:solidFill>
                      <a:srgbClr val="FFFFFF"/>
                    </a:solidFill>
                  </a:tcPr>
                </a:tc>
                <a:tc>
                  <a:txBody>
                    <a:bodyPr/>
                    <a:lstStyle/>
                    <a:p>
                      <a:pPr>
                        <a:defRPr sz="850">
                          <a:solidFill>
                            <a:srgbClr val="E11D48"/>
                          </a:solidFill>
                          <a:latin typeface="Calibri"/>
                        </a:defRPr>
                      </a:pPr>
                      <a:r>
                        <a:t>Removed: Individual bike ID is not needed for station-level demand prediction</a:t>
                      </a:r>
                    </a:p>
                  </a:txBody>
                  <a:tcPr>
                    <a:solidFill>
                      <a:srgbClr val="FFFFFF"/>
                    </a:solidFill>
                  </a:tcPr>
                </a:tc>
                <a:extLst>
                  <a:ext uri="{0D108BD9-81ED-4DB2-BD59-A6C34878D82A}">
                    <a16:rowId xmlns:a16="http://schemas.microsoft.com/office/drawing/2014/main" val="10009"/>
                  </a:ext>
                </a:extLst>
              </a:tr>
              <a:tr h="330590">
                <a:tc>
                  <a:txBody>
                    <a:bodyPr/>
                    <a:lstStyle/>
                    <a:p>
                      <a:pPr>
                        <a:defRPr sz="850" b="1">
                          <a:solidFill>
                            <a:srgbClr val="0284C7"/>
                          </a:solidFill>
                          <a:latin typeface="Calibri"/>
                        </a:defRPr>
                      </a:pPr>
                      <a:r>
                        <a:t>subscription_type</a:t>
                      </a:r>
                    </a:p>
                  </a:txBody>
                  <a:tcPr>
                    <a:solidFill>
                      <a:srgbClr val="F1F5F9"/>
                    </a:solidFill>
                  </a:tcPr>
                </a:tc>
                <a:tc>
                  <a:txBody>
                    <a:bodyPr/>
                    <a:lstStyle/>
                    <a:p>
                      <a:pPr>
                        <a:defRPr sz="850">
                          <a:solidFill>
                            <a:srgbClr val="0F172A"/>
                          </a:solidFill>
                          <a:latin typeface="Calibri"/>
                        </a:defRPr>
                      </a:pPr>
                      <a:r>
                        <a:t>Object (String)</a:t>
                      </a:r>
                    </a:p>
                  </a:txBody>
                  <a:tcPr>
                    <a:solidFill>
                      <a:srgbClr val="F1F5F9"/>
                    </a:solidFill>
                  </a:tcPr>
                </a:tc>
                <a:tc>
                  <a:txBody>
                    <a:bodyPr/>
                    <a:lstStyle/>
                    <a:p>
                      <a:pPr>
                        <a:defRPr sz="850">
                          <a:solidFill>
                            <a:srgbClr val="0F172A"/>
                          </a:solidFill>
                          <a:latin typeface="Calibri"/>
                        </a:defRPr>
                      </a:pPr>
                      <a:r>
                        <a:rPr dirty="0"/>
                        <a:t>Subscriber or Customer</a:t>
                      </a:r>
                    </a:p>
                  </a:txBody>
                  <a:tcPr>
                    <a:solidFill>
                      <a:srgbClr val="F1F5F9"/>
                    </a:solidFill>
                  </a:tcPr>
                </a:tc>
                <a:tc>
                  <a:txBody>
                    <a:bodyPr/>
                    <a:lstStyle/>
                    <a:p>
                      <a:pPr>
                        <a:defRPr sz="850">
                          <a:solidFill>
                            <a:srgbClr val="0F172A"/>
                          </a:solidFill>
                          <a:latin typeface="Calibri"/>
                        </a:defRPr>
                      </a:pPr>
                      <a:r>
                        <a:t>Subscriber</a:t>
                      </a:r>
                    </a:p>
                  </a:txBody>
                  <a:tcPr>
                    <a:solidFill>
                      <a:srgbClr val="F1F5F9"/>
                    </a:solidFill>
                  </a:tcPr>
                </a:tc>
                <a:tc>
                  <a:txBody>
                    <a:bodyPr/>
                    <a:lstStyle/>
                    <a:p>
                      <a:pPr>
                        <a:defRPr sz="850">
                          <a:solidFill>
                            <a:srgbClr val="E11D48"/>
                          </a:solidFill>
                          <a:latin typeface="Calibri"/>
                        </a:defRPr>
                      </a:pPr>
                      <a:r>
                        <a:t>Removed: Belongs to individual rider, not hourly station total</a:t>
                      </a:r>
                    </a:p>
                  </a:txBody>
                  <a:tcPr>
                    <a:solidFill>
                      <a:srgbClr val="F1F5F9"/>
                    </a:solidFill>
                  </a:tcPr>
                </a:tc>
                <a:extLst>
                  <a:ext uri="{0D108BD9-81ED-4DB2-BD59-A6C34878D82A}">
                    <a16:rowId xmlns:a16="http://schemas.microsoft.com/office/drawing/2014/main" val="10010"/>
                  </a:ext>
                </a:extLst>
              </a:tr>
              <a:tr h="330590">
                <a:tc>
                  <a:txBody>
                    <a:bodyPr/>
                    <a:lstStyle/>
                    <a:p>
                      <a:pPr>
                        <a:defRPr sz="850" b="1">
                          <a:solidFill>
                            <a:srgbClr val="0284C7"/>
                          </a:solidFill>
                          <a:latin typeface="Calibri"/>
                        </a:defRPr>
                      </a:pPr>
                      <a:r>
                        <a:t>zip_code</a:t>
                      </a:r>
                    </a:p>
                  </a:txBody>
                  <a:tcPr>
                    <a:solidFill>
                      <a:srgbClr val="FFFFFF"/>
                    </a:solidFill>
                  </a:tcPr>
                </a:tc>
                <a:tc>
                  <a:txBody>
                    <a:bodyPr/>
                    <a:lstStyle/>
                    <a:p>
                      <a:pPr>
                        <a:defRPr sz="850">
                          <a:solidFill>
                            <a:srgbClr val="0F172A"/>
                          </a:solidFill>
                          <a:latin typeface="Calibri"/>
                        </a:defRPr>
                      </a:pPr>
                      <a:r>
                        <a:t>Object (String)</a:t>
                      </a:r>
                    </a:p>
                  </a:txBody>
                  <a:tcPr>
                    <a:solidFill>
                      <a:srgbClr val="FFFFFF"/>
                    </a:solidFill>
                  </a:tcPr>
                </a:tc>
                <a:tc>
                  <a:txBody>
                    <a:bodyPr/>
                    <a:lstStyle/>
                    <a:p>
                      <a:pPr>
                        <a:defRPr sz="850">
                          <a:solidFill>
                            <a:srgbClr val="0F172A"/>
                          </a:solidFill>
                          <a:latin typeface="Calibri"/>
                        </a:defRPr>
                      </a:pPr>
                      <a:r>
                        <a:t>Rider postal code</a:t>
                      </a:r>
                    </a:p>
                  </a:txBody>
                  <a:tcPr>
                    <a:solidFill>
                      <a:srgbClr val="FFFFFF"/>
                    </a:solidFill>
                  </a:tcPr>
                </a:tc>
                <a:tc>
                  <a:txBody>
                    <a:bodyPr/>
                    <a:lstStyle/>
                    <a:p>
                      <a:pPr>
                        <a:defRPr sz="850">
                          <a:solidFill>
                            <a:srgbClr val="0F172A"/>
                          </a:solidFill>
                          <a:latin typeface="Calibri"/>
                        </a:defRPr>
                      </a:pPr>
                      <a:r>
                        <a:t>94127 (6,619 missing)</a:t>
                      </a:r>
                    </a:p>
                  </a:txBody>
                  <a:tcPr>
                    <a:solidFill>
                      <a:srgbClr val="FFFFFF"/>
                    </a:solidFill>
                  </a:tcPr>
                </a:tc>
                <a:tc>
                  <a:txBody>
                    <a:bodyPr/>
                    <a:lstStyle/>
                    <a:p>
                      <a:pPr>
                        <a:defRPr sz="850">
                          <a:solidFill>
                            <a:srgbClr val="E11D48"/>
                          </a:solidFill>
                          <a:latin typeface="Calibri"/>
                        </a:defRPr>
                      </a:pPr>
                      <a:r>
                        <a:t>Removed: Has missing values and is personal to rider</a:t>
                      </a:r>
                    </a:p>
                  </a:txBody>
                  <a:tcPr>
                    <a:solidFill>
                      <a:srgbClr val="FFFFFF"/>
                    </a:solidFill>
                  </a:tcPr>
                </a:tc>
                <a:extLst>
                  <a:ext uri="{0D108BD9-81ED-4DB2-BD59-A6C34878D82A}">
                    <a16:rowId xmlns:a16="http://schemas.microsoft.com/office/drawing/2014/main" val="10011"/>
                  </a:ext>
                </a:extLst>
              </a:tr>
              <a:tr h="330600">
                <a:tc>
                  <a:txBody>
                    <a:bodyPr/>
                    <a:lstStyle/>
                    <a:p>
                      <a:pPr>
                        <a:defRPr sz="850" b="1">
                          <a:solidFill>
                            <a:srgbClr val="0284C7"/>
                          </a:solidFill>
                          <a:latin typeface="Calibri"/>
                        </a:defRPr>
                      </a:pPr>
                      <a:r>
                        <a:t>special_event</a:t>
                      </a:r>
                    </a:p>
                  </a:txBody>
                  <a:tcPr>
                    <a:solidFill>
                      <a:srgbClr val="F1F5F9"/>
                    </a:solidFill>
                  </a:tcPr>
                </a:tc>
                <a:tc>
                  <a:txBody>
                    <a:bodyPr/>
                    <a:lstStyle/>
                    <a:p>
                      <a:pPr>
                        <a:defRPr sz="850">
                          <a:solidFill>
                            <a:srgbClr val="0F172A"/>
                          </a:solidFill>
                          <a:latin typeface="Calibri"/>
                        </a:defRPr>
                      </a:pPr>
                      <a:r>
                        <a:t>Object (String)</a:t>
                      </a:r>
                    </a:p>
                  </a:txBody>
                  <a:tcPr>
                    <a:solidFill>
                      <a:srgbClr val="F1F5F9"/>
                    </a:solidFill>
                  </a:tcPr>
                </a:tc>
                <a:tc>
                  <a:txBody>
                    <a:bodyPr/>
                    <a:lstStyle/>
                    <a:p>
                      <a:pPr>
                        <a:defRPr sz="850">
                          <a:solidFill>
                            <a:srgbClr val="0F172A"/>
                          </a:solidFill>
                          <a:latin typeface="Calibri"/>
                        </a:defRPr>
                      </a:pPr>
                      <a:r>
                        <a:rPr dirty="0"/>
                        <a:t>Holiday or event flag</a:t>
                      </a:r>
                    </a:p>
                  </a:txBody>
                  <a:tcPr>
                    <a:solidFill>
                      <a:srgbClr val="F1F5F9"/>
                    </a:solidFill>
                  </a:tcPr>
                </a:tc>
                <a:tc>
                  <a:txBody>
                    <a:bodyPr/>
                    <a:lstStyle/>
                    <a:p>
                      <a:pPr>
                        <a:defRPr sz="850">
                          <a:solidFill>
                            <a:srgbClr val="0F172A"/>
                          </a:solidFill>
                          <a:latin typeface="Calibri"/>
                        </a:defRPr>
                      </a:pPr>
                      <a:r>
                        <a:t>No Event, Halloween</a:t>
                      </a:r>
                    </a:p>
                  </a:txBody>
                  <a:tcPr>
                    <a:solidFill>
                      <a:srgbClr val="F1F5F9"/>
                    </a:solidFill>
                  </a:tcPr>
                </a:tc>
                <a:tc>
                  <a:txBody>
                    <a:bodyPr/>
                    <a:lstStyle/>
                    <a:p>
                      <a:pPr>
                        <a:defRPr sz="850" b="1">
                          <a:solidFill>
                            <a:srgbClr val="109567"/>
                          </a:solidFill>
                          <a:latin typeface="Calibri"/>
                        </a:defRPr>
                      </a:pPr>
                      <a:r>
                        <a:rPr dirty="0"/>
                        <a:t>Kept: Tells if the day is a holiday across the city</a:t>
                      </a:r>
                    </a:p>
                  </a:txBody>
                  <a:tcPr>
                    <a:solidFill>
                      <a:srgbClr val="F1F5F9"/>
                    </a:solidFill>
                  </a:tcPr>
                </a:tc>
                <a:extLst>
                  <a:ext uri="{0D108BD9-81ED-4DB2-BD59-A6C34878D82A}">
                    <a16:rowId xmlns:a16="http://schemas.microsoft.com/office/drawing/2014/main" val="10012"/>
                  </a:ext>
                </a:extLst>
              </a:tr>
            </a:tbl>
          </a:graphicData>
        </a:graphic>
      </p:graphicFrame>
      <p:sp>
        <p:nvSpPr>
          <p:cNvPr id="6" name="Rounded Rectangle 5"/>
          <p:cNvSpPr/>
          <p:nvPr/>
        </p:nvSpPr>
        <p:spPr>
          <a:xfrm>
            <a:off x="731520" y="5760720"/>
            <a:ext cx="10728655" cy="685800"/>
          </a:xfrm>
          <a:prstGeom prst="roundRect">
            <a:avLst/>
          </a:prstGeom>
          <a:solidFill>
            <a:srgbClr val="F1F5F9"/>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pPr algn="ctr">
              <a:defRPr sz="1050" b="1">
                <a:solidFill>
                  <a:srgbClr val="0F172A"/>
                </a:solidFill>
                <a:latin typeface="Calibri"/>
              </a:defRPr>
            </a:pPr>
            <a:r>
              <a:t>STAGE 3 SUMMARY: 12 raw columns filtered down to core station/time identifiers + target variable demand across all 1,230,810 rows.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9601200" cy="868680"/>
          </a:xfrm>
          <a:prstGeom prst="rect">
            <a:avLst/>
          </a:prstGeom>
          <a:noFill/>
        </p:spPr>
        <p:txBody>
          <a:bodyPr wrap="square" lIns="0" tIns="0" rIns="0" bIns="0">
            <a:spAutoFit/>
          </a:bodyPr>
          <a:lstStyle/>
          <a:p>
            <a:pPr>
              <a:spcAft>
                <a:spcPts val="200"/>
              </a:spcAft>
              <a:defRPr sz="1000" b="1">
                <a:solidFill>
                  <a:srgbClr val="0284C7"/>
                </a:solidFill>
                <a:latin typeface="Arial"/>
              </a:defRPr>
            </a:pPr>
            <a:r>
              <a:t>CREATING MODEL INPUTS  •  STAGE 4: FEATURE EXTRACTION (1,230,810 ROWS, 62 FEATURES)</a:t>
            </a:r>
          </a:p>
          <a:p>
            <a:pPr>
              <a:defRPr sz="2100" b="1">
                <a:solidFill>
                  <a:srgbClr val="0F172A"/>
                </a:solidFill>
                <a:latin typeface="Arial"/>
              </a:defRPr>
            </a:pPr>
            <a:r>
              <a:t>Feature Engineering (62 Candidate Features)</a:t>
            </a:r>
          </a:p>
        </p:txBody>
      </p:sp>
      <p:sp>
        <p:nvSpPr>
          <p:cNvPr id="3" name="TextBox 2"/>
          <p:cNvSpPr txBox="1"/>
          <p:nvPr/>
        </p:nvSpPr>
        <p:spPr>
          <a:xfrm>
            <a:off x="10424160" y="320040"/>
            <a:ext cx="1005840" cy="365760"/>
          </a:xfrm>
          <a:prstGeom prst="rect">
            <a:avLst/>
          </a:prstGeom>
          <a:noFill/>
        </p:spPr>
        <p:txBody>
          <a:bodyPr wrap="none">
            <a:spAutoFit/>
          </a:bodyPr>
          <a:lstStyle/>
          <a:p>
            <a:pPr algn="r">
              <a:defRPr sz="1100" b="1">
                <a:solidFill>
                  <a:srgbClr val="64748B"/>
                </a:solidFill>
                <a:latin typeface="Arial"/>
              </a:defRPr>
            </a:pPr>
            <a:r>
              <a:t>08 / 15</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371600"/>
            <a:ext cx="10728655" cy="731520"/>
          </a:xfrm>
          <a:prstGeom prst="roundRect">
            <a:avLst/>
          </a:prstGeom>
          <a:solidFill>
            <a:srgbClr val="EEF2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wrap="square" lIns="182880" tIns="73152" rtlCol="0" anchor="ctr"/>
          <a:lstStyle/>
          <a:p>
            <a:pPr algn="ctr">
              <a:defRPr sz="950" b="1">
                <a:solidFill>
                  <a:srgbClr val="0284C7"/>
                </a:solidFill>
                <a:latin typeface="Arial"/>
              </a:defRPr>
            </a:pPr>
            <a:r>
              <a:t>ILLUSTRATIVE EXAMPLE (Not actual model output):</a:t>
            </a:r>
          </a:p>
          <a:p>
            <a:pPr>
              <a:defRPr sz="1050" b="1">
                <a:solidFill>
                  <a:srgbClr val="0F172A"/>
                </a:solidFill>
                <a:latin typeface="Calibri"/>
              </a:defRPr>
            </a:pPr>
            <a:r>
              <a:t>Imagine forecasting demand for Tuesday, Oct 15, 2013 at 8:00 AM at Station #2 (San Jose Train Station). Below are the 5 feature groups with key examples:</a:t>
            </a:r>
          </a:p>
        </p:txBody>
      </p:sp>
      <p:sp>
        <p:nvSpPr>
          <p:cNvPr id="6" name="Rounded Rectangle 5"/>
          <p:cNvSpPr/>
          <p:nvPr/>
        </p:nvSpPr>
        <p:spPr>
          <a:xfrm>
            <a:off x="731520" y="2240280"/>
            <a:ext cx="2066543" cy="4297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09728" tIns="146304" rIns="109728" rtlCol="0" anchor="ctr"/>
          <a:lstStyle/>
          <a:p>
            <a:pPr algn="ctr">
              <a:spcAft>
                <a:spcPts val="400"/>
              </a:spcAft>
              <a:defRPr sz="950" b="1">
                <a:solidFill>
                  <a:srgbClr val="0284C7"/>
                </a:solidFill>
                <a:latin typeface="Arial"/>
              </a:defRPr>
            </a:pPr>
            <a:r>
              <a:rPr dirty="0"/>
              <a:t>1. Calendar &amp; Flags (14)</a:t>
            </a:r>
          </a:p>
          <a:p>
            <a:pPr>
              <a:spcAft>
                <a:spcPts val="200"/>
              </a:spcAft>
              <a:defRPr sz="850" b="1">
                <a:solidFill>
                  <a:srgbClr val="0F172A"/>
                </a:solidFill>
                <a:latin typeface="Arial"/>
              </a:defRPr>
            </a:pPr>
            <a:r>
              <a:rPr dirty="0"/>
              <a:t>• hour (0–23): </a:t>
            </a:r>
            <a:r>
              <a:rPr sz="850" b="0" dirty="0">
                <a:solidFill>
                  <a:srgbClr val="334155"/>
                </a:solidFill>
                <a:latin typeface="Calibri"/>
              </a:rPr>
              <a:t>Direct hour of day; captures daily </a:t>
            </a:r>
            <a:r>
              <a:rPr lang="en-IN" sz="850" dirty="0">
                <a:solidFill>
                  <a:srgbClr val="334155"/>
                </a:solidFill>
                <a:latin typeface="Calibri"/>
              </a:rPr>
              <a:t>travel</a:t>
            </a:r>
            <a:r>
              <a:rPr sz="850" b="0" dirty="0">
                <a:solidFill>
                  <a:srgbClr val="334155"/>
                </a:solidFill>
                <a:latin typeface="Calibri"/>
              </a:rPr>
              <a:t> cycles.</a:t>
            </a:r>
          </a:p>
          <a:p>
            <a:pPr>
              <a:spcAft>
                <a:spcPts val="200"/>
              </a:spcAft>
              <a:defRPr sz="850" b="1">
                <a:solidFill>
                  <a:srgbClr val="0F172A"/>
                </a:solidFill>
                <a:latin typeface="Arial"/>
              </a:defRPr>
            </a:pPr>
            <a:r>
              <a:rPr dirty="0"/>
              <a:t>• weekday (0–6): </a:t>
            </a:r>
            <a:r>
              <a:rPr sz="850" b="0" dirty="0">
                <a:solidFill>
                  <a:srgbClr val="334155"/>
                </a:solidFill>
                <a:latin typeface="Calibri"/>
              </a:rPr>
              <a:t>Separates Mon–Fri workdays from weekend</a:t>
            </a:r>
            <a:r>
              <a:rPr lang="en-IN" sz="850" b="0" dirty="0">
                <a:solidFill>
                  <a:srgbClr val="334155"/>
                </a:solidFill>
                <a:latin typeface="Calibri"/>
              </a:rPr>
              <a:t> free time</a:t>
            </a:r>
            <a:r>
              <a:rPr sz="850" b="0" dirty="0">
                <a:solidFill>
                  <a:srgbClr val="334155"/>
                </a:solidFill>
                <a:latin typeface="Calibri"/>
              </a:rPr>
              <a:t>.</a:t>
            </a:r>
          </a:p>
          <a:p>
            <a:pPr>
              <a:spcAft>
                <a:spcPts val="200"/>
              </a:spcAft>
              <a:defRPr sz="850" b="1">
                <a:solidFill>
                  <a:srgbClr val="0F172A"/>
                </a:solidFill>
                <a:latin typeface="Arial"/>
              </a:defRPr>
            </a:pPr>
            <a:r>
              <a:rPr dirty="0"/>
              <a:t>• </a:t>
            </a:r>
            <a:r>
              <a:rPr dirty="0" err="1"/>
              <a:t>morning_peak</a:t>
            </a:r>
            <a:r>
              <a:rPr dirty="0"/>
              <a:t> (1): </a:t>
            </a:r>
            <a:r>
              <a:rPr sz="850" b="0" dirty="0">
                <a:solidFill>
                  <a:srgbClr val="334155"/>
                </a:solidFill>
                <a:latin typeface="Calibri"/>
              </a:rPr>
              <a:t>Flags 7:00–9:00 AM morning rush hour departures.</a:t>
            </a:r>
          </a:p>
          <a:p>
            <a:pPr>
              <a:spcAft>
                <a:spcPts val="200"/>
              </a:spcAft>
              <a:defRPr sz="850" b="1">
                <a:solidFill>
                  <a:srgbClr val="0F172A"/>
                </a:solidFill>
                <a:latin typeface="Arial"/>
              </a:defRPr>
            </a:pPr>
            <a:r>
              <a:rPr dirty="0"/>
              <a:t>• </a:t>
            </a:r>
            <a:r>
              <a:rPr dirty="0" err="1"/>
              <a:t>is_weekend</a:t>
            </a:r>
            <a:r>
              <a:rPr dirty="0"/>
              <a:t> (0/1): </a:t>
            </a:r>
            <a:r>
              <a:rPr sz="850" b="0" dirty="0">
                <a:solidFill>
                  <a:srgbClr val="334155"/>
                </a:solidFill>
                <a:latin typeface="Calibri"/>
              </a:rPr>
              <a:t>Binary flag isolating Saturday &amp; Sunday behavior.</a:t>
            </a:r>
          </a:p>
          <a:p>
            <a:pPr>
              <a:defRPr sz="850" b="1" i="1">
                <a:solidFill>
                  <a:srgbClr val="0284C7"/>
                </a:solidFill>
                <a:latin typeface="Calibri"/>
              </a:defRPr>
            </a:pPr>
            <a:r>
              <a:rPr dirty="0"/>
              <a:t>Takeaway: Captures daily </a:t>
            </a:r>
            <a:r>
              <a:rPr lang="en-IN" dirty="0"/>
              <a:t>travel patterns</a:t>
            </a:r>
            <a:r>
              <a:rPr dirty="0"/>
              <a:t> and peak hours.</a:t>
            </a:r>
          </a:p>
        </p:txBody>
      </p:sp>
      <p:sp>
        <p:nvSpPr>
          <p:cNvPr id="7" name="Rectangle 6"/>
          <p:cNvSpPr/>
          <p:nvPr/>
        </p:nvSpPr>
        <p:spPr>
          <a:xfrm>
            <a:off x="731520" y="2240280"/>
            <a:ext cx="2066543"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907791" y="2240280"/>
            <a:ext cx="2066543" cy="4297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09728" tIns="146304" rIns="109728" rtlCol="0" anchor="ctr"/>
          <a:lstStyle/>
          <a:p>
            <a:pPr algn="ctr">
              <a:spcAft>
                <a:spcPts val="400"/>
              </a:spcAft>
              <a:defRPr sz="950" b="1">
                <a:solidFill>
                  <a:srgbClr val="0D9488"/>
                </a:solidFill>
                <a:latin typeface="Arial"/>
              </a:defRPr>
            </a:pPr>
            <a:r>
              <a:t>2. Cyclical Sine/Cos (8)</a:t>
            </a:r>
          </a:p>
          <a:p>
            <a:pPr>
              <a:spcAft>
                <a:spcPts val="200"/>
              </a:spcAft>
              <a:defRPr sz="850" b="1">
                <a:solidFill>
                  <a:srgbClr val="0F172A"/>
                </a:solidFill>
                <a:latin typeface="Arial"/>
              </a:defRPr>
            </a:pPr>
            <a:r>
              <a:t>• The Clock Gap: </a:t>
            </a:r>
            <a:r>
              <a:rPr sz="850" b="0">
                <a:solidFill>
                  <a:srgbClr val="334155"/>
                </a:solidFill>
                <a:latin typeface="Calibri"/>
              </a:rPr>
              <a:t>23:00 and 00:00 are 1h apart, but arithmetic sees 23!</a:t>
            </a:r>
          </a:p>
          <a:p>
            <a:pPr>
              <a:spcAft>
                <a:spcPts val="200"/>
              </a:spcAft>
              <a:defRPr sz="850" b="1">
                <a:solidFill>
                  <a:srgbClr val="0F172A"/>
                </a:solidFill>
                <a:latin typeface="Arial"/>
              </a:defRPr>
            </a:pPr>
            <a:r>
              <a:t>• hour_sin &amp; cos: </a:t>
            </a:r>
            <a:r>
              <a:rPr sz="850" b="0">
                <a:solidFill>
                  <a:srgbClr val="334155"/>
                </a:solidFill>
                <a:latin typeface="Calibri"/>
              </a:rPr>
              <a:t>Maps 24 hours onto a continuous 360° circular face.</a:t>
            </a:r>
          </a:p>
          <a:p>
            <a:pPr>
              <a:spcAft>
                <a:spcPts val="200"/>
              </a:spcAft>
              <a:defRPr sz="850" b="1">
                <a:solidFill>
                  <a:srgbClr val="0F172A"/>
                </a:solidFill>
                <a:latin typeface="Arial"/>
              </a:defRPr>
            </a:pPr>
            <a:r>
              <a:t>• weekday_sin &amp; cos: </a:t>
            </a:r>
            <a:r>
              <a:rPr sz="850" b="0">
                <a:solidFill>
                  <a:srgbClr val="334155"/>
                </a:solidFill>
                <a:latin typeface="Calibri"/>
              </a:rPr>
              <a:t>Connects Sunday night smoothly into Monday morning.</a:t>
            </a:r>
          </a:p>
          <a:p>
            <a:pPr>
              <a:spcAft>
                <a:spcPts val="200"/>
              </a:spcAft>
              <a:defRPr sz="850" b="1">
                <a:solidFill>
                  <a:srgbClr val="0F172A"/>
                </a:solidFill>
                <a:latin typeface="Arial"/>
              </a:defRPr>
            </a:pPr>
            <a:r>
              <a:t>• month_sin &amp; cos: </a:t>
            </a:r>
            <a:r>
              <a:rPr sz="850" b="0">
                <a:solidFill>
                  <a:srgbClr val="334155"/>
                </a:solidFill>
                <a:latin typeface="Calibri"/>
              </a:rPr>
              <a:t>Connects December into January for yearly seasons.</a:t>
            </a:r>
          </a:p>
          <a:p>
            <a:pPr>
              <a:defRPr sz="850" b="1" i="1">
                <a:solidFill>
                  <a:srgbClr val="0284C7"/>
                </a:solidFill>
                <a:latin typeface="Calibri"/>
              </a:defRPr>
            </a:pPr>
            <a:r>
              <a:t>Takeaway: Preserves seamless continuous time without jumps.</a:t>
            </a:r>
          </a:p>
        </p:txBody>
      </p:sp>
      <p:sp>
        <p:nvSpPr>
          <p:cNvPr id="9" name="Rectangle 8"/>
          <p:cNvSpPr/>
          <p:nvPr/>
        </p:nvSpPr>
        <p:spPr>
          <a:xfrm>
            <a:off x="2907791" y="2240280"/>
            <a:ext cx="2066543" cy="91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084064" y="2240280"/>
            <a:ext cx="2066543" cy="4297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09728" tIns="146304" rIns="109728" rtlCol="0" anchor="ctr"/>
          <a:lstStyle/>
          <a:p>
            <a:pPr algn="ctr">
              <a:spcAft>
                <a:spcPts val="400"/>
              </a:spcAft>
              <a:defRPr sz="950" b="1">
                <a:solidFill>
                  <a:srgbClr val="D97706"/>
                </a:solidFill>
                <a:latin typeface="Arial"/>
              </a:defRPr>
            </a:pPr>
            <a:r>
              <a:t>3. Interactions (4)</a:t>
            </a:r>
          </a:p>
          <a:p>
            <a:pPr>
              <a:spcAft>
                <a:spcPts val="200"/>
              </a:spcAft>
              <a:defRPr sz="850" b="1">
                <a:solidFill>
                  <a:srgbClr val="0F172A"/>
                </a:solidFill>
                <a:latin typeface="Arial"/>
              </a:defRPr>
            </a:pPr>
            <a:r>
              <a:t>• weekday_hour: </a:t>
            </a:r>
            <a:r>
              <a:rPr sz="850" b="0">
                <a:solidFill>
                  <a:srgbClr val="334155"/>
                </a:solidFill>
                <a:latin typeface="Calibri"/>
              </a:rPr>
              <a:t>is_weekday × hour: gives weight to workday rush hours.</a:t>
            </a:r>
          </a:p>
          <a:p>
            <a:pPr>
              <a:spcAft>
                <a:spcPts val="200"/>
              </a:spcAft>
              <a:defRPr sz="850" b="1">
                <a:solidFill>
                  <a:srgbClr val="0F172A"/>
                </a:solidFill>
                <a:latin typeface="Arial"/>
              </a:defRPr>
            </a:pPr>
            <a:r>
              <a:t>• weekend_hour: </a:t>
            </a:r>
            <a:r>
              <a:rPr sz="850" b="0">
                <a:solidFill>
                  <a:srgbClr val="334155"/>
                </a:solidFill>
                <a:latin typeface="Calibri"/>
              </a:rPr>
              <a:t>is_weekend × hour: captures weekend midday leisure curves.</a:t>
            </a:r>
          </a:p>
          <a:p>
            <a:pPr>
              <a:spcAft>
                <a:spcPts val="200"/>
              </a:spcAft>
              <a:defRPr sz="850" b="1">
                <a:solidFill>
                  <a:srgbClr val="0F172A"/>
                </a:solidFill>
                <a:latin typeface="Arial"/>
              </a:defRPr>
            </a:pPr>
            <a:r>
              <a:t>• month_hour: </a:t>
            </a:r>
            <a:r>
              <a:rPr sz="850" b="0">
                <a:solidFill>
                  <a:srgbClr val="334155"/>
                </a:solidFill>
                <a:latin typeface="Calibri"/>
              </a:rPr>
              <a:t>month × hour: adapts rush hour intensity by season.</a:t>
            </a:r>
          </a:p>
          <a:p>
            <a:pPr>
              <a:spcAft>
                <a:spcPts val="200"/>
              </a:spcAft>
              <a:defRPr sz="850" b="1">
                <a:solidFill>
                  <a:srgbClr val="0F172A"/>
                </a:solidFill>
                <a:latin typeface="Arial"/>
              </a:defRPr>
            </a:pPr>
            <a:r>
              <a:t>• peak_station: </a:t>
            </a:r>
            <a:r>
              <a:rPr sz="850" b="0">
                <a:solidFill>
                  <a:srgbClr val="334155"/>
                </a:solidFill>
                <a:latin typeface="Calibri"/>
              </a:rPr>
              <a:t>Flags rush hours specifically at busy transit hubs.</a:t>
            </a:r>
          </a:p>
          <a:p>
            <a:pPr>
              <a:defRPr sz="850" b="1" i="1">
                <a:solidFill>
                  <a:srgbClr val="0284C7"/>
                </a:solidFill>
                <a:latin typeface="Calibri"/>
              </a:defRPr>
            </a:pPr>
            <a:r>
              <a:t>Takeaway: Separates busy Tuesday 8 AM from calm Sunday 8 AM.</a:t>
            </a:r>
          </a:p>
        </p:txBody>
      </p:sp>
      <p:sp>
        <p:nvSpPr>
          <p:cNvPr id="11" name="Rectangle 10"/>
          <p:cNvSpPr/>
          <p:nvPr/>
        </p:nvSpPr>
        <p:spPr>
          <a:xfrm>
            <a:off x="5084064" y="2240280"/>
            <a:ext cx="2066543"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260336" y="2240280"/>
            <a:ext cx="2066543" cy="4297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09728" tIns="146304" rIns="109728" rtlCol="0" anchor="ctr"/>
          <a:lstStyle/>
          <a:p>
            <a:pPr algn="ctr">
              <a:spcAft>
                <a:spcPts val="400"/>
              </a:spcAft>
              <a:defRPr sz="950" b="1">
                <a:solidFill>
                  <a:srgbClr val="0284C7"/>
                </a:solidFill>
                <a:latin typeface="Arial"/>
              </a:defRPr>
            </a:pPr>
            <a:r>
              <a:rPr dirty="0"/>
              <a:t>4. Past Demand Lags (1</a:t>
            </a:r>
            <a:r>
              <a:rPr lang="en-IN" dirty="0"/>
              <a:t>6</a:t>
            </a:r>
            <a:r>
              <a:rPr dirty="0"/>
              <a:t>)</a:t>
            </a:r>
          </a:p>
          <a:p>
            <a:pPr>
              <a:spcAft>
                <a:spcPts val="200"/>
              </a:spcAft>
              <a:defRPr sz="850" b="1">
                <a:solidFill>
                  <a:srgbClr val="0F172A"/>
                </a:solidFill>
                <a:latin typeface="Arial"/>
              </a:defRPr>
            </a:pPr>
            <a:r>
              <a:rPr dirty="0"/>
              <a:t>• lag_1h (12 trips): </a:t>
            </a:r>
            <a:r>
              <a:rPr sz="850" b="0" dirty="0">
                <a:solidFill>
                  <a:srgbClr val="334155"/>
                </a:solidFill>
                <a:latin typeface="Calibri"/>
              </a:rPr>
              <a:t>Departures in previous 1h </a:t>
            </a:r>
          </a:p>
          <a:p>
            <a:pPr>
              <a:spcAft>
                <a:spcPts val="200"/>
              </a:spcAft>
              <a:defRPr sz="850" b="1">
                <a:solidFill>
                  <a:srgbClr val="0F172A"/>
                </a:solidFill>
                <a:latin typeface="Arial"/>
              </a:defRPr>
            </a:pPr>
            <a:r>
              <a:rPr dirty="0"/>
              <a:t>• lag_2h (4 trips): </a:t>
            </a:r>
            <a:r>
              <a:rPr sz="850" b="0" dirty="0">
                <a:solidFill>
                  <a:srgbClr val="334155"/>
                </a:solidFill>
                <a:latin typeface="Calibri"/>
              </a:rPr>
              <a:t>Departures 2 hours ago (shows rising or falling trend).</a:t>
            </a:r>
          </a:p>
          <a:p>
            <a:pPr>
              <a:spcAft>
                <a:spcPts val="200"/>
              </a:spcAft>
              <a:defRPr sz="850" b="1">
                <a:solidFill>
                  <a:srgbClr val="0F172A"/>
                </a:solidFill>
                <a:latin typeface="Arial"/>
              </a:defRPr>
            </a:pPr>
            <a:r>
              <a:rPr dirty="0"/>
              <a:t>• lag_24h (14 trips): </a:t>
            </a:r>
            <a:r>
              <a:rPr sz="850" b="0" dirty="0">
                <a:solidFill>
                  <a:srgbClr val="334155"/>
                </a:solidFill>
                <a:latin typeface="Calibri"/>
              </a:rPr>
              <a:t>Departures yesterday at same hour (daily baseline).</a:t>
            </a:r>
          </a:p>
          <a:p>
            <a:pPr>
              <a:spcAft>
                <a:spcPts val="200"/>
              </a:spcAft>
              <a:defRPr sz="850" b="1">
                <a:solidFill>
                  <a:srgbClr val="0F172A"/>
                </a:solidFill>
                <a:latin typeface="Arial"/>
              </a:defRPr>
            </a:pPr>
            <a:r>
              <a:rPr dirty="0"/>
              <a:t>• lag_168h (15 trips): </a:t>
            </a:r>
            <a:r>
              <a:rPr sz="850" b="0" dirty="0">
                <a:solidFill>
                  <a:srgbClr val="334155"/>
                </a:solidFill>
                <a:latin typeface="Calibri"/>
              </a:rPr>
              <a:t>Departures same hour last week (weekly habit baseline).</a:t>
            </a:r>
          </a:p>
          <a:p>
            <a:pPr>
              <a:defRPr sz="850" b="1" i="1">
                <a:solidFill>
                  <a:srgbClr val="0284C7"/>
                </a:solidFill>
                <a:latin typeface="Calibri"/>
              </a:defRPr>
            </a:pPr>
            <a:r>
              <a:rPr dirty="0"/>
              <a:t>Takeaway: </a:t>
            </a:r>
            <a:r>
              <a:rPr lang="en-IN" sz="850" b="1" i="1" dirty="0">
                <a:solidFill>
                  <a:srgbClr val="0284C7"/>
                </a:solidFill>
                <a:latin typeface="Calibri"/>
              </a:rPr>
              <a:t>Uses past demand to understand recent and repeated demand patterns.</a:t>
            </a:r>
            <a:endParaRPr dirty="0"/>
          </a:p>
        </p:txBody>
      </p:sp>
      <p:sp>
        <p:nvSpPr>
          <p:cNvPr id="13" name="Rectangle 12"/>
          <p:cNvSpPr/>
          <p:nvPr/>
        </p:nvSpPr>
        <p:spPr>
          <a:xfrm>
            <a:off x="7260336" y="2240280"/>
            <a:ext cx="2066543"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436608" y="2240280"/>
            <a:ext cx="2066543" cy="4297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09728" tIns="146304" rIns="109728" rtlCol="0" anchor="ctr"/>
          <a:lstStyle/>
          <a:p>
            <a:pPr algn="ctr">
              <a:spcAft>
                <a:spcPts val="400"/>
              </a:spcAft>
              <a:defRPr sz="950" b="1">
                <a:solidFill>
                  <a:srgbClr val="E11D48"/>
                </a:solidFill>
                <a:latin typeface="Arial"/>
              </a:defRPr>
            </a:pPr>
            <a:r>
              <a:rPr dirty="0"/>
              <a:t>5. Rolling Averages (</a:t>
            </a:r>
            <a:r>
              <a:rPr lang="en-IN" dirty="0"/>
              <a:t>20</a:t>
            </a:r>
            <a:r>
              <a:rPr dirty="0"/>
              <a:t>)</a:t>
            </a:r>
          </a:p>
          <a:p>
            <a:pPr>
              <a:spcAft>
                <a:spcPts val="200"/>
              </a:spcAft>
              <a:defRPr sz="850" b="1">
                <a:solidFill>
                  <a:srgbClr val="0F172A"/>
                </a:solidFill>
                <a:latin typeface="Arial"/>
              </a:defRPr>
            </a:pPr>
            <a:r>
              <a:rPr dirty="0"/>
              <a:t>• rolling_mean_3h (5.7): </a:t>
            </a:r>
            <a:r>
              <a:rPr sz="850" b="0" dirty="0">
                <a:solidFill>
                  <a:srgbClr val="334155"/>
                </a:solidFill>
                <a:latin typeface="Calibri"/>
              </a:rPr>
              <a:t>Moving average over past 3h; filters single spikes.</a:t>
            </a:r>
          </a:p>
          <a:p>
            <a:pPr>
              <a:spcAft>
                <a:spcPts val="200"/>
              </a:spcAft>
              <a:defRPr sz="850" b="1">
                <a:solidFill>
                  <a:srgbClr val="0F172A"/>
                </a:solidFill>
                <a:latin typeface="Arial"/>
              </a:defRPr>
            </a:pPr>
            <a:r>
              <a:rPr dirty="0"/>
              <a:t>• rolling_mean_24h (2.1): </a:t>
            </a:r>
            <a:r>
              <a:rPr sz="850" b="0" dirty="0">
                <a:solidFill>
                  <a:srgbClr val="334155"/>
                </a:solidFill>
                <a:latin typeface="Calibri"/>
              </a:rPr>
              <a:t>Past full day's average hourly trip rate.</a:t>
            </a:r>
          </a:p>
          <a:p>
            <a:pPr>
              <a:spcAft>
                <a:spcPts val="200"/>
              </a:spcAft>
              <a:defRPr sz="850" b="1">
                <a:solidFill>
                  <a:srgbClr val="0F172A"/>
                </a:solidFill>
                <a:latin typeface="Arial"/>
              </a:defRPr>
            </a:pPr>
            <a:r>
              <a:rPr dirty="0"/>
              <a:t>• rolling_max_24h (16): </a:t>
            </a:r>
            <a:r>
              <a:rPr sz="850" b="0" dirty="0">
                <a:solidFill>
                  <a:srgbClr val="334155"/>
                </a:solidFill>
                <a:latin typeface="Calibri"/>
              </a:rPr>
              <a:t>Maximum single-hour surge recorded in the last 24h.</a:t>
            </a:r>
          </a:p>
          <a:p>
            <a:pPr>
              <a:spcAft>
                <a:spcPts val="200"/>
              </a:spcAft>
              <a:defRPr sz="850" b="1">
                <a:solidFill>
                  <a:srgbClr val="0F172A"/>
                </a:solidFill>
                <a:latin typeface="Arial"/>
              </a:defRPr>
            </a:pPr>
            <a:r>
              <a:rPr dirty="0"/>
              <a:t>• lag_1h_ratio_24h (5.71): </a:t>
            </a:r>
            <a:r>
              <a:rPr sz="850" b="0" dirty="0">
                <a:solidFill>
                  <a:srgbClr val="334155"/>
                </a:solidFill>
                <a:latin typeface="Calibri"/>
              </a:rPr>
              <a:t>Surge ratio showing station running hotter than normal.</a:t>
            </a:r>
          </a:p>
          <a:p>
            <a:pPr>
              <a:defRPr sz="850" b="1" i="1">
                <a:solidFill>
                  <a:srgbClr val="0284C7"/>
                </a:solidFill>
                <a:latin typeface="Calibri"/>
              </a:defRPr>
            </a:pPr>
            <a:r>
              <a:rPr dirty="0"/>
              <a:t>Takeaway: Detects sudden real-time spikes above daily baseline.</a:t>
            </a:r>
          </a:p>
        </p:txBody>
      </p:sp>
      <p:sp>
        <p:nvSpPr>
          <p:cNvPr id="15" name="Rectangle 14"/>
          <p:cNvSpPr/>
          <p:nvPr/>
        </p:nvSpPr>
        <p:spPr>
          <a:xfrm>
            <a:off x="9436608" y="2240280"/>
            <a:ext cx="2066543" cy="9144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9601200" cy="868680"/>
          </a:xfrm>
          <a:prstGeom prst="rect">
            <a:avLst/>
          </a:prstGeom>
          <a:noFill/>
        </p:spPr>
        <p:txBody>
          <a:bodyPr wrap="square" lIns="0" tIns="0" rIns="0" bIns="0">
            <a:spAutoFit/>
          </a:bodyPr>
          <a:lstStyle/>
          <a:p>
            <a:pPr>
              <a:spcAft>
                <a:spcPts val="200"/>
              </a:spcAft>
              <a:defRPr sz="1000" b="1">
                <a:solidFill>
                  <a:srgbClr val="0284C7"/>
                </a:solidFill>
                <a:latin typeface="Arial"/>
              </a:defRPr>
            </a:pPr>
            <a:r>
              <a:t>DATA LEAKAGE CHECK  •  STAGE 5: LEAKAGE AUDIT (62 → 54 FEATURES)</a:t>
            </a:r>
          </a:p>
          <a:p>
            <a:pPr>
              <a:defRPr sz="2100" b="1">
                <a:solidFill>
                  <a:srgbClr val="0F172A"/>
                </a:solidFill>
                <a:latin typeface="Arial"/>
              </a:defRPr>
            </a:pPr>
            <a:r>
              <a:t>Feature Audit: Removing Future Information</a:t>
            </a:r>
          </a:p>
        </p:txBody>
      </p:sp>
      <p:sp>
        <p:nvSpPr>
          <p:cNvPr id="3" name="TextBox 2"/>
          <p:cNvSpPr txBox="1"/>
          <p:nvPr/>
        </p:nvSpPr>
        <p:spPr>
          <a:xfrm>
            <a:off x="10424160" y="320040"/>
            <a:ext cx="1005840" cy="365760"/>
          </a:xfrm>
          <a:prstGeom prst="rect">
            <a:avLst/>
          </a:prstGeom>
          <a:noFill/>
        </p:spPr>
        <p:txBody>
          <a:bodyPr wrap="none">
            <a:spAutoFit/>
          </a:bodyPr>
          <a:lstStyle/>
          <a:p>
            <a:pPr algn="r">
              <a:defRPr sz="1100" b="1">
                <a:solidFill>
                  <a:srgbClr val="64748B"/>
                </a:solidFill>
                <a:latin typeface="Arial"/>
              </a:defRPr>
            </a:pPr>
            <a:r>
              <a:t>09 / 15</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17320"/>
            <a:ext cx="5120640"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spcAft>
                <a:spcPts val="400"/>
              </a:spcAft>
              <a:defRPr sz="1100" b="1">
                <a:solidFill>
                  <a:srgbClr val="0284C7"/>
                </a:solidFill>
                <a:latin typeface="Arial"/>
              </a:defRPr>
            </a:pPr>
            <a:r>
              <a:rPr dirty="0"/>
              <a:t>WHAT IS DATA LEAKAGE?</a:t>
            </a:r>
          </a:p>
          <a:p>
            <a:pPr>
              <a:spcAft>
                <a:spcPts val="1000"/>
              </a:spcAft>
              <a:defRPr sz="1050">
                <a:solidFill>
                  <a:srgbClr val="0F172A"/>
                </a:solidFill>
                <a:latin typeface="Calibri"/>
              </a:defRPr>
            </a:pPr>
            <a:r>
              <a:rPr dirty="0"/>
              <a:t>Data leakage happens when a feature accidentally uses information that would not be available in real life at prediction time.</a:t>
            </a:r>
          </a:p>
          <a:p>
            <a:pPr>
              <a:spcAft>
                <a:spcPts val="400"/>
              </a:spcAft>
              <a:defRPr sz="1100" b="1">
                <a:solidFill>
                  <a:srgbClr val="E11D48"/>
                </a:solidFill>
                <a:latin typeface="Arial"/>
              </a:defRPr>
            </a:pPr>
            <a:r>
              <a:rPr dirty="0"/>
              <a:t>WHY DID WE REMOVE 8 FEATURES?</a:t>
            </a:r>
          </a:p>
          <a:p>
            <a:pPr>
              <a:spcAft>
                <a:spcPts val="600"/>
              </a:spcAft>
              <a:defRPr sz="1000">
                <a:solidFill>
                  <a:srgbClr val="0F172A"/>
                </a:solidFill>
                <a:latin typeface="Calibri"/>
              </a:defRPr>
            </a:pPr>
            <a:r>
              <a:rPr dirty="0"/>
              <a:t>1. Removed 3 Demand Deltas: Features like demand_change_1h used the formula (</a:t>
            </a:r>
            <a:r>
              <a:rPr dirty="0" err="1"/>
              <a:t>current_demand</a:t>
            </a:r>
            <a:r>
              <a:rPr dirty="0"/>
              <a:t> - lag). But when we make a prediction at 8:00 AM, we do not yet know the demand between 8:00 AM and 9:00 AM!</a:t>
            </a:r>
          </a:p>
          <a:p>
            <a:pPr>
              <a:spcAft>
                <a:spcPts val="600"/>
              </a:spcAft>
              <a:defRPr sz="1000">
                <a:solidFill>
                  <a:srgbClr val="0F172A"/>
                </a:solidFill>
                <a:latin typeface="Calibri"/>
              </a:defRPr>
            </a:pPr>
            <a:r>
              <a:rPr dirty="0"/>
              <a:t>2. Removed 5 Global Averages: Features like </a:t>
            </a:r>
            <a:r>
              <a:rPr dirty="0" err="1"/>
              <a:t>historical_mean</a:t>
            </a:r>
            <a:r>
              <a:rPr dirty="0"/>
              <a:t> averaged the entire 2-year dataset. That meant 2013 rows were using future numbers from 2015!</a:t>
            </a:r>
          </a:p>
          <a:p>
            <a:pPr>
              <a:defRPr sz="1050" b="1">
                <a:solidFill>
                  <a:srgbClr val="109567"/>
                </a:solidFill>
                <a:latin typeface="Calibri"/>
              </a:defRPr>
            </a:pPr>
            <a:r>
              <a:rPr dirty="0"/>
              <a:t>RESULT: 62 candidate features - 8 removed = 54 final features.</a:t>
            </a:r>
          </a:p>
        </p:txBody>
      </p:sp>
      <p:graphicFrame>
        <p:nvGraphicFramePr>
          <p:cNvPr id="6" name="Table 5"/>
          <p:cNvGraphicFramePr>
            <a:graphicFrameLocks noGrp="1"/>
          </p:cNvGraphicFramePr>
          <p:nvPr>
            <p:extLst>
              <p:ext uri="{D42A27DB-BD31-4B8C-83A1-F6EECF244321}">
                <p14:modId xmlns:p14="http://schemas.microsoft.com/office/powerpoint/2010/main" val="33158874"/>
              </p:ext>
            </p:extLst>
          </p:nvPr>
        </p:nvGraphicFramePr>
        <p:xfrm>
          <a:off x="6096000" y="2204042"/>
          <a:ext cx="5334000" cy="2782824"/>
        </p:xfrm>
        <a:graphic>
          <a:graphicData uri="http://schemas.openxmlformats.org/drawingml/2006/table">
            <a:tbl>
              <a:tblPr firstRow="1" bandRow="1">
                <a:tableStyleId>{5C22544A-7EE6-4342-B048-85BDC9FD1C3A}</a:tableStyleId>
              </a:tblPr>
              <a:tblGrid>
                <a:gridCol w="1627322">
                  <a:extLst>
                    <a:ext uri="{9D8B030D-6E8A-4147-A177-3AD203B41FA5}">
                      <a16:colId xmlns:a16="http://schemas.microsoft.com/office/drawing/2014/main" val="20000"/>
                    </a:ext>
                  </a:extLst>
                </a:gridCol>
                <a:gridCol w="1898542">
                  <a:extLst>
                    <a:ext uri="{9D8B030D-6E8A-4147-A177-3AD203B41FA5}">
                      <a16:colId xmlns:a16="http://schemas.microsoft.com/office/drawing/2014/main" val="20001"/>
                    </a:ext>
                  </a:extLst>
                </a:gridCol>
                <a:gridCol w="1808136">
                  <a:extLst>
                    <a:ext uri="{9D8B030D-6E8A-4147-A177-3AD203B41FA5}">
                      <a16:colId xmlns:a16="http://schemas.microsoft.com/office/drawing/2014/main" val="20002"/>
                    </a:ext>
                  </a:extLst>
                </a:gridCol>
              </a:tblGrid>
              <a:tr h="927608">
                <a:tc>
                  <a:txBody>
                    <a:bodyPr/>
                    <a:lstStyle/>
                    <a:p>
                      <a:pPr>
                        <a:defRPr sz="950" b="1">
                          <a:solidFill>
                            <a:srgbClr val="FFFFFF"/>
                          </a:solidFill>
                          <a:latin typeface="Arial"/>
                        </a:defRPr>
                      </a:pPr>
                      <a:r>
                        <a:rPr dirty="0"/>
                        <a:t>Removed Features</a:t>
                      </a:r>
                    </a:p>
                  </a:txBody>
                  <a:tcPr>
                    <a:solidFill>
                      <a:srgbClr val="1E293B"/>
                    </a:solidFill>
                  </a:tcPr>
                </a:tc>
                <a:tc>
                  <a:txBody>
                    <a:bodyPr/>
                    <a:lstStyle/>
                    <a:p>
                      <a:pPr>
                        <a:defRPr sz="950" b="1">
                          <a:solidFill>
                            <a:srgbClr val="FFFFFF"/>
                          </a:solidFill>
                          <a:latin typeface="Arial"/>
                        </a:defRPr>
                      </a:pPr>
                      <a:r>
                        <a:t>Why It Was Cheating</a:t>
                      </a:r>
                    </a:p>
                  </a:txBody>
                  <a:tcPr>
                    <a:solidFill>
                      <a:srgbClr val="1E293B"/>
                    </a:solidFill>
                  </a:tcPr>
                </a:tc>
                <a:tc>
                  <a:txBody>
                    <a:bodyPr/>
                    <a:lstStyle/>
                    <a:p>
                      <a:pPr>
                        <a:defRPr sz="950" b="1">
                          <a:solidFill>
                            <a:srgbClr val="FFFFFF"/>
                          </a:solidFill>
                          <a:latin typeface="Arial"/>
                        </a:defRPr>
                      </a:pPr>
                      <a:r>
                        <a:t>Real-Life Truth</a:t>
                      </a:r>
                    </a:p>
                  </a:txBody>
                  <a:tcPr>
                    <a:solidFill>
                      <a:srgbClr val="1E293B"/>
                    </a:solidFill>
                  </a:tcPr>
                </a:tc>
                <a:extLst>
                  <a:ext uri="{0D108BD9-81ED-4DB2-BD59-A6C34878D82A}">
                    <a16:rowId xmlns:a16="http://schemas.microsoft.com/office/drawing/2014/main" val="10000"/>
                  </a:ext>
                </a:extLst>
              </a:tr>
              <a:tr h="927608">
                <a:tc>
                  <a:txBody>
                    <a:bodyPr/>
                    <a:lstStyle/>
                    <a:p>
                      <a:pPr>
                        <a:defRPr sz="950">
                          <a:solidFill>
                            <a:srgbClr val="0F172A"/>
                          </a:solidFill>
                          <a:latin typeface="Calibri"/>
                        </a:defRPr>
                      </a:pPr>
                      <a:r>
                        <a:t>3 Demand Deltas</a:t>
                      </a:r>
                      <a:br/>
                      <a:r>
                        <a:t>(demand_change_1h, etc.)</a:t>
                      </a:r>
                    </a:p>
                  </a:txBody>
                  <a:tcPr>
                    <a:solidFill>
                      <a:srgbClr val="FFFFFF"/>
                    </a:solidFill>
                  </a:tcPr>
                </a:tc>
                <a:tc>
                  <a:txBody>
                    <a:bodyPr/>
                    <a:lstStyle/>
                    <a:p>
                      <a:pPr>
                        <a:defRPr sz="950">
                          <a:solidFill>
                            <a:srgbClr val="0F172A"/>
                          </a:solidFill>
                          <a:latin typeface="Calibri"/>
                        </a:defRPr>
                      </a:pPr>
                      <a:r>
                        <a:rPr lang="en-IN" sz="950" kern="1200" dirty="0">
                          <a:solidFill>
                            <a:srgbClr val="0F172A"/>
                          </a:solidFill>
                          <a:latin typeface="Calibri"/>
                          <a:ea typeface="+mn-ea"/>
                          <a:cs typeface="+mn-cs"/>
                        </a:rPr>
                        <a:t>The feature calculation used the actual demand we were supposed to predict.</a:t>
                      </a:r>
                      <a:endParaRPr dirty="0"/>
                    </a:p>
                  </a:txBody>
                  <a:tcPr>
                    <a:solidFill>
                      <a:srgbClr val="FFFFFF"/>
                    </a:solidFill>
                  </a:tcPr>
                </a:tc>
                <a:tc>
                  <a:txBody>
                    <a:bodyPr/>
                    <a:lstStyle/>
                    <a:p>
                      <a:pPr>
                        <a:defRPr sz="950">
                          <a:solidFill>
                            <a:srgbClr val="0F172A"/>
                          </a:solidFill>
                          <a:latin typeface="Calibri"/>
                        </a:defRPr>
                      </a:pPr>
                      <a:r>
                        <a:rPr dirty="0"/>
                        <a:t>At 8:00 AM, you cannot know the demand at 9:00 AM!</a:t>
                      </a:r>
                    </a:p>
                  </a:txBody>
                  <a:tcPr>
                    <a:solidFill>
                      <a:srgbClr val="FFFFFF"/>
                    </a:solidFill>
                  </a:tcPr>
                </a:tc>
                <a:extLst>
                  <a:ext uri="{0D108BD9-81ED-4DB2-BD59-A6C34878D82A}">
                    <a16:rowId xmlns:a16="http://schemas.microsoft.com/office/drawing/2014/main" val="10001"/>
                  </a:ext>
                </a:extLst>
              </a:tr>
              <a:tr h="927608">
                <a:tc>
                  <a:txBody>
                    <a:bodyPr/>
                    <a:lstStyle/>
                    <a:p>
                      <a:pPr>
                        <a:defRPr sz="950">
                          <a:solidFill>
                            <a:srgbClr val="0F172A"/>
                          </a:solidFill>
                          <a:latin typeface="Calibri"/>
                        </a:defRPr>
                      </a:pPr>
                      <a:r>
                        <a:t>5 Global Averages</a:t>
                      </a:r>
                      <a:br/>
                      <a:r>
                        <a:t>(historical_mean, etc.)</a:t>
                      </a:r>
                    </a:p>
                  </a:txBody>
                  <a:tcPr>
                    <a:solidFill>
                      <a:srgbClr val="F1F5F9"/>
                    </a:solidFill>
                  </a:tcPr>
                </a:tc>
                <a:tc>
                  <a:txBody>
                    <a:bodyPr/>
                    <a:lstStyle/>
                    <a:p>
                      <a:pPr>
                        <a:defRPr sz="950">
                          <a:solidFill>
                            <a:srgbClr val="0F172A"/>
                          </a:solidFill>
                          <a:latin typeface="Calibri"/>
                        </a:defRPr>
                      </a:pPr>
                      <a:r>
                        <a:t>Used future 2015 data to calculate averages for 2013</a:t>
                      </a:r>
                    </a:p>
                  </a:txBody>
                  <a:tcPr>
                    <a:solidFill>
                      <a:srgbClr val="F1F5F9"/>
                    </a:solidFill>
                  </a:tcPr>
                </a:tc>
                <a:tc>
                  <a:txBody>
                    <a:bodyPr/>
                    <a:lstStyle/>
                    <a:p>
                      <a:pPr>
                        <a:defRPr sz="950">
                          <a:solidFill>
                            <a:srgbClr val="0F172A"/>
                          </a:solidFill>
                          <a:latin typeface="Calibri"/>
                        </a:defRPr>
                      </a:pPr>
                      <a:r>
                        <a:rPr dirty="0"/>
                        <a:t>In 2013, you cannot see data from 2015!</a:t>
                      </a:r>
                    </a:p>
                  </a:txBody>
                  <a:tcPr>
                    <a:solidFill>
                      <a:srgbClr val="F1F5F9"/>
                    </a:solidFill>
                  </a:tcPr>
                </a:tc>
                <a:extLst>
                  <a:ext uri="{0D108BD9-81ED-4DB2-BD59-A6C34878D82A}">
                    <a16:rowId xmlns:a16="http://schemas.microsoft.com/office/drawing/2014/main" val="10002"/>
                  </a:ext>
                </a:extLst>
              </a:tr>
            </a:tbl>
          </a:graphicData>
        </a:graphic>
      </p:graphicFrame>
      <p:sp>
        <p:nvSpPr>
          <p:cNvPr id="7" name="Rounded Rectangle 6"/>
          <p:cNvSpPr/>
          <p:nvPr/>
        </p:nvSpPr>
        <p:spPr>
          <a:xfrm>
            <a:off x="6035040" y="5440680"/>
            <a:ext cx="5394960" cy="1005840"/>
          </a:xfrm>
          <a:prstGeom prst="roundRect">
            <a:avLst/>
          </a:prstGeom>
          <a:solidFill>
            <a:srgbClr val="ECFDF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000" b="1">
                <a:solidFill>
                  <a:srgbClr val="109567"/>
                </a:solidFill>
                <a:latin typeface="Arial"/>
              </a:defRPr>
            </a:pPr>
            <a:r>
              <a:t>STAGE 5 SUMMARY: AUDIT PASSED</a:t>
            </a:r>
          </a:p>
          <a:p>
            <a:pPr>
              <a:defRPr sz="950">
                <a:solidFill>
                  <a:srgbClr val="0F172A"/>
                </a:solidFill>
                <a:latin typeface="Calibri"/>
              </a:defRPr>
            </a:pPr>
            <a:r>
              <a:t>1,230,810 rows with 54 final features. All features strictly use information available prior to the prediction timestamp.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9601200" cy="868680"/>
          </a:xfrm>
          <a:prstGeom prst="rect">
            <a:avLst/>
          </a:prstGeom>
          <a:noFill/>
        </p:spPr>
        <p:txBody>
          <a:bodyPr wrap="square" lIns="0" tIns="0" rIns="0" bIns="0">
            <a:spAutoFit/>
          </a:bodyPr>
          <a:lstStyle/>
          <a:p>
            <a:pPr>
              <a:spcAft>
                <a:spcPts val="200"/>
              </a:spcAft>
              <a:defRPr sz="1000" b="1">
                <a:solidFill>
                  <a:srgbClr val="0284C7"/>
                </a:solidFill>
                <a:latin typeface="Arial"/>
              </a:defRPr>
            </a:pPr>
            <a:r>
              <a:t>TRAIN / VALIDATION / TEST  •  STAGE 6: CHRONOLOGICAL PARTITION</a:t>
            </a:r>
          </a:p>
          <a:p>
            <a:pPr>
              <a:defRPr sz="2100" b="1">
                <a:solidFill>
                  <a:srgbClr val="0F172A"/>
                </a:solidFill>
                <a:latin typeface="Arial"/>
              </a:defRPr>
            </a:pPr>
            <a:r>
              <a:t>Splitting Data by Time (70% / 15% / 15%)</a:t>
            </a:r>
          </a:p>
        </p:txBody>
      </p:sp>
      <p:sp>
        <p:nvSpPr>
          <p:cNvPr id="3" name="TextBox 2"/>
          <p:cNvSpPr txBox="1"/>
          <p:nvPr/>
        </p:nvSpPr>
        <p:spPr>
          <a:xfrm>
            <a:off x="10424160" y="320040"/>
            <a:ext cx="1005840" cy="365760"/>
          </a:xfrm>
          <a:prstGeom prst="rect">
            <a:avLst/>
          </a:prstGeom>
          <a:noFill/>
        </p:spPr>
        <p:txBody>
          <a:bodyPr wrap="none">
            <a:spAutoFit/>
          </a:bodyPr>
          <a:lstStyle/>
          <a:p>
            <a:pPr algn="r">
              <a:defRPr sz="1100" b="1">
                <a:solidFill>
                  <a:srgbClr val="64748B"/>
                </a:solidFill>
                <a:latin typeface="Arial"/>
              </a:defRPr>
            </a:pPr>
            <a:r>
              <a:t>10 / 15</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371600"/>
            <a:ext cx="10728655" cy="822960"/>
          </a:xfrm>
          <a:prstGeom prst="roundRect">
            <a:avLst/>
          </a:prstGeom>
          <a:solidFill>
            <a:srgbClr val="FEF2F2"/>
          </a:solidFill>
          <a:ln w="15240">
            <a:solidFill>
              <a:srgbClr val="E11D48"/>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pPr algn="ctr">
              <a:defRPr sz="1000" b="1">
                <a:solidFill>
                  <a:srgbClr val="E11D48"/>
                </a:solidFill>
                <a:latin typeface="Arial"/>
              </a:defRPr>
            </a:pPr>
            <a:r>
              <a:t>WHY WE DO NOT USE RANDOM SHUFFLING IN TIME SERIES:</a:t>
            </a:r>
          </a:p>
          <a:p>
            <a:pPr>
              <a:defRPr sz="1050">
                <a:solidFill>
                  <a:srgbClr val="0F172A"/>
                </a:solidFill>
                <a:latin typeface="Calibri"/>
              </a:defRPr>
            </a:pPr>
            <a:r>
              <a:t>If you randomly shuffle time data, the model uses Wednesday to predict Tuesday, or June to predict May! It memorizes future answers to predict the past. We must split strictly by date.</a:t>
            </a:r>
          </a:p>
        </p:txBody>
      </p:sp>
      <p:sp>
        <p:nvSpPr>
          <p:cNvPr id="6" name="Rounded Rectangle 5"/>
          <p:cNvSpPr/>
          <p:nvPr/>
        </p:nvSpPr>
        <p:spPr>
          <a:xfrm>
            <a:off x="731520" y="2331720"/>
            <a:ext cx="3413455"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spcAft>
                <a:spcPts val="400"/>
              </a:spcAft>
              <a:defRPr sz="1100" b="1">
                <a:solidFill>
                  <a:srgbClr val="0284C7"/>
                </a:solidFill>
                <a:latin typeface="Arial"/>
              </a:defRPr>
            </a:pPr>
            <a:r>
              <a:t>TRAIN SET (70%)</a:t>
            </a:r>
          </a:p>
          <a:p>
            <a:pPr>
              <a:spcAft>
                <a:spcPts val="400"/>
              </a:spcAft>
              <a:defRPr sz="1400" b="1">
                <a:solidFill>
                  <a:srgbClr val="0F172A"/>
                </a:solidFill>
                <a:latin typeface="Arial"/>
              </a:defRPr>
            </a:pPr>
            <a:r>
              <a:t>861,560 rows × 54 features</a:t>
            </a:r>
          </a:p>
          <a:p>
            <a:pPr>
              <a:spcAft>
                <a:spcPts val="1400"/>
              </a:spcAft>
              <a:defRPr sz="1100" b="1">
                <a:solidFill>
                  <a:srgbClr val="0284C7"/>
                </a:solidFill>
                <a:latin typeface="Calibri"/>
              </a:defRPr>
            </a:pPr>
            <a:r>
              <a:t>Aug 29, 2013 to Jan 24, 2015</a:t>
            </a:r>
          </a:p>
          <a:p>
            <a:pPr>
              <a:spcAft>
                <a:spcPts val="200"/>
              </a:spcAft>
              <a:defRPr sz="950" b="1">
                <a:solidFill>
                  <a:srgbClr val="64748B"/>
                </a:solidFill>
                <a:latin typeface="Arial"/>
              </a:defRPr>
            </a:pPr>
            <a:r>
              <a:t>WHAT THIS SET DOES:</a:t>
            </a:r>
          </a:p>
          <a:p>
            <a:pPr>
              <a:defRPr sz="1050">
                <a:solidFill>
                  <a:srgbClr val="0F172A"/>
                </a:solidFill>
                <a:latin typeface="Calibri"/>
              </a:defRPr>
            </a:pPr>
            <a:r>
              <a:t>The model learns normal patterns, rush hours, and station demand levels.</a:t>
            </a:r>
          </a:p>
        </p:txBody>
      </p:sp>
      <p:sp>
        <p:nvSpPr>
          <p:cNvPr id="7" name="Rectangle 6"/>
          <p:cNvSpPr/>
          <p:nvPr/>
        </p:nvSpPr>
        <p:spPr>
          <a:xfrm>
            <a:off x="731520" y="2331720"/>
            <a:ext cx="341345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89120" y="2331720"/>
            <a:ext cx="3413455"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spcAft>
                <a:spcPts val="400"/>
              </a:spcAft>
              <a:defRPr sz="1100" b="1">
                <a:solidFill>
                  <a:srgbClr val="D97706"/>
                </a:solidFill>
                <a:latin typeface="Arial"/>
              </a:defRPr>
            </a:pPr>
            <a:r>
              <a:t>VALIDATION SET (15%)</a:t>
            </a:r>
          </a:p>
          <a:p>
            <a:pPr>
              <a:spcAft>
                <a:spcPts val="400"/>
              </a:spcAft>
              <a:defRPr sz="1400" b="1">
                <a:solidFill>
                  <a:srgbClr val="0F172A"/>
                </a:solidFill>
                <a:latin typeface="Arial"/>
              </a:defRPr>
            </a:pPr>
            <a:r>
              <a:t>184,590 rows × 54 features</a:t>
            </a:r>
          </a:p>
          <a:p>
            <a:pPr>
              <a:spcAft>
                <a:spcPts val="1400"/>
              </a:spcAft>
              <a:defRPr sz="1100" b="1">
                <a:solidFill>
                  <a:srgbClr val="0284C7"/>
                </a:solidFill>
                <a:latin typeface="Calibri"/>
              </a:defRPr>
            </a:pPr>
            <a:r>
              <a:t>Jan 24, 2015 to May 14, 2015</a:t>
            </a:r>
          </a:p>
          <a:p>
            <a:pPr>
              <a:spcAft>
                <a:spcPts val="200"/>
              </a:spcAft>
              <a:defRPr sz="950" b="1">
                <a:solidFill>
                  <a:srgbClr val="64748B"/>
                </a:solidFill>
                <a:latin typeface="Arial"/>
              </a:defRPr>
            </a:pPr>
            <a:r>
              <a:t>WHAT THIS SET DOES:</a:t>
            </a:r>
          </a:p>
          <a:p>
            <a:pPr>
              <a:defRPr sz="1050">
                <a:solidFill>
                  <a:srgbClr val="0F172A"/>
                </a:solidFill>
                <a:latin typeface="Calibri"/>
              </a:defRPr>
            </a:pPr>
            <a:r>
              <a:t>Used to tune settings (tree depth, number of trees) without touching the test set.</a:t>
            </a:r>
          </a:p>
        </p:txBody>
      </p:sp>
      <p:sp>
        <p:nvSpPr>
          <p:cNvPr id="9" name="Rectangle 8"/>
          <p:cNvSpPr/>
          <p:nvPr/>
        </p:nvSpPr>
        <p:spPr>
          <a:xfrm>
            <a:off x="4389120" y="2331720"/>
            <a:ext cx="3413455"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046720" y="2331720"/>
            <a:ext cx="3413455"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spcAft>
                <a:spcPts val="400"/>
              </a:spcAft>
              <a:defRPr sz="1100" b="1">
                <a:solidFill>
                  <a:srgbClr val="0D9488"/>
                </a:solidFill>
                <a:latin typeface="Arial"/>
              </a:defRPr>
            </a:pPr>
            <a:r>
              <a:t>TEST SET (15%)</a:t>
            </a:r>
          </a:p>
          <a:p>
            <a:pPr>
              <a:spcAft>
                <a:spcPts val="400"/>
              </a:spcAft>
              <a:defRPr sz="1400" b="1">
                <a:solidFill>
                  <a:srgbClr val="0F172A"/>
                </a:solidFill>
                <a:latin typeface="Arial"/>
              </a:defRPr>
            </a:pPr>
            <a:r>
              <a:t>184,660 rows × 54 features</a:t>
            </a:r>
          </a:p>
          <a:p>
            <a:pPr>
              <a:spcAft>
                <a:spcPts val="1400"/>
              </a:spcAft>
              <a:defRPr sz="1100" b="1">
                <a:solidFill>
                  <a:srgbClr val="0284C7"/>
                </a:solidFill>
                <a:latin typeface="Calibri"/>
              </a:defRPr>
            </a:pPr>
            <a:r>
              <a:t>May 14, 2015 to Aug 31, 2015</a:t>
            </a:r>
          </a:p>
          <a:p>
            <a:pPr>
              <a:spcAft>
                <a:spcPts val="200"/>
              </a:spcAft>
              <a:defRPr sz="950" b="1">
                <a:solidFill>
                  <a:srgbClr val="64748B"/>
                </a:solidFill>
                <a:latin typeface="Arial"/>
              </a:defRPr>
            </a:pPr>
            <a:r>
              <a:t>WHAT THIS SET DOES:</a:t>
            </a:r>
          </a:p>
          <a:p>
            <a:pPr>
              <a:defRPr sz="1050">
                <a:solidFill>
                  <a:srgbClr val="0F172A"/>
                </a:solidFill>
                <a:latin typeface="Calibri"/>
              </a:defRPr>
            </a:pPr>
            <a:r>
              <a:t>Kept untouched. Tests how well models perform on completely new, future months.</a:t>
            </a:r>
          </a:p>
        </p:txBody>
      </p:sp>
      <p:sp>
        <p:nvSpPr>
          <p:cNvPr id="11" name="Rectangle 10"/>
          <p:cNvSpPr/>
          <p:nvPr/>
        </p:nvSpPr>
        <p:spPr>
          <a:xfrm>
            <a:off x="8046720" y="2331720"/>
            <a:ext cx="3413455" cy="91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9601200" cy="868680"/>
          </a:xfrm>
          <a:prstGeom prst="rect">
            <a:avLst/>
          </a:prstGeom>
          <a:noFill/>
        </p:spPr>
        <p:txBody>
          <a:bodyPr wrap="square" lIns="0" tIns="0" rIns="0" bIns="0">
            <a:spAutoFit/>
          </a:bodyPr>
          <a:lstStyle/>
          <a:p>
            <a:pPr>
              <a:spcAft>
                <a:spcPts val="200"/>
              </a:spcAft>
              <a:defRPr sz="1000" b="1">
                <a:solidFill>
                  <a:srgbClr val="0284C7"/>
                </a:solidFill>
                <a:latin typeface="Arial"/>
              </a:defRPr>
            </a:pPr>
            <a:r>
              <a:t>ALGORITHMS USED</a:t>
            </a:r>
          </a:p>
          <a:p>
            <a:pPr>
              <a:defRPr sz="2100" b="1">
                <a:solidFill>
                  <a:srgbClr val="0F172A"/>
                </a:solidFill>
                <a:latin typeface="Arial"/>
              </a:defRPr>
            </a:pPr>
            <a:r>
              <a:t>Model Selection: How Each Model Works</a:t>
            </a:r>
          </a:p>
        </p:txBody>
      </p:sp>
      <p:sp>
        <p:nvSpPr>
          <p:cNvPr id="3" name="TextBox 2"/>
          <p:cNvSpPr txBox="1"/>
          <p:nvPr/>
        </p:nvSpPr>
        <p:spPr>
          <a:xfrm>
            <a:off x="10424160" y="320040"/>
            <a:ext cx="1005840" cy="365760"/>
          </a:xfrm>
          <a:prstGeom prst="rect">
            <a:avLst/>
          </a:prstGeom>
          <a:noFill/>
        </p:spPr>
        <p:txBody>
          <a:bodyPr wrap="none">
            <a:spAutoFit/>
          </a:bodyPr>
          <a:lstStyle/>
          <a:p>
            <a:pPr algn="r">
              <a:defRPr sz="1100" b="1">
                <a:solidFill>
                  <a:srgbClr val="64748B"/>
                </a:solidFill>
                <a:latin typeface="Arial"/>
              </a:defRPr>
            </a:pPr>
            <a:r>
              <a:t>11 / 15</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17320"/>
            <a:ext cx="341345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201168" rIns="201168" rtlCol="0" anchor="ctr"/>
          <a:lstStyle/>
          <a:p>
            <a:pPr algn="ctr">
              <a:spcAft>
                <a:spcPts val="200"/>
              </a:spcAft>
              <a:defRPr sz="1000" b="1">
                <a:solidFill>
                  <a:srgbClr val="0284C7"/>
                </a:solidFill>
                <a:latin typeface="Arial"/>
              </a:defRPr>
            </a:pPr>
            <a:r>
              <a:t>MODEL 1: RANDOM FOREST</a:t>
            </a:r>
          </a:p>
          <a:p>
            <a:pPr>
              <a:spcAft>
                <a:spcPts val="800"/>
              </a:spcAft>
              <a:defRPr sz="1400" b="1">
                <a:solidFill>
                  <a:srgbClr val="0F172A"/>
                </a:solidFill>
                <a:latin typeface="Arial"/>
              </a:defRPr>
            </a:pPr>
            <a:r>
              <a:t>Random Forest</a:t>
            </a:r>
          </a:p>
          <a:p>
            <a:pPr>
              <a:spcAft>
                <a:spcPts val="800"/>
              </a:spcAft>
              <a:defRPr sz="1000">
                <a:solidFill>
                  <a:srgbClr val="0F172A"/>
                </a:solidFill>
                <a:latin typeface="Calibri"/>
              </a:defRPr>
            </a:pPr>
            <a:r>
              <a:t>HOW DOES IT WORK?</a:t>
            </a:r>
            <a:br/>
            <a:r>
              <a:t>Builds many decision trees at the same time in parallel. Takes the average prediction of all trees.</a:t>
            </a:r>
          </a:p>
          <a:p>
            <a:pPr>
              <a:spcAft>
                <a:spcPts val="800"/>
              </a:spcAft>
              <a:defRPr sz="950">
                <a:solidFill>
                  <a:srgbClr val="334155"/>
                </a:solidFill>
                <a:latin typeface="Calibri"/>
              </a:defRPr>
            </a:pPr>
            <a:r>
              <a:t>EXAMPLE:</a:t>
            </a:r>
            <a:br/>
            <a:r>
              <a:t>Tree 1 says: 14 trips</a:t>
            </a:r>
            <a:br/>
            <a:r>
              <a:t>Tree 2 says: 16 trips</a:t>
            </a:r>
            <a:br/>
            <a:r>
              <a:t>Tree 3 says: 15 trips</a:t>
            </a:r>
            <a:br/>
            <a:r>
              <a:t>Average: (14 + 16 + 15) / 3 = 15 trips</a:t>
            </a:r>
          </a:p>
          <a:p>
            <a:pPr>
              <a:defRPr sz="1000" b="1">
                <a:solidFill>
                  <a:srgbClr val="0284C7"/>
                </a:solidFill>
                <a:latin typeface="Calibri"/>
              </a:defRPr>
            </a:pPr>
            <a:r>
              <a:t>WHY WE USE IT?</a:t>
            </a:r>
            <a:br/>
            <a:r>
              <a:t>Averaging many independent trees reduces errors and handles noisy data well.</a:t>
            </a:r>
          </a:p>
        </p:txBody>
      </p:sp>
      <p:sp>
        <p:nvSpPr>
          <p:cNvPr id="6" name="Rectangle 5"/>
          <p:cNvSpPr/>
          <p:nvPr/>
        </p:nvSpPr>
        <p:spPr>
          <a:xfrm>
            <a:off x="731520" y="1417320"/>
            <a:ext cx="341345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0" y="1417320"/>
            <a:ext cx="341345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201168" rIns="201168" rtlCol="0" anchor="ctr"/>
          <a:lstStyle/>
          <a:p>
            <a:pPr algn="ctr">
              <a:spcAft>
                <a:spcPts val="200"/>
              </a:spcAft>
              <a:defRPr sz="1000" b="1">
                <a:solidFill>
                  <a:srgbClr val="0D9488"/>
                </a:solidFill>
                <a:latin typeface="Arial"/>
              </a:defRPr>
            </a:pPr>
            <a:r>
              <a:rPr dirty="0"/>
              <a:t>MODEL 2: XGBOOST</a:t>
            </a:r>
          </a:p>
          <a:p>
            <a:pPr>
              <a:spcAft>
                <a:spcPts val="800"/>
              </a:spcAft>
              <a:defRPr sz="1400" b="1">
                <a:solidFill>
                  <a:srgbClr val="0F172A"/>
                </a:solidFill>
                <a:latin typeface="Arial"/>
              </a:defRPr>
            </a:pPr>
            <a:r>
              <a:rPr dirty="0" err="1"/>
              <a:t>XGBoost</a:t>
            </a:r>
            <a:endParaRPr dirty="0"/>
          </a:p>
          <a:p>
            <a:pPr>
              <a:spcAft>
                <a:spcPts val="800"/>
              </a:spcAft>
              <a:defRPr sz="1000">
                <a:solidFill>
                  <a:srgbClr val="0F172A"/>
                </a:solidFill>
                <a:latin typeface="Calibri"/>
              </a:defRPr>
            </a:pPr>
            <a:r>
              <a:rPr dirty="0"/>
              <a:t>HOW DOES IT WORK?</a:t>
            </a:r>
            <a:br>
              <a:rPr dirty="0"/>
            </a:br>
            <a:r>
              <a:rPr dirty="0"/>
              <a:t>Builds trees one after another in a line. Each new tree tries to correct the previous tree's mistake.</a:t>
            </a:r>
          </a:p>
          <a:p>
            <a:pPr>
              <a:spcAft>
                <a:spcPts val="800"/>
              </a:spcAft>
              <a:defRPr sz="950">
                <a:solidFill>
                  <a:srgbClr val="334155"/>
                </a:solidFill>
                <a:latin typeface="Calibri"/>
              </a:defRPr>
            </a:pPr>
            <a:r>
              <a:rPr dirty="0"/>
              <a:t>EXAMPLE:</a:t>
            </a:r>
            <a:br>
              <a:rPr dirty="0"/>
            </a:br>
            <a:r>
              <a:rPr dirty="0"/>
              <a:t>Real demand = 15 trips.</a:t>
            </a:r>
            <a:br>
              <a:rPr dirty="0"/>
            </a:br>
            <a:r>
              <a:rPr dirty="0"/>
              <a:t>Tree 1 guesses 11 (mistake = +4).</a:t>
            </a:r>
            <a:br>
              <a:rPr dirty="0"/>
            </a:br>
            <a:r>
              <a:rPr dirty="0"/>
              <a:t>Tree 2 tries to predict the +4 mistake!</a:t>
            </a:r>
          </a:p>
          <a:p>
            <a:pPr>
              <a:defRPr sz="1000" b="1">
                <a:solidFill>
                  <a:srgbClr val="0284C7"/>
                </a:solidFill>
                <a:latin typeface="Calibri"/>
              </a:defRPr>
            </a:pPr>
            <a:r>
              <a:rPr dirty="0"/>
              <a:t>WHY WE USE IT?</a:t>
            </a:r>
            <a:br>
              <a:rPr dirty="0"/>
            </a:br>
            <a:r>
              <a:rPr dirty="0"/>
              <a:t>Very good at learning difficult patterns like rush hour spikes.</a:t>
            </a:r>
          </a:p>
        </p:txBody>
      </p:sp>
      <p:sp>
        <p:nvSpPr>
          <p:cNvPr id="8" name="Rectangle 7"/>
          <p:cNvSpPr/>
          <p:nvPr/>
        </p:nvSpPr>
        <p:spPr>
          <a:xfrm>
            <a:off x="4389120" y="1417320"/>
            <a:ext cx="3413455" cy="91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46720" y="1417320"/>
            <a:ext cx="341345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201168" rIns="201168" rtlCol="0" anchor="ctr"/>
          <a:lstStyle/>
          <a:p>
            <a:pPr algn="ctr">
              <a:spcAft>
                <a:spcPts val="200"/>
              </a:spcAft>
              <a:defRPr sz="1000" b="1">
                <a:solidFill>
                  <a:srgbClr val="D97706"/>
                </a:solidFill>
                <a:latin typeface="Arial"/>
              </a:defRPr>
            </a:pPr>
            <a:r>
              <a:rPr dirty="0"/>
              <a:t>MODEL 3: CATBOOST</a:t>
            </a:r>
          </a:p>
          <a:p>
            <a:pPr>
              <a:spcAft>
                <a:spcPts val="800"/>
              </a:spcAft>
              <a:defRPr sz="1400" b="1">
                <a:solidFill>
                  <a:srgbClr val="0F172A"/>
                </a:solidFill>
                <a:latin typeface="Arial"/>
              </a:defRPr>
            </a:pPr>
            <a:r>
              <a:rPr dirty="0" err="1"/>
              <a:t>CatBoost</a:t>
            </a:r>
            <a:endParaRPr dirty="0"/>
          </a:p>
          <a:p>
            <a:pPr>
              <a:spcAft>
                <a:spcPts val="800"/>
              </a:spcAft>
              <a:defRPr sz="1000">
                <a:solidFill>
                  <a:srgbClr val="0F172A"/>
                </a:solidFill>
                <a:latin typeface="Calibri"/>
              </a:defRPr>
            </a:pPr>
            <a:r>
              <a:rPr dirty="0"/>
              <a:t>HOW DOES IT WORK?</a:t>
            </a:r>
            <a:br>
              <a:rPr dirty="0"/>
            </a:br>
            <a:r>
              <a:rPr dirty="0" err="1"/>
              <a:t>CatBoost</a:t>
            </a:r>
            <a:r>
              <a:rPr dirty="0"/>
              <a:t> builds trees one after another, similar to </a:t>
            </a:r>
            <a:r>
              <a:rPr dirty="0" err="1"/>
              <a:t>XGBoost</a:t>
            </a:r>
            <a:r>
              <a:rPr dirty="0"/>
              <a:t>. It uses ordered boosting to improve how the model learns.</a:t>
            </a:r>
          </a:p>
          <a:p>
            <a:pPr>
              <a:spcAft>
                <a:spcPts val="800"/>
              </a:spcAft>
              <a:defRPr sz="950">
                <a:solidFill>
                  <a:srgbClr val="334155"/>
                </a:solidFill>
                <a:latin typeface="Calibri"/>
              </a:defRPr>
            </a:pPr>
            <a:r>
              <a:rPr dirty="0"/>
              <a:t>ORDERED BOOSTING:</a:t>
            </a:r>
            <a:br>
              <a:rPr dirty="0"/>
            </a:br>
            <a:r>
              <a:rPr dirty="0"/>
              <a:t>Calculates residuals without target leakage, preventing overfitting on repetitive time data.</a:t>
            </a:r>
          </a:p>
          <a:p>
            <a:pPr>
              <a:defRPr sz="1000" b="1">
                <a:solidFill>
                  <a:srgbClr val="0284C7"/>
                </a:solidFill>
                <a:latin typeface="Calibri"/>
              </a:defRPr>
            </a:pPr>
            <a:r>
              <a:rPr dirty="0"/>
              <a:t>WHY WE USE IT?</a:t>
            </a:r>
            <a:br>
              <a:rPr dirty="0"/>
            </a:br>
            <a:r>
              <a:rPr dirty="0"/>
              <a:t>Provides another boosting model for comparison and gives fast predictions.</a:t>
            </a:r>
          </a:p>
        </p:txBody>
      </p:sp>
      <p:sp>
        <p:nvSpPr>
          <p:cNvPr id="10" name="Rectangle 9"/>
          <p:cNvSpPr/>
          <p:nvPr/>
        </p:nvSpPr>
        <p:spPr>
          <a:xfrm>
            <a:off x="8046720" y="1417320"/>
            <a:ext cx="3413455"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9601200" cy="868680"/>
          </a:xfrm>
          <a:prstGeom prst="rect">
            <a:avLst/>
          </a:prstGeom>
          <a:noFill/>
        </p:spPr>
        <p:txBody>
          <a:bodyPr wrap="square" lIns="0" tIns="0" rIns="0" bIns="0">
            <a:spAutoFit/>
          </a:bodyPr>
          <a:lstStyle/>
          <a:p>
            <a:pPr>
              <a:spcAft>
                <a:spcPts val="200"/>
              </a:spcAft>
              <a:defRPr sz="1000" b="1">
                <a:solidFill>
                  <a:srgbClr val="0284C7"/>
                </a:solidFill>
                <a:latin typeface="Arial"/>
              </a:defRPr>
            </a:pPr>
            <a:r>
              <a:t>PERFORMANCE COMPARISON</a:t>
            </a:r>
          </a:p>
          <a:p>
            <a:pPr>
              <a:defRPr sz="2100" b="1">
                <a:solidFill>
                  <a:srgbClr val="0F172A"/>
                </a:solidFill>
                <a:latin typeface="Arial"/>
              </a:defRPr>
            </a:pPr>
            <a:r>
              <a:t>Model Results on Test Set (184,660 Rows)</a:t>
            </a:r>
          </a:p>
        </p:txBody>
      </p:sp>
      <p:sp>
        <p:nvSpPr>
          <p:cNvPr id="3" name="TextBox 2"/>
          <p:cNvSpPr txBox="1"/>
          <p:nvPr/>
        </p:nvSpPr>
        <p:spPr>
          <a:xfrm>
            <a:off x="10424160" y="320040"/>
            <a:ext cx="1005840" cy="365760"/>
          </a:xfrm>
          <a:prstGeom prst="rect">
            <a:avLst/>
          </a:prstGeom>
          <a:noFill/>
        </p:spPr>
        <p:txBody>
          <a:bodyPr wrap="none">
            <a:spAutoFit/>
          </a:bodyPr>
          <a:lstStyle/>
          <a:p>
            <a:pPr algn="r">
              <a:defRPr sz="1100" b="1">
                <a:solidFill>
                  <a:srgbClr val="64748B"/>
                </a:solidFill>
                <a:latin typeface="Arial"/>
              </a:defRPr>
            </a:pPr>
            <a:r>
              <a:t>12 / 15</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731520" y="1417320"/>
          <a:ext cx="10728655" cy="237744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33295">
                  <a:extLst>
                    <a:ext uri="{9D8B030D-6E8A-4147-A177-3AD203B41FA5}">
                      <a16:colId xmlns:a16="http://schemas.microsoft.com/office/drawing/2014/main" val="20004"/>
                    </a:ext>
                  </a:extLst>
                </a:gridCol>
              </a:tblGrid>
              <a:tr h="594360">
                <a:tc>
                  <a:txBody>
                    <a:bodyPr/>
                    <a:lstStyle/>
                    <a:p>
                      <a:pPr>
                        <a:defRPr sz="1050" b="1">
                          <a:solidFill>
                            <a:srgbClr val="FFFFFF"/>
                          </a:solidFill>
                          <a:latin typeface="Arial"/>
                        </a:defRPr>
                      </a:pPr>
                      <a:r>
                        <a:t>Model</a:t>
                      </a:r>
                    </a:p>
                  </a:txBody>
                  <a:tcPr>
                    <a:solidFill>
                      <a:srgbClr val="1E293B"/>
                    </a:solidFill>
                  </a:tcPr>
                </a:tc>
                <a:tc>
                  <a:txBody>
                    <a:bodyPr/>
                    <a:lstStyle/>
                    <a:p>
                      <a:pPr>
                        <a:defRPr sz="1050" b="1">
                          <a:solidFill>
                            <a:srgbClr val="FFFFFF"/>
                          </a:solidFill>
                          <a:latin typeface="Arial"/>
                        </a:defRPr>
                      </a:pPr>
                      <a:r>
                        <a:t>Features</a:t>
                      </a:r>
                    </a:p>
                  </a:txBody>
                  <a:tcPr>
                    <a:solidFill>
                      <a:srgbClr val="1E293B"/>
                    </a:solidFill>
                  </a:tcPr>
                </a:tc>
                <a:tc>
                  <a:txBody>
                    <a:bodyPr/>
                    <a:lstStyle/>
                    <a:p>
                      <a:pPr>
                        <a:defRPr sz="1050" b="1">
                          <a:solidFill>
                            <a:srgbClr val="FFFFFF"/>
                          </a:solidFill>
                          <a:latin typeface="Arial"/>
                        </a:defRPr>
                      </a:pPr>
                      <a:r>
                        <a:t>Test MAE</a:t>
                      </a:r>
                    </a:p>
                  </a:txBody>
                  <a:tcPr>
                    <a:solidFill>
                      <a:srgbClr val="1E293B"/>
                    </a:solidFill>
                  </a:tcPr>
                </a:tc>
                <a:tc>
                  <a:txBody>
                    <a:bodyPr/>
                    <a:lstStyle/>
                    <a:p>
                      <a:pPr>
                        <a:defRPr sz="1050" b="1">
                          <a:solidFill>
                            <a:srgbClr val="FFFFFF"/>
                          </a:solidFill>
                          <a:latin typeface="Arial"/>
                        </a:defRPr>
                      </a:pPr>
                      <a:r>
                        <a:t>Test RMSE</a:t>
                      </a:r>
                    </a:p>
                  </a:txBody>
                  <a:tcPr>
                    <a:solidFill>
                      <a:srgbClr val="1E293B"/>
                    </a:solidFill>
                  </a:tcPr>
                </a:tc>
                <a:tc>
                  <a:txBody>
                    <a:bodyPr/>
                    <a:lstStyle/>
                    <a:p>
                      <a:pPr>
                        <a:defRPr sz="1050" b="1">
                          <a:solidFill>
                            <a:srgbClr val="FFFFFF"/>
                          </a:solidFill>
                          <a:latin typeface="Arial"/>
                        </a:defRPr>
                      </a:pPr>
                      <a:r>
                        <a:t>Test R²</a:t>
                      </a:r>
                    </a:p>
                  </a:txBody>
                  <a:tcPr>
                    <a:solidFill>
                      <a:srgbClr val="1E293B"/>
                    </a:solidFill>
                  </a:tcPr>
                </a:tc>
                <a:extLst>
                  <a:ext uri="{0D108BD9-81ED-4DB2-BD59-A6C34878D82A}">
                    <a16:rowId xmlns:a16="http://schemas.microsoft.com/office/drawing/2014/main" val="10000"/>
                  </a:ext>
                </a:extLst>
              </a:tr>
              <a:tr h="594360">
                <a:tc>
                  <a:txBody>
                    <a:bodyPr/>
                    <a:lstStyle/>
                    <a:p>
                      <a:pPr>
                        <a:defRPr sz="1050" b="1">
                          <a:solidFill>
                            <a:srgbClr val="0284C7"/>
                          </a:solidFill>
                          <a:latin typeface="Calibri"/>
                        </a:defRPr>
                      </a:pPr>
                      <a:r>
                        <a:t>Random Forest</a:t>
                      </a:r>
                    </a:p>
                  </a:txBody>
                  <a:tcPr>
                    <a:solidFill>
                      <a:srgbClr val="FFFFFF"/>
                    </a:solidFill>
                  </a:tcPr>
                </a:tc>
                <a:tc>
                  <a:txBody>
                    <a:bodyPr/>
                    <a:lstStyle/>
                    <a:p>
                      <a:pPr>
                        <a:defRPr sz="1050">
                          <a:solidFill>
                            <a:srgbClr val="0F172A"/>
                          </a:solidFill>
                          <a:latin typeface="Calibri"/>
                        </a:defRPr>
                      </a:pPr>
                      <a:r>
                        <a:t>54</a:t>
                      </a:r>
                    </a:p>
                  </a:txBody>
                  <a:tcPr>
                    <a:solidFill>
                      <a:srgbClr val="FFFFFF"/>
                    </a:solidFill>
                  </a:tcPr>
                </a:tc>
                <a:tc>
                  <a:txBody>
                    <a:bodyPr/>
                    <a:lstStyle/>
                    <a:p>
                      <a:pPr>
                        <a:defRPr sz="1050">
                          <a:solidFill>
                            <a:srgbClr val="0F172A"/>
                          </a:solidFill>
                          <a:latin typeface="Calibri"/>
                        </a:defRPr>
                      </a:pPr>
                      <a:r>
                        <a:t>0.439206</a:t>
                      </a:r>
                    </a:p>
                  </a:txBody>
                  <a:tcPr>
                    <a:solidFill>
                      <a:srgbClr val="FFFFFF"/>
                    </a:solidFill>
                  </a:tcPr>
                </a:tc>
                <a:tc>
                  <a:txBody>
                    <a:bodyPr/>
                    <a:lstStyle/>
                    <a:p>
                      <a:pPr>
                        <a:defRPr sz="1050">
                          <a:solidFill>
                            <a:srgbClr val="0F172A"/>
                          </a:solidFill>
                          <a:latin typeface="Calibri"/>
                        </a:defRPr>
                      </a:pPr>
                      <a:r>
                        <a:t>0.908465</a:t>
                      </a:r>
                    </a:p>
                  </a:txBody>
                  <a:tcPr>
                    <a:solidFill>
                      <a:srgbClr val="FFFFFF"/>
                    </a:solidFill>
                  </a:tcPr>
                </a:tc>
                <a:tc>
                  <a:txBody>
                    <a:bodyPr/>
                    <a:lstStyle/>
                    <a:p>
                      <a:pPr>
                        <a:defRPr sz="1050">
                          <a:solidFill>
                            <a:srgbClr val="0F172A"/>
                          </a:solidFill>
                          <a:latin typeface="Calibri"/>
                        </a:defRPr>
                      </a:pPr>
                      <a:r>
                        <a:t>0.731390</a:t>
                      </a:r>
                    </a:p>
                  </a:txBody>
                  <a:tcPr>
                    <a:solidFill>
                      <a:srgbClr val="FFFFFF"/>
                    </a:solidFill>
                  </a:tcPr>
                </a:tc>
                <a:extLst>
                  <a:ext uri="{0D108BD9-81ED-4DB2-BD59-A6C34878D82A}">
                    <a16:rowId xmlns:a16="http://schemas.microsoft.com/office/drawing/2014/main" val="10001"/>
                  </a:ext>
                </a:extLst>
              </a:tr>
              <a:tr h="594360">
                <a:tc>
                  <a:txBody>
                    <a:bodyPr/>
                    <a:lstStyle/>
                    <a:p>
                      <a:pPr>
                        <a:defRPr sz="1050" b="1">
                          <a:solidFill>
                            <a:srgbClr val="0284C7"/>
                          </a:solidFill>
                          <a:latin typeface="Calibri"/>
                        </a:defRPr>
                      </a:pPr>
                      <a:r>
                        <a:t>XGBoost</a:t>
                      </a:r>
                    </a:p>
                  </a:txBody>
                  <a:tcPr>
                    <a:solidFill>
                      <a:srgbClr val="F1F5F9"/>
                    </a:solidFill>
                  </a:tcPr>
                </a:tc>
                <a:tc>
                  <a:txBody>
                    <a:bodyPr/>
                    <a:lstStyle/>
                    <a:p>
                      <a:pPr>
                        <a:defRPr sz="1050">
                          <a:solidFill>
                            <a:srgbClr val="0F172A"/>
                          </a:solidFill>
                          <a:latin typeface="Calibri"/>
                        </a:defRPr>
                      </a:pPr>
                      <a:r>
                        <a:t>54</a:t>
                      </a:r>
                    </a:p>
                  </a:txBody>
                  <a:tcPr>
                    <a:solidFill>
                      <a:srgbClr val="F1F5F9"/>
                    </a:solidFill>
                  </a:tcPr>
                </a:tc>
                <a:tc>
                  <a:txBody>
                    <a:bodyPr/>
                    <a:lstStyle/>
                    <a:p>
                      <a:pPr>
                        <a:defRPr sz="1050" b="1">
                          <a:latin typeface="Calibri"/>
                        </a:defRPr>
                      </a:pPr>
                      <a:r>
                        <a:t>0.430550</a:t>
                      </a:r>
                    </a:p>
                  </a:txBody>
                  <a:tcPr>
                    <a:solidFill>
                      <a:srgbClr val="F1F5F9"/>
                    </a:solidFill>
                  </a:tcPr>
                </a:tc>
                <a:tc>
                  <a:txBody>
                    <a:bodyPr/>
                    <a:lstStyle/>
                    <a:p>
                      <a:pPr>
                        <a:defRPr sz="1050">
                          <a:solidFill>
                            <a:srgbClr val="0F172A"/>
                          </a:solidFill>
                          <a:latin typeface="Calibri"/>
                        </a:defRPr>
                      </a:pPr>
                      <a:r>
                        <a:t>0.898213</a:t>
                      </a:r>
                    </a:p>
                  </a:txBody>
                  <a:tcPr>
                    <a:solidFill>
                      <a:srgbClr val="F1F5F9"/>
                    </a:solidFill>
                  </a:tcPr>
                </a:tc>
                <a:tc>
                  <a:txBody>
                    <a:bodyPr/>
                    <a:lstStyle/>
                    <a:p>
                      <a:pPr>
                        <a:defRPr sz="1050">
                          <a:solidFill>
                            <a:srgbClr val="0F172A"/>
                          </a:solidFill>
                          <a:latin typeface="Calibri"/>
                        </a:defRPr>
                      </a:pPr>
                      <a:r>
                        <a:t>0.737418</a:t>
                      </a:r>
                    </a:p>
                  </a:txBody>
                  <a:tcPr>
                    <a:solidFill>
                      <a:srgbClr val="F1F5F9"/>
                    </a:solidFill>
                  </a:tcPr>
                </a:tc>
                <a:extLst>
                  <a:ext uri="{0D108BD9-81ED-4DB2-BD59-A6C34878D82A}">
                    <a16:rowId xmlns:a16="http://schemas.microsoft.com/office/drawing/2014/main" val="10002"/>
                  </a:ext>
                </a:extLst>
              </a:tr>
              <a:tr h="594360">
                <a:tc>
                  <a:txBody>
                    <a:bodyPr/>
                    <a:lstStyle/>
                    <a:p>
                      <a:pPr>
                        <a:defRPr sz="1050" b="1">
                          <a:solidFill>
                            <a:srgbClr val="0284C7"/>
                          </a:solidFill>
                          <a:latin typeface="Calibri"/>
                        </a:defRPr>
                      </a:pPr>
                      <a:r>
                        <a:t>CatBoost</a:t>
                      </a:r>
                    </a:p>
                  </a:txBody>
                  <a:tcPr>
                    <a:solidFill>
                      <a:srgbClr val="FFFFFF"/>
                    </a:solidFill>
                  </a:tcPr>
                </a:tc>
                <a:tc>
                  <a:txBody>
                    <a:bodyPr/>
                    <a:lstStyle/>
                    <a:p>
                      <a:pPr>
                        <a:defRPr sz="1050">
                          <a:solidFill>
                            <a:srgbClr val="0F172A"/>
                          </a:solidFill>
                          <a:latin typeface="Calibri"/>
                        </a:defRPr>
                      </a:pPr>
                      <a:r>
                        <a:t>54</a:t>
                      </a:r>
                    </a:p>
                  </a:txBody>
                  <a:tcPr>
                    <a:solidFill>
                      <a:srgbClr val="FFFFFF"/>
                    </a:solidFill>
                  </a:tcPr>
                </a:tc>
                <a:tc>
                  <a:txBody>
                    <a:bodyPr/>
                    <a:lstStyle/>
                    <a:p>
                      <a:pPr>
                        <a:defRPr sz="1050">
                          <a:solidFill>
                            <a:srgbClr val="0F172A"/>
                          </a:solidFill>
                          <a:latin typeface="Calibri"/>
                        </a:defRPr>
                      </a:pPr>
                      <a:r>
                        <a:t>0.436126</a:t>
                      </a:r>
                    </a:p>
                  </a:txBody>
                  <a:tcPr>
                    <a:solidFill>
                      <a:srgbClr val="FFFFFF"/>
                    </a:solidFill>
                  </a:tcPr>
                </a:tc>
                <a:tc>
                  <a:txBody>
                    <a:bodyPr/>
                    <a:lstStyle/>
                    <a:p>
                      <a:pPr>
                        <a:defRPr sz="1050" b="1">
                          <a:latin typeface="Calibri"/>
                        </a:defRPr>
                      </a:pPr>
                      <a:r>
                        <a:t>0.897665</a:t>
                      </a:r>
                    </a:p>
                  </a:txBody>
                  <a:tcPr>
                    <a:solidFill>
                      <a:srgbClr val="FFFFFF"/>
                    </a:solidFill>
                  </a:tcPr>
                </a:tc>
                <a:tc>
                  <a:txBody>
                    <a:bodyPr/>
                    <a:lstStyle/>
                    <a:p>
                      <a:pPr>
                        <a:defRPr sz="1050" b="1">
                          <a:latin typeface="Calibri"/>
                        </a:defRPr>
                      </a:pPr>
                      <a:r>
                        <a:t>0.737738</a:t>
                      </a:r>
                    </a:p>
                  </a:txBody>
                  <a:tcPr>
                    <a:solidFill>
                      <a:srgbClr val="FFFFFF"/>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731520" y="4069080"/>
            <a:ext cx="3413455" cy="2377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Aft>
                <a:spcPts val="400"/>
              </a:spcAft>
              <a:defRPr sz="1100" b="1">
                <a:solidFill>
                  <a:srgbClr val="0284C7"/>
                </a:solidFill>
                <a:latin typeface="Arial"/>
              </a:defRPr>
            </a:pPr>
            <a:r>
              <a:t>1. Random Forest Performance</a:t>
            </a:r>
          </a:p>
          <a:p>
            <a:pPr>
              <a:spcAft>
                <a:spcPts val="200"/>
              </a:spcAft>
              <a:defRPr sz="1000">
                <a:solidFill>
                  <a:srgbClr val="0F172A"/>
                </a:solidFill>
                <a:latin typeface="Calibri"/>
              </a:defRPr>
            </a:pPr>
            <a:r>
              <a:t>• Test MAE: 0.439206 | RMSE: 0.908465 | R²: 0.731390</a:t>
            </a:r>
          </a:p>
          <a:p>
            <a:pPr>
              <a:spcAft>
                <a:spcPts val="200"/>
              </a:spcAft>
              <a:defRPr sz="1000">
                <a:solidFill>
                  <a:srgbClr val="0F172A"/>
                </a:solidFill>
                <a:latin typeface="Calibri"/>
              </a:defRPr>
            </a:pPr>
            <a:r>
              <a:t>• Demonstrates solid performance, explaining about 73% of the demand variation.</a:t>
            </a:r>
          </a:p>
          <a:p>
            <a:pPr>
              <a:spcAft>
                <a:spcPts val="200"/>
              </a:spcAft>
              <a:defRPr sz="1000">
                <a:solidFill>
                  <a:srgbClr val="0F172A"/>
                </a:solidFill>
                <a:latin typeface="Calibri"/>
              </a:defRPr>
            </a:pPr>
            <a:r>
              <a:t>• Validates that bagging decision trees provides a reliable baseline on tabular data.</a:t>
            </a:r>
          </a:p>
        </p:txBody>
      </p:sp>
      <p:sp>
        <p:nvSpPr>
          <p:cNvPr id="7" name="Rectangle 6"/>
          <p:cNvSpPr/>
          <p:nvPr/>
        </p:nvSpPr>
        <p:spPr>
          <a:xfrm>
            <a:off x="731520" y="4069080"/>
            <a:ext cx="341345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89120" y="4069080"/>
            <a:ext cx="3413455" cy="2377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Aft>
                <a:spcPts val="400"/>
              </a:spcAft>
              <a:defRPr sz="1100" b="1">
                <a:solidFill>
                  <a:srgbClr val="0D9488"/>
                </a:solidFill>
                <a:latin typeface="Arial"/>
              </a:defRPr>
            </a:pPr>
            <a:r>
              <a:t>2. XGBoost Performance</a:t>
            </a:r>
          </a:p>
          <a:p>
            <a:pPr>
              <a:spcAft>
                <a:spcPts val="200"/>
              </a:spcAft>
              <a:defRPr sz="1000">
                <a:solidFill>
                  <a:srgbClr val="0F172A"/>
                </a:solidFill>
                <a:latin typeface="Calibri"/>
              </a:defRPr>
            </a:pPr>
            <a:r>
              <a:t>• Test MAE: 0.430550 | RMSE: 0.898213 | R²: 0.737418</a:t>
            </a:r>
          </a:p>
          <a:p>
            <a:pPr>
              <a:spcAft>
                <a:spcPts val="200"/>
              </a:spcAft>
              <a:defRPr sz="1000">
                <a:solidFill>
                  <a:srgbClr val="0F172A"/>
                </a:solidFill>
                <a:latin typeface="Calibri"/>
              </a:defRPr>
            </a:pPr>
            <a:r>
              <a:t>• Achieved the lowest MAE (0.430550) among all three models.</a:t>
            </a:r>
          </a:p>
          <a:p>
            <a:pPr>
              <a:spcAft>
                <a:spcPts val="200"/>
              </a:spcAft>
              <a:defRPr sz="1000">
                <a:solidFill>
                  <a:srgbClr val="0F172A"/>
                </a:solidFill>
                <a:latin typeface="Calibri"/>
              </a:defRPr>
            </a:pPr>
            <a:r>
              <a:t>• This means it has the lowest average absolute error on test predictions.</a:t>
            </a:r>
          </a:p>
        </p:txBody>
      </p:sp>
      <p:sp>
        <p:nvSpPr>
          <p:cNvPr id="9" name="Rectangle 8"/>
          <p:cNvSpPr/>
          <p:nvPr/>
        </p:nvSpPr>
        <p:spPr>
          <a:xfrm>
            <a:off x="4389120" y="4069080"/>
            <a:ext cx="3413455" cy="91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046720" y="4069080"/>
            <a:ext cx="3413455" cy="2377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Aft>
                <a:spcPts val="400"/>
              </a:spcAft>
              <a:defRPr sz="1100" b="1">
                <a:solidFill>
                  <a:srgbClr val="D97706"/>
                </a:solidFill>
                <a:latin typeface="Arial"/>
              </a:defRPr>
            </a:pPr>
            <a:r>
              <a:t>3. CatBoost Performance</a:t>
            </a:r>
          </a:p>
          <a:p>
            <a:pPr>
              <a:spcAft>
                <a:spcPts val="200"/>
              </a:spcAft>
              <a:defRPr sz="1000">
                <a:solidFill>
                  <a:srgbClr val="0F172A"/>
                </a:solidFill>
                <a:latin typeface="Calibri"/>
              </a:defRPr>
            </a:pPr>
            <a:r>
              <a:t>• Test MAE: 0.436126 | RMSE: 0.897665 | R²: 0.737738</a:t>
            </a:r>
          </a:p>
          <a:p>
            <a:pPr>
              <a:spcAft>
                <a:spcPts val="200"/>
              </a:spcAft>
              <a:defRPr sz="1000">
                <a:solidFill>
                  <a:srgbClr val="0F172A"/>
                </a:solidFill>
                <a:latin typeface="Calibri"/>
              </a:defRPr>
            </a:pPr>
            <a:r>
              <a:t>• Achieved the lowest RMSE (0.897665) and highest R² (0.737738).</a:t>
            </a:r>
          </a:p>
          <a:p>
            <a:pPr>
              <a:spcAft>
                <a:spcPts val="200"/>
              </a:spcAft>
              <a:defRPr sz="1000">
                <a:solidFill>
                  <a:srgbClr val="0F172A"/>
                </a:solidFill>
                <a:latin typeface="Calibri"/>
              </a:defRPr>
            </a:pPr>
            <a:r>
              <a:t>• Its lower RMSE means slightly lower error when larger errors are given more weight.</a:t>
            </a:r>
          </a:p>
        </p:txBody>
      </p:sp>
      <p:sp>
        <p:nvSpPr>
          <p:cNvPr id="11" name="Rectangle 10"/>
          <p:cNvSpPr/>
          <p:nvPr/>
        </p:nvSpPr>
        <p:spPr>
          <a:xfrm>
            <a:off x="8046720" y="4069080"/>
            <a:ext cx="3413455"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9601200" cy="868680"/>
          </a:xfrm>
          <a:prstGeom prst="rect">
            <a:avLst/>
          </a:prstGeom>
          <a:noFill/>
        </p:spPr>
        <p:txBody>
          <a:bodyPr wrap="square" lIns="0" tIns="0" rIns="0" bIns="0">
            <a:spAutoFit/>
          </a:bodyPr>
          <a:lstStyle/>
          <a:p>
            <a:pPr>
              <a:spcAft>
                <a:spcPts val="200"/>
              </a:spcAft>
              <a:defRPr sz="1000" b="1">
                <a:solidFill>
                  <a:srgbClr val="0284C7"/>
                </a:solidFill>
                <a:latin typeface="Arial"/>
              </a:defRPr>
            </a:pPr>
            <a:r>
              <a:t>MODEL EXPLANATION</a:t>
            </a:r>
          </a:p>
          <a:p>
            <a:pPr>
              <a:defRPr sz="2100" b="1">
                <a:solidFill>
                  <a:srgbClr val="0F172A"/>
                </a:solidFill>
                <a:latin typeface="Arial"/>
              </a:defRPr>
            </a:pPr>
            <a:r>
              <a:t>What Influenced the Predictions? (Top 5 Features)</a:t>
            </a:r>
          </a:p>
        </p:txBody>
      </p:sp>
      <p:sp>
        <p:nvSpPr>
          <p:cNvPr id="3" name="TextBox 2"/>
          <p:cNvSpPr txBox="1"/>
          <p:nvPr/>
        </p:nvSpPr>
        <p:spPr>
          <a:xfrm>
            <a:off x="10424160" y="320040"/>
            <a:ext cx="1005840" cy="365760"/>
          </a:xfrm>
          <a:prstGeom prst="rect">
            <a:avLst/>
          </a:prstGeom>
          <a:noFill/>
        </p:spPr>
        <p:txBody>
          <a:bodyPr wrap="none">
            <a:spAutoFit/>
          </a:bodyPr>
          <a:lstStyle/>
          <a:p>
            <a:pPr algn="r">
              <a:defRPr sz="1100" b="1">
                <a:solidFill>
                  <a:srgbClr val="64748B"/>
                </a:solidFill>
                <a:latin typeface="Arial"/>
              </a:defRPr>
            </a:pPr>
            <a:r>
              <a:t>13 / 15</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17320"/>
            <a:ext cx="5120640"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spcAft>
                <a:spcPts val="800"/>
              </a:spcAft>
              <a:defRPr sz="1100" b="1">
                <a:solidFill>
                  <a:srgbClr val="0284C7"/>
                </a:solidFill>
                <a:latin typeface="Arial"/>
              </a:defRPr>
            </a:pPr>
            <a:r>
              <a:rPr dirty="0"/>
              <a:t>TOP 5 FEATURES ACROSS ALL MODELS</a:t>
            </a:r>
          </a:p>
          <a:p>
            <a:pPr>
              <a:spcAft>
                <a:spcPts val="600"/>
              </a:spcAft>
              <a:defRPr sz="1050" b="1">
                <a:solidFill>
                  <a:srgbClr val="0F172A"/>
                </a:solidFill>
                <a:latin typeface="Arial"/>
              </a:defRPr>
            </a:pPr>
            <a:r>
              <a:rPr lang="en-US" dirty="0"/>
              <a:t>• </a:t>
            </a:r>
            <a:r>
              <a:rPr lang="en-US" sz="1200" dirty="0">
                <a:solidFill>
                  <a:srgbClr val="FF0000"/>
                </a:solidFill>
              </a:rPr>
              <a:t>1. </a:t>
            </a:r>
            <a:r>
              <a:rPr lang="en-IN" sz="1200" b="1" dirty="0">
                <a:solidFill>
                  <a:srgbClr val="FF0000"/>
                </a:solidFill>
                <a:latin typeface="Arial"/>
              </a:rPr>
              <a:t>lag_168h</a:t>
            </a:r>
            <a:r>
              <a:rPr lang="en-US" sz="1200" dirty="0">
                <a:solidFill>
                  <a:srgbClr val="FF0000"/>
                </a:solidFill>
              </a:rPr>
              <a:t>: </a:t>
            </a:r>
            <a:r>
              <a:rPr lang="en-IN" sz="1050" b="1" dirty="0">
                <a:solidFill>
                  <a:srgbClr val="0F172A"/>
                </a:solidFill>
                <a:latin typeface="Arial"/>
              </a:rPr>
              <a:t>Demand at the same station 168 hours (7 days) ago. It captures the previous week's demand pattern.</a:t>
            </a:r>
          </a:p>
          <a:p>
            <a:pPr>
              <a:spcAft>
                <a:spcPts val="600"/>
              </a:spcAft>
              <a:defRPr sz="1050" b="1">
                <a:solidFill>
                  <a:srgbClr val="0F172A"/>
                </a:solidFill>
                <a:latin typeface="Arial"/>
              </a:defRPr>
            </a:pPr>
            <a:r>
              <a:rPr lang="en-US" dirty="0"/>
              <a:t>• </a:t>
            </a:r>
            <a:r>
              <a:rPr lang="en-US" sz="1200" dirty="0">
                <a:solidFill>
                  <a:srgbClr val="FF0000"/>
                </a:solidFill>
              </a:rPr>
              <a:t>2. </a:t>
            </a:r>
            <a:r>
              <a:rPr lang="en-IN" sz="1200" b="1" dirty="0" err="1">
                <a:solidFill>
                  <a:srgbClr val="FF0000"/>
                </a:solidFill>
                <a:latin typeface="Arial"/>
              </a:rPr>
              <a:t>same_hour_previous_week</a:t>
            </a:r>
            <a:r>
              <a:rPr lang="en-US" sz="1200" dirty="0">
                <a:solidFill>
                  <a:srgbClr val="FF0000"/>
                </a:solidFill>
              </a:rPr>
              <a:t>: </a:t>
            </a:r>
            <a:r>
              <a:rPr lang="en-IN" sz="1050" b="1" dirty="0">
                <a:solidFill>
                  <a:srgbClr val="0F172A"/>
                </a:solidFill>
                <a:latin typeface="Arial"/>
              </a:rPr>
              <a:t>Demand at the same station at the same hour one week ago.</a:t>
            </a:r>
          </a:p>
          <a:p>
            <a:pPr>
              <a:spcAft>
                <a:spcPts val="600"/>
              </a:spcAft>
              <a:defRPr sz="1050" b="1">
                <a:solidFill>
                  <a:srgbClr val="0F172A"/>
                </a:solidFill>
                <a:latin typeface="Arial"/>
              </a:defRPr>
            </a:pPr>
            <a:r>
              <a:rPr lang="en-US" dirty="0"/>
              <a:t>• </a:t>
            </a:r>
            <a:r>
              <a:rPr lang="en-US" sz="1200" dirty="0">
                <a:solidFill>
                  <a:srgbClr val="FF0000"/>
                </a:solidFill>
              </a:rPr>
              <a:t>3. </a:t>
            </a:r>
            <a:r>
              <a:rPr lang="en-US" sz="1200" dirty="0" err="1">
                <a:solidFill>
                  <a:srgbClr val="FF0000"/>
                </a:solidFill>
              </a:rPr>
              <a:t>peak_hour</a:t>
            </a:r>
            <a:r>
              <a:rPr lang="en-US" sz="1200" dirty="0">
                <a:solidFill>
                  <a:srgbClr val="FF0000"/>
                </a:solidFill>
              </a:rPr>
              <a:t>: </a:t>
            </a:r>
            <a:r>
              <a:rPr lang="en-IN" sz="1050" b="1" dirty="0">
                <a:solidFill>
                  <a:srgbClr val="0F172A"/>
                </a:solidFill>
                <a:latin typeface="Arial"/>
              </a:rPr>
              <a:t>Indicates whether the current time is a morning peak (7–9 AM) or evening peak (4–7 PM)</a:t>
            </a:r>
          </a:p>
          <a:p>
            <a:pPr>
              <a:spcAft>
                <a:spcPts val="600"/>
              </a:spcAft>
              <a:defRPr sz="1050" b="1">
                <a:solidFill>
                  <a:srgbClr val="0F172A"/>
                </a:solidFill>
                <a:latin typeface="Arial"/>
              </a:defRPr>
            </a:pPr>
            <a:r>
              <a:rPr lang="en-US" dirty="0"/>
              <a:t>• </a:t>
            </a:r>
            <a:r>
              <a:rPr lang="en-US" sz="1200" dirty="0">
                <a:solidFill>
                  <a:srgbClr val="FF0000"/>
                </a:solidFill>
              </a:rPr>
              <a:t>4. </a:t>
            </a:r>
            <a:r>
              <a:rPr lang="en-IN" sz="1200" b="1" dirty="0">
                <a:solidFill>
                  <a:srgbClr val="FF0000"/>
                </a:solidFill>
                <a:latin typeface="Arial"/>
              </a:rPr>
              <a:t>lag_24h</a:t>
            </a:r>
            <a:r>
              <a:rPr lang="en-US" dirty="0"/>
              <a:t>: </a:t>
            </a:r>
            <a:r>
              <a:rPr lang="en-IN" sz="1050" b="1" dirty="0">
                <a:solidFill>
                  <a:srgbClr val="0F172A"/>
                </a:solidFill>
                <a:latin typeface="Arial"/>
              </a:rPr>
              <a:t>Demand at the same station 24 hours ago, at the same hour.</a:t>
            </a:r>
          </a:p>
          <a:p>
            <a:pPr>
              <a:spcAft>
                <a:spcPts val="600"/>
              </a:spcAft>
              <a:defRPr sz="1050" b="1">
                <a:solidFill>
                  <a:srgbClr val="0F172A"/>
                </a:solidFill>
                <a:latin typeface="Arial"/>
              </a:defRPr>
            </a:pPr>
            <a:r>
              <a:rPr lang="en-US" dirty="0"/>
              <a:t>• </a:t>
            </a:r>
            <a:r>
              <a:rPr lang="en-US" sz="1200" dirty="0">
                <a:solidFill>
                  <a:srgbClr val="FF0000"/>
                </a:solidFill>
              </a:rPr>
              <a:t>5. </a:t>
            </a:r>
            <a:r>
              <a:rPr lang="en-IN" sz="1200" b="1" dirty="0" err="1">
                <a:solidFill>
                  <a:srgbClr val="FF0000"/>
                </a:solidFill>
                <a:latin typeface="Arial"/>
              </a:rPr>
              <a:t>same_hour_previous_day</a:t>
            </a:r>
            <a:r>
              <a:rPr lang="en-US" dirty="0"/>
              <a:t>: </a:t>
            </a:r>
            <a:r>
              <a:rPr lang="en-IN" sz="1050" b="1" dirty="0">
                <a:solidFill>
                  <a:srgbClr val="0F172A"/>
                </a:solidFill>
                <a:latin typeface="Arial"/>
              </a:rPr>
              <a:t>Demand at the same station at the same hour on the previous day</a:t>
            </a:r>
            <a:r>
              <a:rPr lang="en-US" sz="1000" b="0" dirty="0">
                <a:solidFill>
                  <a:srgbClr val="334155"/>
                </a:solidFill>
                <a:latin typeface="Calibri"/>
              </a:rPr>
              <a:t>.</a:t>
            </a:r>
          </a:p>
          <a:p>
            <a:pPr>
              <a:defRPr sz="1050" b="1">
                <a:solidFill>
                  <a:srgbClr val="109567"/>
                </a:solidFill>
                <a:latin typeface="Calibri"/>
              </a:defRPr>
            </a:pPr>
            <a:r>
              <a:rPr sz="1100" dirty="0"/>
              <a:t>Takeaway:</a:t>
            </a:r>
            <a:r>
              <a:rPr lang="en-IN" sz="1100" dirty="0"/>
              <a:t> </a:t>
            </a:r>
            <a:r>
              <a:rPr lang="en-IN" sz="1100" b="1" dirty="0">
                <a:solidFill>
                  <a:srgbClr val="109567"/>
                </a:solidFill>
                <a:latin typeface="Calibri"/>
              </a:rPr>
              <a:t>Past demand, especially weekly patterns and peak-hour information, were important for the model predictions.</a:t>
            </a:r>
            <a:endParaRPr sz="1100" dirty="0"/>
          </a:p>
        </p:txBody>
      </p:sp>
      <p:pic>
        <p:nvPicPr>
          <p:cNvPr id="6" name="Picture 5" descr="feature_importance_comparison.png"/>
          <p:cNvPicPr>
            <a:picLocks noChangeAspect="1"/>
          </p:cNvPicPr>
          <p:nvPr/>
        </p:nvPicPr>
        <p:blipFill>
          <a:blip r:embed="rId3"/>
          <a:stretch>
            <a:fillRect/>
          </a:stretch>
        </p:blipFill>
        <p:spPr>
          <a:xfrm>
            <a:off x="6035040" y="1417320"/>
            <a:ext cx="5394960" cy="489745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9601200" cy="868680"/>
          </a:xfrm>
          <a:prstGeom prst="rect">
            <a:avLst/>
          </a:prstGeom>
          <a:noFill/>
        </p:spPr>
        <p:txBody>
          <a:bodyPr wrap="square" lIns="0" tIns="0" rIns="0" bIns="0">
            <a:spAutoFit/>
          </a:bodyPr>
          <a:lstStyle/>
          <a:p>
            <a:pPr>
              <a:spcAft>
                <a:spcPts val="200"/>
              </a:spcAft>
              <a:defRPr sz="1000" b="1">
                <a:solidFill>
                  <a:srgbClr val="0284C7"/>
                </a:solidFill>
                <a:latin typeface="Arial"/>
              </a:defRPr>
            </a:pPr>
            <a:r>
              <a:t>FUTURE WORK</a:t>
            </a:r>
          </a:p>
          <a:p>
            <a:pPr>
              <a:defRPr sz="2100" b="1">
                <a:solidFill>
                  <a:srgbClr val="0F172A"/>
                </a:solidFill>
                <a:latin typeface="Arial"/>
              </a:defRPr>
            </a:pPr>
            <a:r>
              <a:t>Next Phase: Implementation Plan</a:t>
            </a:r>
          </a:p>
        </p:txBody>
      </p:sp>
      <p:sp>
        <p:nvSpPr>
          <p:cNvPr id="3" name="TextBox 2"/>
          <p:cNvSpPr txBox="1"/>
          <p:nvPr/>
        </p:nvSpPr>
        <p:spPr>
          <a:xfrm>
            <a:off x="10424160" y="320040"/>
            <a:ext cx="1005840" cy="365760"/>
          </a:xfrm>
          <a:prstGeom prst="rect">
            <a:avLst/>
          </a:prstGeom>
          <a:noFill/>
        </p:spPr>
        <p:txBody>
          <a:bodyPr wrap="none">
            <a:spAutoFit/>
          </a:bodyPr>
          <a:lstStyle/>
          <a:p>
            <a:pPr algn="r">
              <a:defRPr sz="1100" b="1">
                <a:solidFill>
                  <a:srgbClr val="64748B"/>
                </a:solidFill>
                <a:latin typeface="Arial"/>
              </a:defRPr>
            </a:pPr>
            <a:r>
              <a:t>14 / 15</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17320"/>
            <a:ext cx="1072865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274320" rIns="320040" rtlCol="0" anchor="ctr"/>
          <a:lstStyle/>
          <a:p>
            <a:pPr algn="ctr">
              <a:spcAft>
                <a:spcPts val="1200"/>
              </a:spcAft>
              <a:defRPr sz="1300" b="1">
                <a:solidFill>
                  <a:srgbClr val="0284C7"/>
                </a:solidFill>
                <a:latin typeface="Arial"/>
              </a:defRPr>
            </a:pPr>
            <a:r>
              <a:t>WHAT WE PLAN TO DO IN THE NEXT PHASE:</a:t>
            </a:r>
          </a:p>
          <a:p>
            <a:pPr>
              <a:spcAft>
                <a:spcPts val="800"/>
              </a:spcAft>
              <a:defRPr sz="1100" b="1">
                <a:solidFill>
                  <a:srgbClr val="0F172A"/>
                </a:solidFill>
                <a:latin typeface="Arial"/>
              </a:defRPr>
            </a:pPr>
            <a:r>
              <a:t>1. Build Streamlit UI: </a:t>
            </a:r>
            <a:r>
              <a:rPr sz="1100" b="0">
                <a:solidFill>
                  <a:srgbClr val="334155"/>
                </a:solidFill>
                <a:latin typeface="Calibri"/>
              </a:rPr>
              <a:t>Create an interactive and clean web interface using Python Streamlit.</a:t>
            </a:r>
          </a:p>
          <a:p>
            <a:pPr>
              <a:spcAft>
                <a:spcPts val="800"/>
              </a:spcAft>
              <a:defRPr sz="1100" b="1">
                <a:solidFill>
                  <a:srgbClr val="0F172A"/>
                </a:solidFill>
                <a:latin typeface="Arial"/>
              </a:defRPr>
            </a:pPr>
            <a:r>
              <a:t>2. Connect Trained Model: </a:t>
            </a:r>
            <a:r>
              <a:rPr sz="1100" b="0">
                <a:solidFill>
                  <a:srgbClr val="334155"/>
                </a:solidFill>
                <a:latin typeface="Calibri"/>
              </a:rPr>
              <a:t>Load the trained model into the application backend to generate instant predictions.</a:t>
            </a:r>
          </a:p>
          <a:p>
            <a:pPr>
              <a:spcAft>
                <a:spcPts val="800"/>
              </a:spcAft>
              <a:defRPr sz="1100" b="1">
                <a:solidFill>
                  <a:srgbClr val="0F172A"/>
                </a:solidFill>
                <a:latin typeface="Arial"/>
              </a:defRPr>
            </a:pPr>
            <a:r>
              <a:t>3. Station and Time Selection: </a:t>
            </a:r>
            <a:r>
              <a:rPr sz="1100" b="0">
                <a:solidFill>
                  <a:srgbClr val="334155"/>
                </a:solidFill>
                <a:latin typeface="Calibri"/>
              </a:rPr>
              <a:t>Allow users to pick a specific station, date, and hour from simple dropdowns.</a:t>
            </a:r>
          </a:p>
          <a:p>
            <a:pPr>
              <a:spcAft>
                <a:spcPts val="800"/>
              </a:spcAft>
              <a:defRPr sz="1100" b="1">
                <a:solidFill>
                  <a:srgbClr val="0F172A"/>
                </a:solidFill>
                <a:latin typeface="Arial"/>
              </a:defRPr>
            </a:pPr>
            <a:r>
              <a:t>4. Display Predicted Demand: </a:t>
            </a:r>
            <a:r>
              <a:rPr sz="1100" b="0">
                <a:solidFill>
                  <a:srgbClr val="334155"/>
                </a:solidFill>
                <a:latin typeface="Calibri"/>
              </a:rPr>
              <a:t>Show the predicted number of bike checkouts clearly for that hour.</a:t>
            </a:r>
          </a:p>
          <a:p>
            <a:pPr>
              <a:spcAft>
                <a:spcPts val="800"/>
              </a:spcAft>
              <a:defRPr sz="1100" b="1">
                <a:solidFill>
                  <a:srgbClr val="0F172A"/>
                </a:solidFill>
                <a:latin typeface="Arial"/>
              </a:defRPr>
            </a:pPr>
            <a:r>
              <a:t>5. Show Demand Visualizations: </a:t>
            </a:r>
            <a:r>
              <a:rPr sz="1100" b="0">
                <a:solidFill>
                  <a:srgbClr val="334155"/>
                </a:solidFill>
                <a:latin typeface="Calibri"/>
              </a:rPr>
              <a:t>Display simple charts showing historical trends and daily peak patterns.</a:t>
            </a:r>
          </a:p>
          <a:p>
            <a:pPr>
              <a:spcAft>
                <a:spcPts val="800"/>
              </a:spcAft>
              <a:defRPr sz="1100" b="1">
                <a:solidFill>
                  <a:srgbClr val="0F172A"/>
                </a:solidFill>
                <a:latin typeface="Arial"/>
              </a:defRPr>
            </a:pPr>
            <a:r>
              <a:t>6. Redistribution Support: </a:t>
            </a:r>
            <a:r>
              <a:rPr sz="1100" b="0">
                <a:solidFill>
                  <a:srgbClr val="334155"/>
                </a:solidFill>
                <a:latin typeface="Calibri"/>
              </a:rPr>
              <a:t>Provide demand-based redistribution support to assist transit managers in planning.</a:t>
            </a:r>
          </a:p>
          <a:p>
            <a:pPr>
              <a:spcAft>
                <a:spcPts val="800"/>
              </a:spcAft>
              <a:defRPr sz="1100" b="1">
                <a:solidFill>
                  <a:srgbClr val="0F172A"/>
                </a:solidFill>
                <a:latin typeface="Arial"/>
              </a:defRPr>
            </a:pPr>
            <a:r>
              <a:t>7. Test the Complete Application: </a:t>
            </a:r>
            <a:r>
              <a:rPr sz="1100" b="0">
                <a:solidFill>
                  <a:srgbClr val="334155"/>
                </a:solidFill>
                <a:latin typeface="Calibri"/>
              </a:rPr>
              <a:t>Run end-to-end testing with different inputs to ensure reliable behavior.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1371600" y="914400"/>
            <a:ext cx="9448495" cy="50292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wrap="square" tIns="457200" rtlCol="0" anchor="ctr"/>
          <a:lstStyle/>
          <a:p>
            <a:pPr algn="ctr">
              <a:spcAft>
                <a:spcPts val="1000"/>
              </a:spcAft>
              <a:defRPr sz="3600" b="1">
                <a:solidFill>
                  <a:srgbClr val="FFFFFF"/>
                </a:solidFill>
                <a:latin typeface="Arial"/>
              </a:defRPr>
            </a:pPr>
            <a:r>
              <a:rPr dirty="0"/>
              <a:t>THANK </a:t>
            </a:r>
            <a:r>
              <a:t>YOU!</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TotalTime>
  <Words>7711</Words>
  <Application>Microsoft Office PowerPoint</Application>
  <PresentationFormat>Widescreen</PresentationFormat>
  <Paragraphs>549</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Isabella Dennis</cp:lastModifiedBy>
  <cp:revision>1</cp:revision>
  <dcterms:created xsi:type="dcterms:W3CDTF">2013-01-27T09:14:16Z</dcterms:created>
  <dcterms:modified xsi:type="dcterms:W3CDTF">2026-10-01T02:35:58Z</dcterms:modified>
  <cp:category/>
</cp:coreProperties>
</file>